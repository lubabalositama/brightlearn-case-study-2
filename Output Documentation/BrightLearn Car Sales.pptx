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charts/chart9.xml" ContentType="application/vnd.openxmlformats-officedocument.drawingml.chart+xml"/>
  <Override PartName="/ppt/charts/style9.xml" ContentType="application/vnd.ms-office.chartstyle+xml"/>
  <Override PartName="/ppt/charts/colors9.xml" ContentType="application/vnd.ms-office.chartcolorstyle+xml"/>
  <Override PartName="/ppt/charts/chart10.xml" ContentType="application/vnd.openxmlformats-officedocument.drawingml.chart+xml"/>
  <Override PartName="/ppt/charts/style10.xml" ContentType="application/vnd.ms-office.chartstyle+xml"/>
  <Override PartName="/ppt/charts/colors10.xml" ContentType="application/vnd.ms-office.chartcolorstyl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6CF8D26-0900-4D61-9FEC-C6CE136EFF9C}" v="39" dt="2025-11-21T22:05:19.66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94660"/>
  </p:normalViewPr>
  <p:slideViewPr>
    <p:cSldViewPr snapToGrid="0">
      <p:cViewPr>
        <p:scale>
          <a:sx n="60" d="100"/>
          <a:sy n="60" d="100"/>
        </p:scale>
        <p:origin x="1140" y="28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5" Type="http://schemas.microsoft.com/office/2015/10/relationships/revisionInfo" Target="revisionInfo.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ubabalo Sesonasipho Sitama" userId="f08577ed4d9ca705" providerId="LiveId" clId="{11A5A81E-619A-4B20-85BB-FCF3D5D949A6}"/>
    <pc:docChg chg="custSel addSld modSld">
      <pc:chgData name="Lubabalo Sesonasipho Sitama" userId="f08577ed4d9ca705" providerId="LiveId" clId="{11A5A81E-619A-4B20-85BB-FCF3D5D949A6}" dt="2025-11-21T22:05:19.669" v="4311"/>
      <pc:docMkLst>
        <pc:docMk/>
      </pc:docMkLst>
      <pc:sldChg chg="modSp">
        <pc:chgData name="Lubabalo Sesonasipho Sitama" userId="f08577ed4d9ca705" providerId="LiveId" clId="{11A5A81E-619A-4B20-85BB-FCF3D5D949A6}" dt="2025-11-21T22:05:19.669" v="4311"/>
        <pc:sldMkLst>
          <pc:docMk/>
          <pc:sldMk cId="1449635886" sldId="256"/>
        </pc:sldMkLst>
        <pc:spChg chg="mod">
          <ac:chgData name="Lubabalo Sesonasipho Sitama" userId="f08577ed4d9ca705" providerId="LiveId" clId="{11A5A81E-619A-4B20-85BB-FCF3D5D949A6}" dt="2025-11-21T22:05:19.669" v="4311"/>
          <ac:spMkLst>
            <pc:docMk/>
            <pc:sldMk cId="1449635886" sldId="256"/>
            <ac:spMk id="2" creationId="{EB402C07-2161-AE17-8DDB-84FB75009FDE}"/>
          </ac:spMkLst>
        </pc:spChg>
        <pc:spChg chg="mod">
          <ac:chgData name="Lubabalo Sesonasipho Sitama" userId="f08577ed4d9ca705" providerId="LiveId" clId="{11A5A81E-619A-4B20-85BB-FCF3D5D949A6}" dt="2025-11-21T22:05:19.669" v="4311"/>
          <ac:spMkLst>
            <pc:docMk/>
            <pc:sldMk cId="1449635886" sldId="256"/>
            <ac:spMk id="3" creationId="{871AB7EA-2BFC-CB7A-A45D-670BA147CB8F}"/>
          </ac:spMkLst>
        </pc:spChg>
      </pc:sldChg>
      <pc:sldChg chg="modSp mod">
        <pc:chgData name="Lubabalo Sesonasipho Sitama" userId="f08577ed4d9ca705" providerId="LiveId" clId="{11A5A81E-619A-4B20-85BB-FCF3D5D949A6}" dt="2025-11-21T22:05:14.653" v="4310" actId="27918"/>
        <pc:sldMkLst>
          <pc:docMk/>
          <pc:sldMk cId="1209158103" sldId="257"/>
        </pc:sldMkLst>
        <pc:spChg chg="mod">
          <ac:chgData name="Lubabalo Sesonasipho Sitama" userId="f08577ed4d9ca705" providerId="LiveId" clId="{11A5A81E-619A-4B20-85BB-FCF3D5D949A6}" dt="2025-11-21T21:14:28.409" v="793" actId="255"/>
          <ac:spMkLst>
            <pc:docMk/>
            <pc:sldMk cId="1209158103" sldId="257"/>
            <ac:spMk id="14" creationId="{13E644A7-9A3F-4945-CC4D-96BDB3BEAA8B}"/>
          </ac:spMkLst>
        </pc:spChg>
        <pc:graphicFrameChg chg="mod">
          <ac:chgData name="Lubabalo Sesonasipho Sitama" userId="f08577ed4d9ca705" providerId="LiveId" clId="{11A5A81E-619A-4B20-85BB-FCF3D5D949A6}" dt="2025-11-21T22:05:02.918" v="4309" actId="207"/>
          <ac:graphicFrameMkLst>
            <pc:docMk/>
            <pc:sldMk cId="1209158103" sldId="257"/>
            <ac:graphicFrameMk id="11" creationId="{5F014A9F-717C-03D2-173D-80E7BFD72AC4}"/>
          </ac:graphicFrameMkLst>
        </pc:graphicFrameChg>
      </pc:sldChg>
      <pc:sldChg chg="modSp mod">
        <pc:chgData name="Lubabalo Sesonasipho Sitama" userId="f08577ed4d9ca705" providerId="LiveId" clId="{11A5A81E-619A-4B20-85BB-FCF3D5D949A6}" dt="2025-11-21T21:14:40.460" v="794" actId="255"/>
        <pc:sldMkLst>
          <pc:docMk/>
          <pc:sldMk cId="1500221073" sldId="258"/>
        </pc:sldMkLst>
        <pc:spChg chg="mod">
          <ac:chgData name="Lubabalo Sesonasipho Sitama" userId="f08577ed4d9ca705" providerId="LiveId" clId="{11A5A81E-619A-4B20-85BB-FCF3D5D949A6}" dt="2025-11-21T21:14:40.460" v="794" actId="255"/>
          <ac:spMkLst>
            <pc:docMk/>
            <pc:sldMk cId="1500221073" sldId="258"/>
            <ac:spMk id="2" creationId="{640B242B-F5C8-E6EB-4772-6D49258EE22D}"/>
          </ac:spMkLst>
        </pc:spChg>
        <pc:graphicFrameChg chg="mod">
          <ac:chgData name="Lubabalo Sesonasipho Sitama" userId="f08577ed4d9ca705" providerId="LiveId" clId="{11A5A81E-619A-4B20-85BB-FCF3D5D949A6}" dt="2025-11-21T21:05:19.610" v="6"/>
          <ac:graphicFrameMkLst>
            <pc:docMk/>
            <pc:sldMk cId="1500221073" sldId="258"/>
            <ac:graphicFrameMk id="4" creationId="{3D6FC43F-3D09-AF6B-5002-710EEBCBA7A1}"/>
          </ac:graphicFrameMkLst>
        </pc:graphicFrameChg>
        <pc:graphicFrameChg chg="mod">
          <ac:chgData name="Lubabalo Sesonasipho Sitama" userId="f08577ed4d9ca705" providerId="LiveId" clId="{11A5A81E-619A-4B20-85BB-FCF3D5D949A6}" dt="2025-11-21T21:05:33.414" v="7" actId="255"/>
          <ac:graphicFrameMkLst>
            <pc:docMk/>
            <pc:sldMk cId="1500221073" sldId="258"/>
            <ac:graphicFrameMk id="5" creationId="{D2895E70-7AF2-2B5B-B8A1-4E90EE9E5F0A}"/>
          </ac:graphicFrameMkLst>
        </pc:graphicFrameChg>
        <pc:graphicFrameChg chg="mod">
          <ac:chgData name="Lubabalo Sesonasipho Sitama" userId="f08577ed4d9ca705" providerId="LiveId" clId="{11A5A81E-619A-4B20-85BB-FCF3D5D949A6}" dt="2025-11-21T21:03:45.494" v="0" actId="255"/>
          <ac:graphicFrameMkLst>
            <pc:docMk/>
            <pc:sldMk cId="1500221073" sldId="258"/>
            <ac:graphicFrameMk id="6" creationId="{E66C9268-5DA8-9854-9A16-E6E168915FA1}"/>
          </ac:graphicFrameMkLst>
        </pc:graphicFrameChg>
        <pc:graphicFrameChg chg="mod">
          <ac:chgData name="Lubabalo Sesonasipho Sitama" userId="f08577ed4d9ca705" providerId="LiveId" clId="{11A5A81E-619A-4B20-85BB-FCF3D5D949A6}" dt="2025-11-21T21:03:55.592" v="1" actId="255"/>
          <ac:graphicFrameMkLst>
            <pc:docMk/>
            <pc:sldMk cId="1500221073" sldId="258"/>
            <ac:graphicFrameMk id="7" creationId="{F44E8A90-1513-E615-E8FA-BB789093B6B6}"/>
          </ac:graphicFrameMkLst>
        </pc:graphicFrameChg>
      </pc:sldChg>
      <pc:sldChg chg="modSp mod">
        <pc:chgData name="Lubabalo Sesonasipho Sitama" userId="f08577ed4d9ca705" providerId="LiveId" clId="{11A5A81E-619A-4B20-85BB-FCF3D5D949A6}" dt="2025-11-21T22:05:19.669" v="4311"/>
        <pc:sldMkLst>
          <pc:docMk/>
          <pc:sldMk cId="1714675136" sldId="259"/>
        </pc:sldMkLst>
        <pc:spChg chg="mod">
          <ac:chgData name="Lubabalo Sesonasipho Sitama" userId="f08577ed4d9ca705" providerId="LiveId" clId="{11A5A81E-619A-4B20-85BB-FCF3D5D949A6}" dt="2025-11-21T22:05:19.669" v="4311"/>
          <ac:spMkLst>
            <pc:docMk/>
            <pc:sldMk cId="1714675136" sldId="259"/>
            <ac:spMk id="2" creationId="{35EEE1B3-F387-87D3-0C33-36175F4EF8D5}"/>
          </ac:spMkLst>
        </pc:spChg>
        <pc:graphicFrameChg chg="mod">
          <ac:chgData name="Lubabalo Sesonasipho Sitama" userId="f08577ed4d9ca705" providerId="LiveId" clId="{11A5A81E-619A-4B20-85BB-FCF3D5D949A6}" dt="2025-11-21T22:03:32.039" v="4306" actId="255"/>
          <ac:graphicFrameMkLst>
            <pc:docMk/>
            <pc:sldMk cId="1714675136" sldId="259"/>
            <ac:graphicFrameMk id="4" creationId="{5F7EEC4B-F6FC-4092-0AE4-C5789EBFB29E}"/>
          </ac:graphicFrameMkLst>
        </pc:graphicFrameChg>
      </pc:sldChg>
      <pc:sldChg chg="modSp mod">
        <pc:chgData name="Lubabalo Sesonasipho Sitama" userId="f08577ed4d9ca705" providerId="LiveId" clId="{11A5A81E-619A-4B20-85BB-FCF3D5D949A6}" dt="2025-11-21T22:02:55.034" v="4304" actId="255"/>
        <pc:sldMkLst>
          <pc:docMk/>
          <pc:sldMk cId="1283237349" sldId="260"/>
        </pc:sldMkLst>
        <pc:spChg chg="mod">
          <ac:chgData name="Lubabalo Sesonasipho Sitama" userId="f08577ed4d9ca705" providerId="LiveId" clId="{11A5A81E-619A-4B20-85BB-FCF3D5D949A6}" dt="2025-11-21T21:27:36.755" v="1982" actId="255"/>
          <ac:spMkLst>
            <pc:docMk/>
            <pc:sldMk cId="1283237349" sldId="260"/>
            <ac:spMk id="6" creationId="{F4FC51AE-AB0D-EA1E-3A1A-CA08578B8724}"/>
          </ac:spMkLst>
        </pc:spChg>
        <pc:graphicFrameChg chg="mod">
          <ac:chgData name="Lubabalo Sesonasipho Sitama" userId="f08577ed4d9ca705" providerId="LiveId" clId="{11A5A81E-619A-4B20-85BB-FCF3D5D949A6}" dt="2025-11-21T22:02:46.205" v="4303" actId="255"/>
          <ac:graphicFrameMkLst>
            <pc:docMk/>
            <pc:sldMk cId="1283237349" sldId="260"/>
            <ac:graphicFrameMk id="4" creationId="{5C91283B-3730-2B8B-0278-D375D5551A5E}"/>
          </ac:graphicFrameMkLst>
        </pc:graphicFrameChg>
        <pc:graphicFrameChg chg="mod">
          <ac:chgData name="Lubabalo Sesonasipho Sitama" userId="f08577ed4d9ca705" providerId="LiveId" clId="{11A5A81E-619A-4B20-85BB-FCF3D5D949A6}" dt="2025-11-21T22:02:55.034" v="4304" actId="255"/>
          <ac:graphicFrameMkLst>
            <pc:docMk/>
            <pc:sldMk cId="1283237349" sldId="260"/>
            <ac:graphicFrameMk id="5" creationId="{38D1716B-2A9C-F016-8BD0-7F0F246F91B7}"/>
          </ac:graphicFrameMkLst>
        </pc:graphicFrameChg>
      </pc:sldChg>
      <pc:sldChg chg="modSp mod">
        <pc:chgData name="Lubabalo Sesonasipho Sitama" userId="f08577ed4d9ca705" providerId="LiveId" clId="{11A5A81E-619A-4B20-85BB-FCF3D5D949A6}" dt="2025-11-21T21:32:53.962" v="2386" actId="20577"/>
        <pc:sldMkLst>
          <pc:docMk/>
          <pc:sldMk cId="2946271091" sldId="261"/>
        </pc:sldMkLst>
        <pc:spChg chg="mod">
          <ac:chgData name="Lubabalo Sesonasipho Sitama" userId="f08577ed4d9ca705" providerId="LiveId" clId="{11A5A81E-619A-4B20-85BB-FCF3D5D949A6}" dt="2025-11-21T21:32:53.962" v="2386" actId="20577"/>
          <ac:spMkLst>
            <pc:docMk/>
            <pc:sldMk cId="2946271091" sldId="261"/>
            <ac:spMk id="6" creationId="{F82C2CCB-C0BA-2943-5324-C4F9DD16C696}"/>
          </ac:spMkLst>
        </pc:spChg>
        <pc:graphicFrameChg chg="mod">
          <ac:chgData name="Lubabalo Sesonasipho Sitama" userId="f08577ed4d9ca705" providerId="LiveId" clId="{11A5A81E-619A-4B20-85BB-FCF3D5D949A6}" dt="2025-11-21T21:32:26.358" v="2333" actId="255"/>
          <ac:graphicFrameMkLst>
            <pc:docMk/>
            <pc:sldMk cId="2946271091" sldId="261"/>
            <ac:graphicFrameMk id="3" creationId="{520F4ED8-3F2C-DFC5-0394-4B051944E560}"/>
          </ac:graphicFrameMkLst>
        </pc:graphicFrameChg>
        <pc:graphicFrameChg chg="mod">
          <ac:chgData name="Lubabalo Sesonasipho Sitama" userId="f08577ed4d9ca705" providerId="LiveId" clId="{11A5A81E-619A-4B20-85BB-FCF3D5D949A6}" dt="2025-11-21T21:32:07.412" v="2332" actId="255"/>
          <ac:graphicFrameMkLst>
            <pc:docMk/>
            <pc:sldMk cId="2946271091" sldId="261"/>
            <ac:graphicFrameMk id="7" creationId="{F395A2B4-A2B7-EC41-9586-AE70E691AD2E}"/>
          </ac:graphicFrameMkLst>
        </pc:graphicFrameChg>
      </pc:sldChg>
      <pc:sldChg chg="addSp delSp modSp new mod modClrScheme chgLayout">
        <pc:chgData name="Lubabalo Sesonasipho Sitama" userId="f08577ed4d9ca705" providerId="LiveId" clId="{11A5A81E-619A-4B20-85BB-FCF3D5D949A6}" dt="2025-11-21T22:05:19.669" v="4311"/>
        <pc:sldMkLst>
          <pc:docMk/>
          <pc:sldMk cId="3012494592" sldId="262"/>
        </pc:sldMkLst>
        <pc:spChg chg="del mod ord">
          <ac:chgData name="Lubabalo Sesonasipho Sitama" userId="f08577ed4d9ca705" providerId="LiveId" clId="{11A5A81E-619A-4B20-85BB-FCF3D5D949A6}" dt="2025-11-21T21:33:42.295" v="2388" actId="700"/>
          <ac:spMkLst>
            <pc:docMk/>
            <pc:sldMk cId="3012494592" sldId="262"/>
            <ac:spMk id="2" creationId="{D1FC6887-1359-4A45-8055-A3F277F19A8A}"/>
          </ac:spMkLst>
        </pc:spChg>
        <pc:spChg chg="add mod ord">
          <ac:chgData name="Lubabalo Sesonasipho Sitama" userId="f08577ed4d9ca705" providerId="LiveId" clId="{11A5A81E-619A-4B20-85BB-FCF3D5D949A6}" dt="2025-11-21T22:05:19.669" v="4311"/>
          <ac:spMkLst>
            <pc:docMk/>
            <pc:sldMk cId="3012494592" sldId="262"/>
            <ac:spMk id="3" creationId="{B3FB3CAB-2349-77E6-00AB-7DD6767979C7}"/>
          </ac:spMkLst>
        </pc:spChg>
        <pc:spChg chg="add mod ord">
          <ac:chgData name="Lubabalo Sesonasipho Sitama" userId="f08577ed4d9ca705" providerId="LiveId" clId="{11A5A81E-619A-4B20-85BB-FCF3D5D949A6}" dt="2025-11-21T21:57:18.463" v="4259" actId="14100"/>
          <ac:spMkLst>
            <pc:docMk/>
            <pc:sldMk cId="3012494592" sldId="262"/>
            <ac:spMk id="4" creationId="{5C1BBD71-41E1-8F70-74F4-3A8E4D050D8D}"/>
          </ac:spMkLst>
        </pc:spChg>
      </pc:sldChg>
      <pc:sldChg chg="modSp new mod">
        <pc:chgData name="Lubabalo Sesonasipho Sitama" userId="f08577ed4d9ca705" providerId="LiveId" clId="{11A5A81E-619A-4B20-85BB-FCF3D5D949A6}" dt="2025-11-21T22:05:19.669" v="4311"/>
        <pc:sldMkLst>
          <pc:docMk/>
          <pc:sldMk cId="152132053" sldId="263"/>
        </pc:sldMkLst>
        <pc:spChg chg="mod">
          <ac:chgData name="Lubabalo Sesonasipho Sitama" userId="f08577ed4d9ca705" providerId="LiveId" clId="{11A5A81E-619A-4B20-85BB-FCF3D5D949A6}" dt="2025-11-21T22:05:19.669" v="4311"/>
          <ac:spMkLst>
            <pc:docMk/>
            <pc:sldMk cId="152132053" sldId="263"/>
            <ac:spMk id="2" creationId="{08DB5C85-18E2-6132-6BA7-E08991E3AB66}"/>
          </ac:spMkLst>
        </pc:spChg>
        <pc:spChg chg="mod">
          <ac:chgData name="Lubabalo Sesonasipho Sitama" userId="f08577ed4d9ca705" providerId="LiveId" clId="{11A5A81E-619A-4B20-85BB-FCF3D5D949A6}" dt="2025-11-21T21:59:47.286" v="4284" actId="20577"/>
          <ac:spMkLst>
            <pc:docMk/>
            <pc:sldMk cId="152132053" sldId="263"/>
            <ac:spMk id="3" creationId="{864B0590-7FA1-79FC-1D8A-2690B3F06DD0}"/>
          </ac:spMkLst>
        </pc:sp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oleObject" Target="https://d.docs.live.net/f08577ed4d9ca705/Documents/BRIGHTLEARN/CASE%20STUDY%202/Case%20Study%202%20Visuals.xlsb"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https://d.docs.live.net/f08577ed4d9ca705/Documents/BRIGHTLEARN/CASE%20STUDY%202/Case%20Study%202%20Visuals.xlsb"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https://d.docs.live.net/f08577ed4d9ca705/Documents/BRIGHTLEARN/CASE%20STUDY%202/Case%20Study%202%20Visuals.xlsb"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https://d.docs.live.net/f08577ed4d9ca705/Documents/BRIGHTLEARN/CASE%20STUDY%202/Case%20Study%202%20Visuals.xlsb"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https://d.docs.live.net/f08577ed4d9ca705/Documents/BRIGHTLEARN/CASE%20STUDY%202/Case%20Study%202%20Visuals.xlsb" TargetMode="External"/><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oleObject" Target="https://d.docs.live.net/f08577ed4d9ca705/Documents/BRIGHTLEARN/CASE%20STUDY%202/Case%20Study%202%20Visuals.xlsb" TargetMode="External"/><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oleObject" Target="https://d.docs.live.net/f08577ed4d9ca705/Documents/BRIGHTLEARN/CASE%20STUDY%202/Case%20Study%202%20Visuals.xlsb" TargetMode="External"/><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oleObject" Target="https://d.docs.live.net/f08577ed4d9ca705/Documents/BRIGHTLEARN/CASE%20STUDY%202/Case%20Study%202%20Visuals.xlsb" TargetMode="External"/><Relationship Id="rId2" Type="http://schemas.microsoft.com/office/2011/relationships/chartColorStyle" Target="colors8.xml"/><Relationship Id="rId1" Type="http://schemas.microsoft.com/office/2011/relationships/chartStyle" Target="style8.xml"/></Relationships>
</file>

<file path=ppt/charts/_rels/chart9.xml.rels><?xml version="1.0" encoding="UTF-8" standalone="yes"?>
<Relationships xmlns="http://schemas.openxmlformats.org/package/2006/relationships"><Relationship Id="rId3" Type="http://schemas.openxmlformats.org/officeDocument/2006/relationships/oleObject" Target="https://d.docs.live.net/f08577ed4d9ca705/Documents/BRIGHTLEARN/CASE%20STUDY%202/Case%20Study%202%20Visuals.xlsb" TargetMode="External"/><Relationship Id="rId2" Type="http://schemas.microsoft.com/office/2011/relationships/chartColorStyle" Target="colors9.xml"/><Relationship Id="rId1" Type="http://schemas.microsoft.com/office/2011/relationships/chartStyle" Target="style9.xml"/></Relationships>
</file>

<file path=ppt/charts/_rels/chart10.xml.rels><?xml version="1.0" encoding="UTF-8" standalone="yes"?>
<Relationships xmlns="http://schemas.openxmlformats.org/package/2006/relationships"><Relationship Id="rId3" Type="http://schemas.openxmlformats.org/officeDocument/2006/relationships/oleObject" Target="https://d.docs.live.net/f08577ed4d9ca705/Documents/BRIGHTLEARN/CASE%20STUDY%202/Case%20Study%202%20Visuals.xlsb" TargetMode="External"/><Relationship Id="rId2" Type="http://schemas.microsoft.com/office/2011/relationships/chartColorStyle" Target="colors10.xml"/><Relationship Id="rId1" Type="http://schemas.microsoft.com/office/2011/relationships/chartStyle" Target="style10.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[Case Study 2 Visuals.xlsb]REVENUE BY CAR MAKE!PivotTable1</c:name>
    <c:fmtId val="14"/>
  </c:pivotSource>
  <c:chart>
    <c:autoTitleDeleted val="1"/>
    <c:pivotFmts>
      <c:pivotFmt>
        <c:idx val="0"/>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lang="en-US" sz="900" b="0" i="0" u="none" strike="noStrike" kern="1200" baseline="0">
                  <a:solidFill>
                    <a:schemeClr val="tx2"/>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lang="en-US" sz="900" b="0" i="0" u="none" strike="noStrike" kern="1200" baseline="0">
                  <a:solidFill>
                    <a:schemeClr val="tx2"/>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w="28575" cap="rnd">
            <a:solidFill>
              <a:schemeClr val="accent1"/>
            </a:solidFill>
            <a:round/>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lang="en-US" sz="900" b="0" i="0" u="none" strike="noStrike" kern="1200" baseline="0">
                  <a:solidFill>
                    <a:schemeClr val="tx2"/>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lang="en-US" sz="1000" b="1" i="0" u="none" strike="noStrike" kern="1200" baseline="0">
                  <a:solidFill>
                    <a:srgbClr val="0E2841"/>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1"/>
          </a:solidFill>
          <a:ln w="28575" cap="rnd">
            <a:solidFill>
              <a:schemeClr val="accent1"/>
            </a:solidFill>
            <a:round/>
          </a:ln>
          <a:effectLst/>
        </c:spPr>
        <c:marker>
          <c:symbol val="circle"/>
          <c:size val="5"/>
          <c:spPr>
            <a:solidFill>
              <a:schemeClr val="accent2"/>
            </a:solidFill>
            <a:ln w="9525">
              <a:solidFill>
                <a:schemeClr val="accent2"/>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lang="en-US" sz="1000" b="1" i="0" u="none" strike="noStrike" kern="1200" baseline="0">
                  <a:solidFill>
                    <a:srgbClr val="0E2841"/>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lang="en-US" sz="1000" b="1" i="0" u="none" strike="noStrike" kern="1200" baseline="0">
                  <a:solidFill>
                    <a:srgbClr val="0E2841"/>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
        <c:spPr>
          <a:solidFill>
            <a:schemeClr val="accent1"/>
          </a:solidFill>
          <a:ln w="28575" cap="rnd">
            <a:solidFill>
              <a:schemeClr val="accent1"/>
            </a:solidFill>
            <a:round/>
          </a:ln>
          <a:effectLst/>
        </c:spPr>
        <c:marker>
          <c:symbol val="circle"/>
          <c:size val="5"/>
          <c:spPr>
            <a:solidFill>
              <a:schemeClr val="accent2"/>
            </a:solidFill>
            <a:ln w="9525">
              <a:solidFill>
                <a:schemeClr val="accent2"/>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lang="en-US" sz="1000" b="1" i="0" u="none" strike="noStrike" kern="1200" baseline="0">
                  <a:solidFill>
                    <a:srgbClr val="0E2841"/>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8"/>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lang="en-US" sz="1000" b="1" i="0" u="none" strike="noStrike" kern="1200" baseline="0">
                  <a:solidFill>
                    <a:srgbClr val="0E2841"/>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9"/>
        <c:spPr>
          <a:solidFill>
            <a:schemeClr val="accent1"/>
          </a:solidFill>
          <a:ln w="28575" cap="rnd">
            <a:solidFill>
              <a:schemeClr val="accent1"/>
            </a:solidFill>
            <a:round/>
          </a:ln>
          <a:effectLst/>
        </c:spPr>
        <c:marker>
          <c:symbol val="circle"/>
          <c:size val="5"/>
          <c:spPr>
            <a:solidFill>
              <a:schemeClr val="accent2"/>
            </a:solidFill>
            <a:ln w="9525">
              <a:solidFill>
                <a:schemeClr val="accent2"/>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lang="en-US" sz="1000" b="1" i="0" u="none" strike="noStrike" kern="1200" baseline="0">
                  <a:solidFill>
                    <a:srgbClr val="0E2841"/>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'REVENUE BY CAR MAKE'!$B$1:$B$2</c:f>
              <c:strCache>
                <c:ptCount val="1"/>
                <c:pt idx="0">
                  <c:v>automatic</c:v>
                </c:pt>
              </c:strCache>
            </c:strRef>
          </c:tx>
          <c:spPr>
            <a:solidFill>
              <a:schemeClr val="accent1"/>
            </a:solidFill>
            <a:ln>
              <a:noFill/>
            </a:ln>
            <a:effectLst/>
          </c:spPr>
          <c:invertIfNegative val="0"/>
          <c:cat>
            <c:strRef>
              <c:f>'REVENUE BY CAR MAKE'!$A$3:$A$38</c:f>
              <c:strCache>
                <c:ptCount val="35"/>
                <c:pt idx="0">
                  <c:v>Acura</c:v>
                </c:pt>
                <c:pt idx="1">
                  <c:v>Audi</c:v>
                </c:pt>
                <c:pt idx="2">
                  <c:v>BMW</c:v>
                </c:pt>
                <c:pt idx="3">
                  <c:v>Buick</c:v>
                </c:pt>
                <c:pt idx="4">
                  <c:v>Cadillac</c:v>
                </c:pt>
                <c:pt idx="5">
                  <c:v>Chevrolet</c:v>
                </c:pt>
                <c:pt idx="6">
                  <c:v>Chrysler</c:v>
                </c:pt>
                <c:pt idx="7">
                  <c:v>Dodge</c:v>
                </c:pt>
                <c:pt idx="8">
                  <c:v>Ford</c:v>
                </c:pt>
                <c:pt idx="9">
                  <c:v>GMC</c:v>
                </c:pt>
                <c:pt idx="10">
                  <c:v>Honda</c:v>
                </c:pt>
                <c:pt idx="11">
                  <c:v>HUMMER</c:v>
                </c:pt>
                <c:pt idx="12">
                  <c:v>Hyundai</c:v>
                </c:pt>
                <c:pt idx="13">
                  <c:v>Infiniti</c:v>
                </c:pt>
                <c:pt idx="14">
                  <c:v>Jaguar</c:v>
                </c:pt>
                <c:pt idx="15">
                  <c:v>Jeep</c:v>
                </c:pt>
                <c:pt idx="16">
                  <c:v>Kia</c:v>
                </c:pt>
                <c:pt idx="17">
                  <c:v>Land Rover</c:v>
                </c:pt>
                <c:pt idx="18">
                  <c:v>Lexus</c:v>
                </c:pt>
                <c:pt idx="19">
                  <c:v>Lincoln</c:v>
                </c:pt>
                <c:pt idx="20">
                  <c:v>Maserati</c:v>
                </c:pt>
                <c:pt idx="21">
                  <c:v>Mazda</c:v>
                </c:pt>
                <c:pt idx="22">
                  <c:v>Mercedes-Benz</c:v>
                </c:pt>
                <c:pt idx="23">
                  <c:v>Mercury</c:v>
                </c:pt>
                <c:pt idx="24">
                  <c:v>MINI</c:v>
                </c:pt>
                <c:pt idx="25">
                  <c:v>Mitsubishi</c:v>
                </c:pt>
                <c:pt idx="26">
                  <c:v>Nissan</c:v>
                </c:pt>
                <c:pt idx="27">
                  <c:v>Pontiac</c:v>
                </c:pt>
                <c:pt idx="28">
                  <c:v>Porsche</c:v>
                </c:pt>
                <c:pt idx="29">
                  <c:v>Saturn</c:v>
                </c:pt>
                <c:pt idx="30">
                  <c:v>Scion</c:v>
                </c:pt>
                <c:pt idx="31">
                  <c:v>Subaru</c:v>
                </c:pt>
                <c:pt idx="32">
                  <c:v>Toyota</c:v>
                </c:pt>
                <c:pt idx="33">
                  <c:v>Volkswagen</c:v>
                </c:pt>
                <c:pt idx="34">
                  <c:v>Volvo</c:v>
                </c:pt>
              </c:strCache>
            </c:strRef>
          </c:cat>
          <c:val>
            <c:numRef>
              <c:f>'REVENUE BY CAR MAKE'!$B$3:$B$38</c:f>
              <c:numCache>
                <c:formatCode>General</c:formatCode>
                <c:ptCount val="35"/>
                <c:pt idx="0">
                  <c:v>4250</c:v>
                </c:pt>
                <c:pt idx="1">
                  <c:v>-6900</c:v>
                </c:pt>
                <c:pt idx="2">
                  <c:v>-2450</c:v>
                </c:pt>
                <c:pt idx="3">
                  <c:v>-3025</c:v>
                </c:pt>
                <c:pt idx="4">
                  <c:v>-1550</c:v>
                </c:pt>
                <c:pt idx="5">
                  <c:v>10525</c:v>
                </c:pt>
                <c:pt idx="6">
                  <c:v>-5875</c:v>
                </c:pt>
                <c:pt idx="7">
                  <c:v>-3899</c:v>
                </c:pt>
                <c:pt idx="8">
                  <c:v>-8649</c:v>
                </c:pt>
                <c:pt idx="9">
                  <c:v>7050</c:v>
                </c:pt>
                <c:pt idx="10">
                  <c:v>-13175</c:v>
                </c:pt>
                <c:pt idx="11">
                  <c:v>0</c:v>
                </c:pt>
                <c:pt idx="12">
                  <c:v>-4200</c:v>
                </c:pt>
                <c:pt idx="13">
                  <c:v>1225</c:v>
                </c:pt>
                <c:pt idx="14">
                  <c:v>-4250</c:v>
                </c:pt>
                <c:pt idx="15">
                  <c:v>-9300</c:v>
                </c:pt>
                <c:pt idx="16">
                  <c:v>8625</c:v>
                </c:pt>
                <c:pt idx="17">
                  <c:v>-4150</c:v>
                </c:pt>
                <c:pt idx="18">
                  <c:v>-2525</c:v>
                </c:pt>
                <c:pt idx="19">
                  <c:v>-7150</c:v>
                </c:pt>
                <c:pt idx="20">
                  <c:v>1200</c:v>
                </c:pt>
                <c:pt idx="21">
                  <c:v>-75</c:v>
                </c:pt>
                <c:pt idx="22">
                  <c:v>-16150</c:v>
                </c:pt>
                <c:pt idx="23">
                  <c:v>-400</c:v>
                </c:pt>
                <c:pt idx="24">
                  <c:v>4800</c:v>
                </c:pt>
                <c:pt idx="25">
                  <c:v>-3975</c:v>
                </c:pt>
                <c:pt idx="26">
                  <c:v>-23850</c:v>
                </c:pt>
                <c:pt idx="27">
                  <c:v>1250</c:v>
                </c:pt>
                <c:pt idx="29">
                  <c:v>-1225</c:v>
                </c:pt>
                <c:pt idx="30">
                  <c:v>-1450</c:v>
                </c:pt>
                <c:pt idx="31">
                  <c:v>850</c:v>
                </c:pt>
                <c:pt idx="32">
                  <c:v>-7125</c:v>
                </c:pt>
                <c:pt idx="33">
                  <c:v>-500</c:v>
                </c:pt>
                <c:pt idx="34">
                  <c:v>1850</c:v>
                </c:pt>
              </c:numCache>
            </c:numRef>
          </c:val>
          <c:extLst>
            <c:ext xmlns:c16="http://schemas.microsoft.com/office/drawing/2014/chart" uri="{C3380CC4-5D6E-409C-BE32-E72D297353CC}">
              <c16:uniqueId val="{00000000-BB38-43FE-8E39-908D6E0E9893}"/>
            </c:ext>
          </c:extLst>
        </c:ser>
        <c:dLbls>
          <c:showLegendKey val="0"/>
          <c:showVal val="0"/>
          <c:showCatName val="0"/>
          <c:showSerName val="0"/>
          <c:showPercent val="0"/>
          <c:showBubbleSize val="0"/>
        </c:dLbls>
        <c:gapWidth val="150"/>
        <c:axId val="103567040"/>
        <c:axId val="103560800"/>
      </c:barChart>
      <c:lineChart>
        <c:grouping val="stacked"/>
        <c:varyColors val="0"/>
        <c:ser>
          <c:idx val="1"/>
          <c:order val="1"/>
          <c:tx>
            <c:strRef>
              <c:f>'REVENUE BY CAR MAKE'!$C$1:$C$2</c:f>
              <c:strCache>
                <c:ptCount val="1"/>
                <c:pt idx="0">
                  <c:v>manual</c:v>
                </c:pt>
              </c:strCache>
            </c:strRef>
          </c:tx>
          <c:spPr>
            <a:ln w="28575" cap="rnd">
              <a:solidFill>
                <a:schemeClr val="accent2"/>
              </a:solidFill>
              <a:round/>
            </a:ln>
            <a:effectLst/>
          </c:spPr>
          <c:marker>
            <c:symbol val="circle"/>
            <c:size val="5"/>
            <c:spPr>
              <a:solidFill>
                <a:schemeClr val="accent2"/>
              </a:solidFill>
              <a:ln w="9525">
                <a:solidFill>
                  <a:schemeClr val="accent2"/>
                </a:solidFill>
              </a:ln>
              <a:effectLst/>
            </c:spPr>
          </c:marker>
          <c:cat>
            <c:strRef>
              <c:f>'REVENUE BY CAR MAKE'!$A$3:$A$38</c:f>
              <c:strCache>
                <c:ptCount val="35"/>
                <c:pt idx="0">
                  <c:v>Acura</c:v>
                </c:pt>
                <c:pt idx="1">
                  <c:v>Audi</c:v>
                </c:pt>
                <c:pt idx="2">
                  <c:v>BMW</c:v>
                </c:pt>
                <c:pt idx="3">
                  <c:v>Buick</c:v>
                </c:pt>
                <c:pt idx="4">
                  <c:v>Cadillac</c:v>
                </c:pt>
                <c:pt idx="5">
                  <c:v>Chevrolet</c:v>
                </c:pt>
                <c:pt idx="6">
                  <c:v>Chrysler</c:v>
                </c:pt>
                <c:pt idx="7">
                  <c:v>Dodge</c:v>
                </c:pt>
                <c:pt idx="8">
                  <c:v>Ford</c:v>
                </c:pt>
                <c:pt idx="9">
                  <c:v>GMC</c:v>
                </c:pt>
                <c:pt idx="10">
                  <c:v>Honda</c:v>
                </c:pt>
                <c:pt idx="11">
                  <c:v>HUMMER</c:v>
                </c:pt>
                <c:pt idx="12">
                  <c:v>Hyundai</c:v>
                </c:pt>
                <c:pt idx="13">
                  <c:v>Infiniti</c:v>
                </c:pt>
                <c:pt idx="14">
                  <c:v>Jaguar</c:v>
                </c:pt>
                <c:pt idx="15">
                  <c:v>Jeep</c:v>
                </c:pt>
                <c:pt idx="16">
                  <c:v>Kia</c:v>
                </c:pt>
                <c:pt idx="17">
                  <c:v>Land Rover</c:v>
                </c:pt>
                <c:pt idx="18">
                  <c:v>Lexus</c:v>
                </c:pt>
                <c:pt idx="19">
                  <c:v>Lincoln</c:v>
                </c:pt>
                <c:pt idx="20">
                  <c:v>Maserati</c:v>
                </c:pt>
                <c:pt idx="21">
                  <c:v>Mazda</c:v>
                </c:pt>
                <c:pt idx="22">
                  <c:v>Mercedes-Benz</c:v>
                </c:pt>
                <c:pt idx="23">
                  <c:v>Mercury</c:v>
                </c:pt>
                <c:pt idx="24">
                  <c:v>MINI</c:v>
                </c:pt>
                <c:pt idx="25">
                  <c:v>Mitsubishi</c:v>
                </c:pt>
                <c:pt idx="26">
                  <c:v>Nissan</c:v>
                </c:pt>
                <c:pt idx="27">
                  <c:v>Pontiac</c:v>
                </c:pt>
                <c:pt idx="28">
                  <c:v>Porsche</c:v>
                </c:pt>
                <c:pt idx="29">
                  <c:v>Saturn</c:v>
                </c:pt>
                <c:pt idx="30">
                  <c:v>Scion</c:v>
                </c:pt>
                <c:pt idx="31">
                  <c:v>Subaru</c:v>
                </c:pt>
                <c:pt idx="32">
                  <c:v>Toyota</c:v>
                </c:pt>
                <c:pt idx="33">
                  <c:v>Volkswagen</c:v>
                </c:pt>
                <c:pt idx="34">
                  <c:v>Volvo</c:v>
                </c:pt>
              </c:strCache>
            </c:strRef>
          </c:cat>
          <c:val>
            <c:numRef>
              <c:f>'REVENUE BY CAR MAKE'!$C$3:$C$38</c:f>
              <c:numCache>
                <c:formatCode>General</c:formatCode>
                <c:ptCount val="35"/>
                <c:pt idx="2">
                  <c:v>50</c:v>
                </c:pt>
                <c:pt idx="5">
                  <c:v>-1825</c:v>
                </c:pt>
                <c:pt idx="7">
                  <c:v>1100</c:v>
                </c:pt>
                <c:pt idx="8">
                  <c:v>-100</c:v>
                </c:pt>
                <c:pt idx="10">
                  <c:v>1250</c:v>
                </c:pt>
                <c:pt idx="12">
                  <c:v>-1150</c:v>
                </c:pt>
                <c:pt idx="13">
                  <c:v>-4425</c:v>
                </c:pt>
                <c:pt idx="15">
                  <c:v>-1900</c:v>
                </c:pt>
                <c:pt idx="16">
                  <c:v>-1225</c:v>
                </c:pt>
                <c:pt idx="21">
                  <c:v>450</c:v>
                </c:pt>
                <c:pt idx="24">
                  <c:v>-400</c:v>
                </c:pt>
                <c:pt idx="26">
                  <c:v>75</c:v>
                </c:pt>
                <c:pt idx="28">
                  <c:v>6900</c:v>
                </c:pt>
                <c:pt idx="31">
                  <c:v>-2925</c:v>
                </c:pt>
                <c:pt idx="32">
                  <c:v>-2375</c:v>
                </c:pt>
                <c:pt idx="33">
                  <c:v>-350</c:v>
                </c:pt>
              </c:numCache>
            </c:numRef>
          </c:val>
          <c:smooth val="0"/>
          <c:extLst>
            <c:ext xmlns:c16="http://schemas.microsoft.com/office/drawing/2014/chart" uri="{C3380CC4-5D6E-409C-BE32-E72D297353CC}">
              <c16:uniqueId val="{00000001-BB38-43FE-8E39-908D6E0E9893}"/>
            </c:ext>
          </c:extLst>
        </c:ser>
        <c:dLbls>
          <c:showLegendKey val="0"/>
          <c:showVal val="0"/>
          <c:showCatName val="0"/>
          <c:showSerName val="0"/>
          <c:showPercent val="0"/>
          <c:showBubbleSize val="0"/>
        </c:dLbls>
        <c:marker val="1"/>
        <c:smooth val="0"/>
        <c:axId val="103567040"/>
        <c:axId val="103560800"/>
      </c:lineChart>
      <c:catAx>
        <c:axId val="103567040"/>
        <c:scaling>
          <c:orientation val="minMax"/>
        </c:scaling>
        <c:delete val="0"/>
        <c:axPos val="b"/>
        <c:title>
          <c:tx>
            <c:rich>
              <a:bodyPr rot="0" spcFirstLastPara="1" vertOverflow="ellipsis" vert="horz" wrap="square" anchor="ctr" anchorCtr="1"/>
              <a:lstStyle/>
              <a:p>
                <a:pPr>
                  <a:defRPr lang="en-US" sz="1000" b="1" i="0" u="none" strike="noStrike" kern="1200" baseline="0">
                    <a:solidFill>
                      <a:srgbClr val="0E2841"/>
                    </a:solidFill>
                    <a:latin typeface="+mn-lt"/>
                    <a:ea typeface="+mn-ea"/>
                    <a:cs typeface="+mn-cs"/>
                  </a:defRPr>
                </a:pPr>
                <a:r>
                  <a:rPr lang="en-US"/>
                  <a:t>Car Make</a:t>
                </a:r>
              </a:p>
            </c:rich>
          </c:tx>
          <c:overlay val="0"/>
          <c:spPr>
            <a:noFill/>
            <a:ln>
              <a:noFill/>
            </a:ln>
            <a:effectLst/>
          </c:spPr>
          <c:txPr>
            <a:bodyPr rot="0" spcFirstLastPara="1" vertOverflow="ellipsis" vert="horz" wrap="square" anchor="ctr" anchorCtr="1"/>
            <a:lstStyle/>
            <a:p>
              <a:pPr>
                <a:defRPr lang="en-US" sz="1000" b="1" i="0" u="none" strike="noStrike" kern="1200" baseline="0">
                  <a:solidFill>
                    <a:srgbClr val="0E2841"/>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en-US" sz="1000" b="1" i="0" u="none" strike="noStrike" kern="1200" baseline="0">
                <a:solidFill>
                  <a:srgbClr val="0E2841"/>
                </a:solidFill>
                <a:latin typeface="+mn-lt"/>
                <a:ea typeface="+mn-ea"/>
                <a:cs typeface="+mn-cs"/>
              </a:defRPr>
            </a:pPr>
            <a:endParaRPr lang="en-US"/>
          </a:p>
        </c:txPr>
        <c:crossAx val="103560800"/>
        <c:crosses val="autoZero"/>
        <c:auto val="1"/>
        <c:lblAlgn val="ctr"/>
        <c:lblOffset val="100"/>
        <c:noMultiLvlLbl val="0"/>
      </c:catAx>
      <c:valAx>
        <c:axId val="103560800"/>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lang="en-US" sz="1000" b="1" i="0" u="none" strike="noStrike" kern="1200" baseline="0">
                    <a:solidFill>
                      <a:srgbClr val="0E2841"/>
                    </a:solidFill>
                    <a:latin typeface="+mn-lt"/>
                    <a:ea typeface="+mn-ea"/>
                    <a:cs typeface="+mn-cs"/>
                  </a:defRPr>
                </a:pPr>
                <a:r>
                  <a:rPr lang="en-US"/>
                  <a:t>Revenue</a:t>
                </a:r>
              </a:p>
            </c:rich>
          </c:tx>
          <c:overlay val="0"/>
          <c:spPr>
            <a:noFill/>
            <a:ln>
              <a:noFill/>
            </a:ln>
            <a:effectLst/>
          </c:spPr>
          <c:txPr>
            <a:bodyPr rot="-5400000" spcFirstLastPara="1" vertOverflow="ellipsis" vert="horz" wrap="square" anchor="ctr" anchorCtr="1"/>
            <a:lstStyle/>
            <a:p>
              <a:pPr>
                <a:defRPr lang="en-US" sz="1000" b="1" i="0" u="none" strike="noStrike" kern="1200" baseline="0">
                  <a:solidFill>
                    <a:srgbClr val="0E2841"/>
                  </a:solidFill>
                  <a:latin typeface="+mn-lt"/>
                  <a:ea typeface="+mn-ea"/>
                  <a:cs typeface="+mn-cs"/>
                </a:defRPr>
              </a:pPr>
              <a:endParaRPr lang="en-US"/>
            </a:p>
          </c:txPr>
        </c:title>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lang="en-US" sz="800" b="1" i="0" u="none" strike="noStrike" kern="1200" baseline="0">
                <a:solidFill>
                  <a:srgbClr val="0E2841"/>
                </a:solidFill>
                <a:latin typeface="+mn-lt"/>
                <a:ea typeface="+mn-ea"/>
                <a:cs typeface="+mn-cs"/>
              </a:defRPr>
            </a:pPr>
            <a:endParaRPr lang="en-US"/>
          </a:p>
        </c:txPr>
        <c:crossAx val="103567040"/>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lang="en-US" sz="1200" b="1" i="0" u="none" strike="noStrike" kern="1200" baseline="0">
              <a:solidFill>
                <a:srgbClr val="0E2841"/>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lgn="ctr" rtl="0">
        <a:defRPr lang="en-US" sz="1000" b="1" i="0" u="none" strike="noStrike" kern="1200" baseline="0">
          <a:solidFill>
            <a:srgbClr val="0E2841"/>
          </a:solidFill>
          <a:latin typeface="+mn-lt"/>
          <a:ea typeface="+mn-ea"/>
          <a:cs typeface="+mn-cs"/>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[Case Study 2 Visuals.xlsb]REVENUE BY CAR MODEL!PivotTable2</c:name>
    <c:fmtId val="32"/>
  </c:pivotSource>
  <c:chart>
    <c:title>
      <c:tx>
        <c:rich>
          <a:bodyPr rot="0" spcFirstLastPara="1" vertOverflow="ellipsis" vert="horz" wrap="square" anchor="ctr" anchorCtr="1"/>
          <a:lstStyle/>
          <a:p>
            <a:pPr>
              <a:defRPr sz="1600" b="1" i="0" u="none" strike="noStrike" kern="1200" baseline="0">
                <a:solidFill>
                  <a:schemeClr val="tx2"/>
                </a:solidFill>
                <a:latin typeface="+mn-lt"/>
                <a:ea typeface="+mn-ea"/>
                <a:cs typeface="+mn-cs"/>
              </a:defRPr>
            </a:pPr>
            <a:r>
              <a:rPr lang="en-US"/>
              <a:t>TOP 10 MOST PERFORMING CAR MODEL BY REVENUE</a:t>
            </a:r>
          </a:p>
        </c:rich>
      </c:tx>
      <c:layout>
        <c:manualLayout>
          <c:xMode val="edge"/>
          <c:yMode val="edge"/>
          <c:x val="0.16478244342263079"/>
          <c:y val="4.3983064897546248E-2"/>
        </c:manualLayout>
      </c:layout>
      <c:overlay val="0"/>
      <c:spPr>
        <a:noFill/>
        <a:ln>
          <a:noFill/>
        </a:ln>
        <a:effectLst/>
      </c:spPr>
      <c:txPr>
        <a:bodyPr rot="0" spcFirstLastPara="1" vertOverflow="ellipsis" vert="horz" wrap="square" anchor="ctr" anchorCtr="1"/>
        <a:lstStyle/>
        <a:p>
          <a:pPr>
            <a:defRPr sz="1600" b="1" i="0" u="none" strike="noStrike" kern="1200" baseline="0">
              <a:solidFill>
                <a:schemeClr val="tx2"/>
              </a:solidFill>
              <a:latin typeface="+mn-lt"/>
              <a:ea typeface="+mn-ea"/>
              <a:cs typeface="+mn-cs"/>
            </a:defRPr>
          </a:pPr>
          <a:endParaRPr lang="en-US"/>
        </a:p>
      </c:txPr>
    </c:title>
    <c:autoTitleDeleted val="0"/>
    <c:pivotFmts>
      <c:pivotFmt>
        <c:idx val="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2"/>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2"/>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2"/>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2"/>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2"/>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2"/>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2"/>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2"/>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stacked"/>
        <c:varyColors val="0"/>
        <c:ser>
          <c:idx val="0"/>
          <c:order val="0"/>
          <c:tx>
            <c:strRef>
              <c:f>'REVENUE BY CAR MODEL'!$B$1:$B$2</c:f>
              <c:strCache>
                <c:ptCount val="1"/>
                <c:pt idx="0">
                  <c:v>automatic</c:v>
                </c:pt>
              </c:strCache>
            </c:strRef>
          </c:tx>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invertIfNegative val="0"/>
          <c:cat>
            <c:strRef>
              <c:f>'REVENUE BY CAR MODEL'!$A$3:$A$13</c:f>
              <c:strCache>
                <c:ptCount val="10"/>
                <c:pt idx="0">
                  <c:v>5 Series</c:v>
                </c:pt>
                <c:pt idx="1">
                  <c:v>Acadia</c:v>
                </c:pt>
                <c:pt idx="2">
                  <c:v>Cayenne</c:v>
                </c:pt>
                <c:pt idx="3">
                  <c:v>Equinox</c:v>
                </c:pt>
                <c:pt idx="4">
                  <c:v>Escalade</c:v>
                </c:pt>
                <c:pt idx="5">
                  <c:v>E-Series Wagon</c:v>
                </c:pt>
                <c:pt idx="6">
                  <c:v>Frontier</c:v>
                </c:pt>
                <c:pt idx="7">
                  <c:v>Santa Fe</c:v>
                </c:pt>
                <c:pt idx="8">
                  <c:v>Silverado 1500</c:v>
                </c:pt>
                <c:pt idx="9">
                  <c:v>Tahoe</c:v>
                </c:pt>
              </c:strCache>
            </c:strRef>
          </c:cat>
          <c:val>
            <c:numRef>
              <c:f>'REVENUE BY CAR MODEL'!$B$3:$B$13</c:f>
              <c:numCache>
                <c:formatCode>General</c:formatCode>
                <c:ptCount val="10"/>
                <c:pt idx="0">
                  <c:v>5050</c:v>
                </c:pt>
                <c:pt idx="1">
                  <c:v>4625</c:v>
                </c:pt>
                <c:pt idx="3">
                  <c:v>6650</c:v>
                </c:pt>
                <c:pt idx="4">
                  <c:v>3750</c:v>
                </c:pt>
                <c:pt idx="5">
                  <c:v>3700</c:v>
                </c:pt>
                <c:pt idx="6">
                  <c:v>4250</c:v>
                </c:pt>
                <c:pt idx="7">
                  <c:v>7475</c:v>
                </c:pt>
                <c:pt idx="8">
                  <c:v>7250</c:v>
                </c:pt>
                <c:pt idx="9">
                  <c:v>3725</c:v>
                </c:pt>
              </c:numCache>
            </c:numRef>
          </c:val>
          <c:extLst>
            <c:ext xmlns:c16="http://schemas.microsoft.com/office/drawing/2014/chart" uri="{C3380CC4-5D6E-409C-BE32-E72D297353CC}">
              <c16:uniqueId val="{00000000-6B00-48C6-8E61-38CA54EF70EC}"/>
            </c:ext>
          </c:extLst>
        </c:ser>
        <c:ser>
          <c:idx val="1"/>
          <c:order val="1"/>
          <c:tx>
            <c:strRef>
              <c:f>'REVENUE BY CAR MODEL'!$C$1:$C$2</c:f>
              <c:strCache>
                <c:ptCount val="1"/>
                <c:pt idx="0">
                  <c:v>manual</c:v>
                </c:pt>
              </c:strCache>
            </c:strRef>
          </c:tx>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c:spPr>
          <c:invertIfNegative val="0"/>
          <c:cat>
            <c:strRef>
              <c:f>'REVENUE BY CAR MODEL'!$A$3:$A$13</c:f>
              <c:strCache>
                <c:ptCount val="10"/>
                <c:pt idx="0">
                  <c:v>5 Series</c:v>
                </c:pt>
                <c:pt idx="1">
                  <c:v>Acadia</c:v>
                </c:pt>
                <c:pt idx="2">
                  <c:v>Cayenne</c:v>
                </c:pt>
                <c:pt idx="3">
                  <c:v>Equinox</c:v>
                </c:pt>
                <c:pt idx="4">
                  <c:v>Escalade</c:v>
                </c:pt>
                <c:pt idx="5">
                  <c:v>E-Series Wagon</c:v>
                </c:pt>
                <c:pt idx="6">
                  <c:v>Frontier</c:v>
                </c:pt>
                <c:pt idx="7">
                  <c:v>Santa Fe</c:v>
                </c:pt>
                <c:pt idx="8">
                  <c:v>Silverado 1500</c:v>
                </c:pt>
                <c:pt idx="9">
                  <c:v>Tahoe</c:v>
                </c:pt>
              </c:strCache>
            </c:strRef>
          </c:cat>
          <c:val>
            <c:numRef>
              <c:f>'REVENUE BY CAR MODEL'!$C$3:$C$13</c:f>
              <c:numCache>
                <c:formatCode>General</c:formatCode>
                <c:ptCount val="10"/>
                <c:pt idx="0">
                  <c:v>50</c:v>
                </c:pt>
                <c:pt idx="2">
                  <c:v>6900</c:v>
                </c:pt>
              </c:numCache>
            </c:numRef>
          </c:val>
          <c:extLst>
            <c:ext xmlns:c16="http://schemas.microsoft.com/office/drawing/2014/chart" uri="{C3380CC4-5D6E-409C-BE32-E72D297353CC}">
              <c16:uniqueId val="{00000001-6B00-48C6-8E61-38CA54EF70EC}"/>
            </c:ext>
          </c:extLst>
        </c:ser>
        <c:dLbls>
          <c:showLegendKey val="0"/>
          <c:showVal val="0"/>
          <c:showCatName val="0"/>
          <c:showSerName val="0"/>
          <c:showPercent val="0"/>
          <c:showBubbleSize val="0"/>
        </c:dLbls>
        <c:gapWidth val="300"/>
        <c:overlap val="100"/>
        <c:serLines>
          <c:spPr>
            <a:ln w="9525">
              <a:solidFill>
                <a:schemeClr val="tx2">
                  <a:lumMod val="60000"/>
                  <a:lumOff val="40000"/>
                </a:schemeClr>
              </a:solidFill>
              <a:prstDash val="dash"/>
            </a:ln>
            <a:effectLst/>
          </c:spPr>
        </c:serLines>
        <c:axId val="103561760"/>
        <c:axId val="103548320"/>
      </c:barChart>
      <c:catAx>
        <c:axId val="103561760"/>
        <c:scaling>
          <c:orientation val="minMax"/>
        </c:scaling>
        <c:delete val="0"/>
        <c:axPos val="b"/>
        <c:title>
          <c:overlay val="0"/>
          <c:spPr>
            <a:noFill/>
            <a:ln>
              <a:noFill/>
            </a:ln>
            <a:effectLst/>
          </c:spPr>
          <c:txPr>
            <a:bodyPr rot="0" spcFirstLastPara="1" vertOverflow="ellipsis" vert="horz" wrap="square" anchor="ctr" anchorCtr="1"/>
            <a:lstStyle/>
            <a:p>
              <a:pPr>
                <a:defRPr sz="900" b="1" i="0" u="none" strike="noStrike" kern="1200" baseline="0">
                  <a:solidFill>
                    <a:schemeClr val="tx2"/>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2">
                <a:lumMod val="15000"/>
                <a:lumOff val="85000"/>
              </a:schemeClr>
            </a:solidFill>
            <a:round/>
          </a:ln>
          <a:effectLst/>
        </c:spPr>
        <c:txPr>
          <a:bodyPr rot="-60000000" spcFirstLastPara="1" vertOverflow="ellipsis" vert="horz" wrap="square" anchor="ctr" anchorCtr="1"/>
          <a:lstStyle/>
          <a:p>
            <a:pPr>
              <a:defRPr sz="1000" b="1" i="0" u="none" strike="noStrike" kern="1200" baseline="0">
                <a:solidFill>
                  <a:sysClr val="windowText" lastClr="000000"/>
                </a:solidFill>
                <a:latin typeface="+mn-lt"/>
                <a:ea typeface="+mn-ea"/>
                <a:cs typeface="+mn-cs"/>
              </a:defRPr>
            </a:pPr>
            <a:endParaRPr lang="en-US"/>
          </a:p>
        </c:txPr>
        <c:crossAx val="103548320"/>
        <c:crosses val="autoZero"/>
        <c:auto val="1"/>
        <c:lblAlgn val="ctr"/>
        <c:lblOffset val="100"/>
        <c:noMultiLvlLbl val="0"/>
      </c:catAx>
      <c:valAx>
        <c:axId val="103548320"/>
        <c:scaling>
          <c:orientation val="minMax"/>
        </c:scaling>
        <c:delete val="0"/>
        <c:axPos val="l"/>
        <c:majorGridlines>
          <c:spPr>
            <a:ln w="9525" cap="flat" cmpd="sng" algn="ctr">
              <a:solidFill>
                <a:schemeClr val="tx2">
                  <a:lumMod val="15000"/>
                  <a:lumOff val="85000"/>
                </a:schemeClr>
              </a:solidFill>
              <a:round/>
            </a:ln>
            <a:effectLst/>
          </c:spPr>
        </c:majorGridlines>
        <c:title>
          <c:overlay val="0"/>
          <c:spPr>
            <a:noFill/>
            <a:ln>
              <a:noFill/>
            </a:ln>
            <a:effectLst/>
          </c:spPr>
          <c:txPr>
            <a:bodyPr rot="-5400000" spcFirstLastPara="1" vertOverflow="ellipsis" vert="horz" wrap="square" anchor="ctr" anchorCtr="1"/>
            <a:lstStyle/>
            <a:p>
              <a:pPr>
                <a:defRPr sz="900" b="1" i="0" u="none" strike="noStrike" kern="1200" baseline="0">
                  <a:solidFill>
                    <a:schemeClr val="tx2"/>
                  </a:solidFill>
                  <a:latin typeface="+mn-lt"/>
                  <a:ea typeface="+mn-ea"/>
                  <a:cs typeface="+mn-cs"/>
                </a:defRPr>
              </a:pPr>
              <a:endParaRPr lang="en-US"/>
            </a:p>
          </c:txPr>
        </c:title>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2"/>
                </a:solidFill>
                <a:latin typeface="+mn-lt"/>
                <a:ea typeface="+mn-ea"/>
                <a:cs typeface="+mn-cs"/>
              </a:defRPr>
            </a:pPr>
            <a:endParaRPr lang="en-US"/>
          </a:p>
        </c:txPr>
        <c:crossAx val="103561760"/>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1200" b="0" i="0" u="none" strike="noStrike" kern="1200" baseline="0">
              <a:solidFill>
                <a:schemeClr val="tx2"/>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[Case Study 2 Visuals.xlsb]REVENUE BY CAR MODEL!PivotTable3</c:name>
    <c:fmtId val="13"/>
  </c:pivotSource>
  <c:chart>
    <c:title>
      <c:tx>
        <c:rich>
          <a:bodyPr rot="0" spcFirstLastPara="1" vertOverflow="ellipsis" vert="horz" wrap="square" anchor="ctr" anchorCtr="1"/>
          <a:lstStyle/>
          <a:p>
            <a:pPr>
              <a:defRPr sz="1400" b="1" i="0" u="none" strike="noStrike" kern="1200" baseline="0">
                <a:solidFill>
                  <a:schemeClr val="tx2"/>
                </a:solidFill>
                <a:latin typeface="+mn-lt"/>
                <a:ea typeface="+mn-ea"/>
                <a:cs typeface="+mn-cs"/>
              </a:defRPr>
            </a:pPr>
            <a:r>
              <a:rPr lang="en-US" sz="1400"/>
              <a:t>BOTTOM 10 LEAST PERFORMING CAR MODEL BY REVENUE</a:t>
            </a:r>
          </a:p>
        </c:rich>
      </c:tx>
      <c:overlay val="0"/>
      <c:spPr>
        <a:noFill/>
        <a:ln>
          <a:noFill/>
        </a:ln>
        <a:effectLst/>
      </c:spPr>
      <c:txPr>
        <a:bodyPr rot="0" spcFirstLastPara="1" vertOverflow="ellipsis" vert="horz" wrap="square" anchor="ctr" anchorCtr="1"/>
        <a:lstStyle/>
        <a:p>
          <a:pPr>
            <a:defRPr sz="1400" b="1" i="0" u="none" strike="noStrike" kern="1200" baseline="0">
              <a:solidFill>
                <a:schemeClr val="tx2"/>
              </a:solidFill>
              <a:latin typeface="+mn-lt"/>
              <a:ea typeface="+mn-ea"/>
              <a:cs typeface="+mn-cs"/>
            </a:defRPr>
          </a:pPr>
          <a:endParaRPr lang="en-US"/>
        </a:p>
      </c:txPr>
    </c:title>
    <c:autoTitleDeleted val="0"/>
    <c:pivotFmts>
      <c:pivotFmt>
        <c:idx val="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marker>
          <c:symbol val="circle"/>
          <c:size val="6"/>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12700">
              <a:solidFill>
                <a:schemeClr val="lt2"/>
              </a:solidFill>
              <a:round/>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2"/>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marker>
          <c:symbol val="circle"/>
          <c:size val="6"/>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w="12700">
              <a:solidFill>
                <a:schemeClr val="lt2"/>
              </a:solidFill>
              <a:round/>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2"/>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2"/>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2"/>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2"/>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2"/>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2"/>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2"/>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stacked"/>
        <c:varyColors val="0"/>
        <c:ser>
          <c:idx val="0"/>
          <c:order val="0"/>
          <c:tx>
            <c:strRef>
              <c:f>'REVENUE BY CAR MODEL'!$B$15:$B$16</c:f>
              <c:strCache>
                <c:ptCount val="1"/>
                <c:pt idx="0">
                  <c:v>automatic</c:v>
                </c:pt>
              </c:strCache>
            </c:strRef>
          </c:tx>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invertIfNegative val="0"/>
          <c:cat>
            <c:strRef>
              <c:f>'REVENUE BY CAR MODEL'!$A$17:$A$27</c:f>
              <c:strCache>
                <c:ptCount val="10"/>
                <c:pt idx="0">
                  <c:v>Accord</c:v>
                </c:pt>
                <c:pt idx="1">
                  <c:v>Camry</c:v>
                </c:pt>
                <c:pt idx="2">
                  <c:v>F-250 Super Duty</c:v>
                </c:pt>
                <c:pt idx="3">
                  <c:v>Fiesta</c:v>
                </c:pt>
                <c:pt idx="4">
                  <c:v>Grand Caravan</c:v>
                </c:pt>
                <c:pt idx="5">
                  <c:v>Maxima</c:v>
                </c:pt>
                <c:pt idx="6">
                  <c:v>Patriot</c:v>
                </c:pt>
                <c:pt idx="7">
                  <c:v>Range Rover</c:v>
                </c:pt>
                <c:pt idx="8">
                  <c:v>S-Class</c:v>
                </c:pt>
                <c:pt idx="9">
                  <c:v>Town and Country</c:v>
                </c:pt>
              </c:strCache>
            </c:strRef>
          </c:cat>
          <c:val>
            <c:numRef>
              <c:f>'REVENUE BY CAR MODEL'!$B$17:$B$27</c:f>
              <c:numCache>
                <c:formatCode>General</c:formatCode>
                <c:ptCount val="10"/>
                <c:pt idx="0">
                  <c:v>-10300</c:v>
                </c:pt>
                <c:pt idx="1">
                  <c:v>-5850</c:v>
                </c:pt>
                <c:pt idx="2">
                  <c:v>-8225</c:v>
                </c:pt>
                <c:pt idx="3">
                  <c:v>-6825</c:v>
                </c:pt>
                <c:pt idx="4">
                  <c:v>-5375</c:v>
                </c:pt>
                <c:pt idx="5">
                  <c:v>-6475</c:v>
                </c:pt>
                <c:pt idx="6">
                  <c:v>-10550</c:v>
                </c:pt>
                <c:pt idx="7">
                  <c:v>-7100</c:v>
                </c:pt>
                <c:pt idx="8">
                  <c:v>-12750</c:v>
                </c:pt>
                <c:pt idx="9">
                  <c:v>-6200</c:v>
                </c:pt>
              </c:numCache>
            </c:numRef>
          </c:val>
          <c:extLst>
            <c:ext xmlns:c16="http://schemas.microsoft.com/office/drawing/2014/chart" uri="{C3380CC4-5D6E-409C-BE32-E72D297353CC}">
              <c16:uniqueId val="{00000000-C2EE-4372-9758-9ECD0BB66448}"/>
            </c:ext>
          </c:extLst>
        </c:ser>
        <c:ser>
          <c:idx val="1"/>
          <c:order val="1"/>
          <c:tx>
            <c:strRef>
              <c:f>'REVENUE BY CAR MODEL'!$C$15:$C$16</c:f>
              <c:strCache>
                <c:ptCount val="1"/>
                <c:pt idx="0">
                  <c:v>manual</c:v>
                </c:pt>
              </c:strCache>
            </c:strRef>
          </c:tx>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c:spPr>
          <c:invertIfNegative val="0"/>
          <c:cat>
            <c:strRef>
              <c:f>'REVENUE BY CAR MODEL'!$A$17:$A$27</c:f>
              <c:strCache>
                <c:ptCount val="10"/>
                <c:pt idx="0">
                  <c:v>Accord</c:v>
                </c:pt>
                <c:pt idx="1">
                  <c:v>Camry</c:v>
                </c:pt>
                <c:pt idx="2">
                  <c:v>F-250 Super Duty</c:v>
                </c:pt>
                <c:pt idx="3">
                  <c:v>Fiesta</c:v>
                </c:pt>
                <c:pt idx="4">
                  <c:v>Grand Caravan</c:v>
                </c:pt>
                <c:pt idx="5">
                  <c:v>Maxima</c:v>
                </c:pt>
                <c:pt idx="6">
                  <c:v>Patriot</c:v>
                </c:pt>
                <c:pt idx="7">
                  <c:v>Range Rover</c:v>
                </c:pt>
                <c:pt idx="8">
                  <c:v>S-Class</c:v>
                </c:pt>
                <c:pt idx="9">
                  <c:v>Town and Country</c:v>
                </c:pt>
              </c:strCache>
            </c:strRef>
          </c:cat>
          <c:val>
            <c:numRef>
              <c:f>'REVENUE BY CAR MODEL'!$C$17:$C$27</c:f>
              <c:numCache>
                <c:formatCode>General</c:formatCode>
                <c:ptCount val="10"/>
                <c:pt idx="1">
                  <c:v>-1925</c:v>
                </c:pt>
              </c:numCache>
            </c:numRef>
          </c:val>
          <c:extLst>
            <c:ext xmlns:c16="http://schemas.microsoft.com/office/drawing/2014/chart" uri="{C3380CC4-5D6E-409C-BE32-E72D297353CC}">
              <c16:uniqueId val="{00000001-C2EE-4372-9758-9ECD0BB66448}"/>
            </c:ext>
          </c:extLst>
        </c:ser>
        <c:dLbls>
          <c:showLegendKey val="0"/>
          <c:showVal val="0"/>
          <c:showCatName val="0"/>
          <c:showSerName val="0"/>
          <c:showPercent val="0"/>
          <c:showBubbleSize val="0"/>
        </c:dLbls>
        <c:gapWidth val="300"/>
        <c:overlap val="100"/>
        <c:serLines>
          <c:spPr>
            <a:ln w="9525">
              <a:solidFill>
                <a:schemeClr val="tx2">
                  <a:lumMod val="60000"/>
                  <a:lumOff val="40000"/>
                </a:schemeClr>
              </a:solidFill>
              <a:prstDash val="dash"/>
            </a:ln>
            <a:effectLst/>
          </c:spPr>
        </c:serLines>
        <c:axId val="985438592"/>
        <c:axId val="985417952"/>
      </c:barChart>
      <c:catAx>
        <c:axId val="985438592"/>
        <c:scaling>
          <c:orientation val="minMax"/>
        </c:scaling>
        <c:delete val="0"/>
        <c:axPos val="b"/>
        <c:numFmt formatCode="General" sourceLinked="1"/>
        <c:majorTickMark val="none"/>
        <c:minorTickMark val="none"/>
        <c:tickLblPos val="nextTo"/>
        <c:spPr>
          <a:noFill/>
          <a:ln w="9525" cap="flat" cmpd="sng" algn="ctr">
            <a:solidFill>
              <a:schemeClr val="tx2">
                <a:lumMod val="15000"/>
                <a:lumOff val="85000"/>
              </a:schemeClr>
            </a:solidFill>
            <a:round/>
          </a:ln>
          <a:effectLst/>
        </c:spPr>
        <c:txPr>
          <a:bodyPr rot="-60000000" spcFirstLastPara="1" vertOverflow="ellipsis" vert="horz" wrap="square" anchor="ctr" anchorCtr="1"/>
          <a:lstStyle/>
          <a:p>
            <a:pPr>
              <a:defRPr sz="1000" b="1" i="0" u="none" strike="noStrike" kern="1200" baseline="0">
                <a:solidFill>
                  <a:sysClr val="windowText" lastClr="000000"/>
                </a:solidFill>
                <a:latin typeface="+mn-lt"/>
                <a:ea typeface="+mn-ea"/>
                <a:cs typeface="+mn-cs"/>
              </a:defRPr>
            </a:pPr>
            <a:endParaRPr lang="en-US"/>
          </a:p>
        </c:txPr>
        <c:crossAx val="985417952"/>
        <c:crosses val="autoZero"/>
        <c:auto val="1"/>
        <c:lblAlgn val="ctr"/>
        <c:lblOffset val="100"/>
        <c:noMultiLvlLbl val="0"/>
      </c:catAx>
      <c:valAx>
        <c:axId val="985417952"/>
        <c:scaling>
          <c:orientation val="minMax"/>
        </c:scaling>
        <c:delete val="0"/>
        <c:axPos val="l"/>
        <c:majorGridlines>
          <c:spPr>
            <a:ln w="9525" cap="flat" cmpd="sng" algn="ctr">
              <a:solidFill>
                <a:schemeClr val="tx2">
                  <a:lumMod val="15000"/>
                  <a:lumOff val="85000"/>
                </a:schemeClr>
              </a:solidFill>
              <a:round/>
            </a:ln>
            <a:effectLst/>
          </c:spPr>
        </c:majorGridlines>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2"/>
                </a:solidFill>
                <a:latin typeface="+mn-lt"/>
                <a:ea typeface="+mn-ea"/>
                <a:cs typeface="+mn-cs"/>
              </a:defRPr>
            </a:pPr>
            <a:endParaRPr lang="en-US"/>
          </a:p>
        </c:txPr>
        <c:crossAx val="985438592"/>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1200" b="0" i="0" u="none" strike="noStrike" kern="1200" baseline="0">
              <a:solidFill>
                <a:schemeClr val="tx2"/>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[Case Study 2 Visuals.xlsb]REVENUE BY CAR MODEL!PivotTable2</c:name>
    <c:fmtId val="35"/>
  </c:pivotSource>
  <c:chart>
    <c:autoTitleDeleted val="1"/>
    <c:pivotFmts>
      <c:pivotFmt>
        <c:idx val="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marker>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12700">
              <a:solidFill>
                <a:schemeClr val="lt2"/>
              </a:solidFill>
              <a:round/>
            </a:ln>
            <a:effectLst/>
          </c:spPr>
        </c:marker>
        <c:dLbl>
          <c:idx val="0"/>
          <c:spPr>
            <a:noFill/>
            <a:ln>
              <a:noFill/>
            </a:ln>
            <a:effectLst/>
          </c:spPr>
          <c:txPr>
            <a:bodyPr rot="0" spcFirstLastPara="1" vertOverflow="ellipsis" vert="horz" wrap="square" lIns="38100" tIns="19050" rIns="38100" bIns="19050" anchor="ctr" anchorCtr="1">
              <a:spAutoFit/>
            </a:bodyPr>
            <a:lstStyle/>
            <a:p>
              <a:pPr>
                <a:defRPr lang="en-US" sz="900" b="0" i="0" u="none" strike="noStrike" kern="1200" baseline="0">
                  <a:solidFill>
                    <a:schemeClr val="tx2"/>
                  </a:solidFill>
                  <a:latin typeface="+mn-lt"/>
                  <a:ea typeface="+mn-ea"/>
                  <a:cs typeface="+mn-cs"/>
                </a:defRPr>
              </a:pPr>
              <a:endParaRPr lang="en-US"/>
            </a:p>
          </c:txPr>
          <c:showLegendKey val="1"/>
          <c:showVal val="1"/>
          <c:showCatName val="1"/>
          <c:showSerName val="1"/>
          <c:showPercent val="1"/>
          <c:showBubbleSize val="1"/>
          <c:extLst>
            <c:ext xmlns:c15="http://schemas.microsoft.com/office/drawing/2012/chart" uri="{CE6537A1-D6FC-4f65-9D91-7224C49458BB}"/>
          </c:extLst>
        </c:dLbl>
      </c:pivotFmt>
      <c:pivotFmt>
        <c:idx val="1"/>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marker>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w="12700">
              <a:solidFill>
                <a:schemeClr val="lt2"/>
              </a:solidFill>
              <a:round/>
            </a:ln>
            <a:effectLst/>
          </c:spPr>
        </c:marker>
        <c:dLbl>
          <c:idx val="0"/>
          <c:spPr>
            <a:noFill/>
            <a:ln>
              <a:noFill/>
            </a:ln>
            <a:effectLst/>
          </c:spPr>
          <c:txPr>
            <a:bodyPr rot="0" spcFirstLastPara="1" vertOverflow="ellipsis" vert="horz" wrap="square" lIns="38100" tIns="19050" rIns="38100" bIns="19050" anchor="ctr" anchorCtr="1">
              <a:spAutoFit/>
            </a:bodyPr>
            <a:lstStyle/>
            <a:p>
              <a:pPr>
                <a:defRPr lang="en-US" sz="900" b="0" i="0" u="none" strike="noStrike" kern="1200" baseline="0">
                  <a:solidFill>
                    <a:schemeClr val="tx2"/>
                  </a:solidFill>
                  <a:latin typeface="+mn-lt"/>
                  <a:ea typeface="+mn-ea"/>
                  <a:cs typeface="+mn-cs"/>
                </a:defRPr>
              </a:pPr>
              <a:endParaRPr lang="en-US"/>
            </a:p>
          </c:txPr>
          <c:showLegendKey val="1"/>
          <c:showVal val="1"/>
          <c:showCatName val="1"/>
          <c:showSerName val="1"/>
          <c:showPercent val="1"/>
          <c:showBubbleSize val="1"/>
          <c:extLst>
            <c:ext xmlns:c15="http://schemas.microsoft.com/office/drawing/2012/chart" uri="{CE6537A1-D6FC-4f65-9D91-7224C49458BB}"/>
          </c:extLst>
        </c:dLbl>
      </c:pivotFmt>
      <c:pivotFmt>
        <c:idx val="2"/>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marker>
          <c:symbol val="none"/>
        </c:marker>
        <c:dLbl>
          <c:idx val="0"/>
          <c:spPr>
            <a:noFill/>
            <a:ln>
              <a:noFill/>
            </a:ln>
            <a:effectLst/>
          </c:spPr>
          <c:txPr>
            <a:bodyPr rot="0" spcFirstLastPara="1" vertOverflow="ellipsis" vert="horz" wrap="square" anchor="ctr" anchorCtr="1"/>
            <a:lstStyle/>
            <a:p>
              <a:pPr>
                <a:defRPr lang="en-US" sz="800" b="0" i="0" u="none" strike="noStrike" kern="1200" baseline="0">
                  <a:solidFill>
                    <a:sysClr val="windowText" lastClr="000000"/>
                  </a:solidFill>
                  <a:latin typeface="+mn-lt"/>
                  <a:ea typeface="+mn-ea"/>
                  <a:cs typeface="+mn-cs"/>
                </a:defRPr>
              </a:pPr>
              <a:endParaRPr lang="en-US"/>
            </a:p>
          </c:txPr>
          <c:showLegendKey val="0"/>
          <c:showVal val="0"/>
          <c:showCatName val="1"/>
          <c:showSerName val="0"/>
          <c:showPercent val="1"/>
          <c:showBubbleSize val="0"/>
          <c:extLst>
            <c:ext xmlns:c15="http://schemas.microsoft.com/office/drawing/2012/chart" uri="{CE6537A1-D6FC-4f65-9D91-7224C49458BB}"/>
          </c:extLst>
        </c:dLbl>
      </c:pivotFmt>
      <c:pivotFmt>
        <c:idx val="3"/>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marker>
          <c:symbol val="none"/>
        </c:marker>
        <c:dLbl>
          <c:idx val="0"/>
          <c:spPr>
            <a:noFill/>
            <a:ln>
              <a:noFill/>
            </a:ln>
            <a:effectLst/>
          </c:spPr>
          <c:txPr>
            <a:bodyPr rot="0" spcFirstLastPara="1" vertOverflow="ellipsis" vert="horz" wrap="square" anchor="ctr" anchorCtr="1"/>
            <a:lstStyle/>
            <a:p>
              <a:pPr>
                <a:defRPr lang="en-US" sz="800" b="1" i="0" u="none" strike="noStrike" kern="1200" baseline="0">
                  <a:solidFill>
                    <a:srgbClr val="0E2841"/>
                  </a:solidFill>
                  <a:latin typeface="+mn-lt"/>
                  <a:ea typeface="+mn-ea"/>
                  <a:cs typeface="+mn-cs"/>
                </a:defRPr>
              </a:pPr>
              <a:endParaRPr lang="en-US"/>
            </a:p>
          </c:txPr>
          <c:showLegendKey val="0"/>
          <c:showVal val="0"/>
          <c:showCatName val="1"/>
          <c:showSerName val="0"/>
          <c:showPercent val="1"/>
          <c:showBubbleSize val="0"/>
          <c:extLst>
            <c:ext xmlns:c15="http://schemas.microsoft.com/office/drawing/2012/chart" uri="{CE6537A1-D6FC-4f65-9D91-7224C49458BB}"/>
          </c:extLst>
        </c:dLbl>
      </c:pivotFmt>
      <c:pivotFmt>
        <c:idx val="4"/>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marker>
          <c:symbol val="none"/>
        </c:marker>
        <c:dLbl>
          <c:idx val="0"/>
          <c:spPr>
            <a:noFill/>
            <a:ln>
              <a:noFill/>
            </a:ln>
            <a:effectLst/>
          </c:spPr>
          <c:txPr>
            <a:bodyPr rot="0" spcFirstLastPara="1" vertOverflow="ellipsis" vert="horz" wrap="square" anchor="ctr" anchorCtr="1"/>
            <a:lstStyle/>
            <a:p>
              <a:pPr>
                <a:defRPr lang="en-US" sz="800" b="0" i="0" u="none" strike="noStrike" kern="1200" baseline="0">
                  <a:solidFill>
                    <a:sysClr val="windowText" lastClr="000000"/>
                  </a:solidFill>
                  <a:latin typeface="+mn-lt"/>
                  <a:ea typeface="+mn-ea"/>
                  <a:cs typeface="+mn-cs"/>
                </a:defRPr>
              </a:pPr>
              <a:endParaRPr lang="en-US"/>
            </a:p>
          </c:txPr>
          <c:showLegendKey val="0"/>
          <c:showVal val="0"/>
          <c:showCatName val="1"/>
          <c:showSerName val="0"/>
          <c:showPercent val="1"/>
          <c:showBubbleSize val="0"/>
          <c:extLst>
            <c:ext xmlns:c15="http://schemas.microsoft.com/office/drawing/2012/chart" uri="{CE6537A1-D6FC-4f65-9D91-7224C49458BB}"/>
          </c:extLst>
        </c:dLbl>
      </c:pivotFmt>
      <c:pivotFmt>
        <c:idx val="5"/>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pivotFmt>
      <c:pivotFmt>
        <c:idx val="6"/>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pivotFmt>
      <c:pivotFmt>
        <c:idx val="7"/>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pivotFmt>
      <c:pivotFmt>
        <c:idx val="8"/>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pivotFmt>
      <c:pivotFmt>
        <c:idx val="9"/>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pivotFmt>
      <c:pivotFmt>
        <c:idx val="1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pivotFmt>
      <c:pivotFmt>
        <c:idx val="11"/>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pivotFmt>
      <c:pivotFmt>
        <c:idx val="12"/>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pivotFmt>
      <c:pivotFmt>
        <c:idx val="13"/>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pivotFmt>
      <c:pivotFmt>
        <c:idx val="14"/>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pivotFmt>
      <c:pivotFmt>
        <c:idx val="15"/>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marker>
          <c:symbol val="none"/>
        </c:marker>
        <c:dLbl>
          <c:idx val="0"/>
          <c:spPr>
            <a:noFill/>
            <a:ln>
              <a:noFill/>
            </a:ln>
            <a:effectLst/>
          </c:spPr>
          <c:txPr>
            <a:bodyPr rot="0" spcFirstLastPara="1" vertOverflow="ellipsis" vert="horz" wrap="square" anchor="ctr" anchorCtr="1"/>
            <a:lstStyle/>
            <a:p>
              <a:pPr>
                <a:defRPr lang="en-US" sz="800" b="1" i="0" u="none" strike="noStrike" kern="1200" baseline="0">
                  <a:solidFill>
                    <a:srgbClr val="0E2841"/>
                  </a:solidFill>
                  <a:latin typeface="+mn-lt"/>
                  <a:ea typeface="+mn-ea"/>
                  <a:cs typeface="+mn-cs"/>
                </a:defRPr>
              </a:pPr>
              <a:endParaRPr lang="en-US"/>
            </a:p>
          </c:txPr>
          <c:showLegendKey val="0"/>
          <c:showVal val="0"/>
          <c:showCatName val="1"/>
          <c:showSerName val="0"/>
          <c:showPercent val="1"/>
          <c:showBubbleSize val="0"/>
          <c:extLst>
            <c:ext xmlns:c15="http://schemas.microsoft.com/office/drawing/2012/chart" uri="{CE6537A1-D6FC-4f65-9D91-7224C49458BB}"/>
          </c:extLst>
        </c:dLbl>
      </c:pivotFmt>
      <c:pivotFmt>
        <c:idx val="16"/>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pivotFmt>
      <c:pivotFmt>
        <c:idx val="17"/>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pivotFmt>
      <c:pivotFmt>
        <c:idx val="18"/>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pivotFmt>
      <c:pivotFmt>
        <c:idx val="19"/>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pivotFmt>
      <c:pivotFmt>
        <c:idx val="2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pivotFmt>
      <c:pivotFmt>
        <c:idx val="21"/>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pivotFmt>
      <c:pivotFmt>
        <c:idx val="22"/>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pivotFmt>
      <c:pivotFmt>
        <c:idx val="23"/>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pivotFmt>
      <c:pivotFmt>
        <c:idx val="24"/>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pivotFmt>
      <c:pivotFmt>
        <c:idx val="25"/>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pivotFmt>
      <c:pivotFmt>
        <c:idx val="26"/>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pivotFmt>
      <c:pivotFmt>
        <c:idx val="27"/>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pivotFmt>
      <c:pivotFmt>
        <c:idx val="28"/>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pivotFmt>
      <c:pivotFmt>
        <c:idx val="29"/>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pivotFmt>
      <c:pivotFmt>
        <c:idx val="3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pivotFmt>
      <c:pivotFmt>
        <c:idx val="31"/>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pivotFmt>
      <c:pivotFmt>
        <c:idx val="32"/>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pivotFmt>
      <c:pivotFmt>
        <c:idx val="33"/>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pivotFmt>
      <c:pivotFmt>
        <c:idx val="34"/>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pivotFmt>
      <c:pivotFmt>
        <c:idx val="35"/>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pivotFmt>
      <c:pivotFmt>
        <c:idx val="36"/>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pivotFmt>
      <c:pivotFmt>
        <c:idx val="37"/>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pivotFmt>
      <c:pivotFmt>
        <c:idx val="38"/>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pivotFmt>
      <c:pivotFmt>
        <c:idx val="39"/>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pivotFmt>
      <c:pivotFmt>
        <c:idx val="4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pivotFmt>
      <c:pivotFmt>
        <c:idx val="41"/>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pivotFmt>
      <c:pivotFmt>
        <c:idx val="42"/>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pivotFmt>
      <c:pivotFmt>
        <c:idx val="43"/>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pivotFmt>
      <c:pivotFmt>
        <c:idx val="44"/>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pivotFmt>
      <c:pivotFmt>
        <c:idx val="45"/>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pivotFmt>
      <c:pivotFmt>
        <c:idx val="46"/>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marker>
          <c:symbol val="none"/>
        </c:marker>
        <c:dLbl>
          <c:idx val="0"/>
          <c:spPr>
            <a:noFill/>
            <a:ln>
              <a:noFill/>
            </a:ln>
            <a:effectLst/>
          </c:spPr>
          <c:txPr>
            <a:bodyPr rot="0" spcFirstLastPara="1" vertOverflow="ellipsis" vert="horz" wrap="square" anchor="ctr" anchorCtr="1"/>
            <a:lstStyle/>
            <a:p>
              <a:pPr>
                <a:defRPr lang="en-US" sz="800" b="0" i="0" u="none" strike="noStrike" kern="1200" baseline="0">
                  <a:solidFill>
                    <a:sysClr val="windowText" lastClr="000000"/>
                  </a:solidFill>
                  <a:latin typeface="+mn-lt"/>
                  <a:ea typeface="+mn-ea"/>
                  <a:cs typeface="+mn-cs"/>
                </a:defRPr>
              </a:pPr>
              <a:endParaRPr lang="en-US"/>
            </a:p>
          </c:txPr>
          <c:showLegendKey val="0"/>
          <c:showVal val="0"/>
          <c:showCatName val="1"/>
          <c:showSerName val="0"/>
          <c:showPercent val="1"/>
          <c:showBubbleSize val="0"/>
          <c:extLst>
            <c:ext xmlns:c15="http://schemas.microsoft.com/office/drawing/2012/chart" uri="{CE6537A1-D6FC-4f65-9D91-7224C49458BB}"/>
          </c:extLst>
        </c:dLbl>
      </c:pivotFmt>
      <c:pivotFmt>
        <c:idx val="47"/>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pivotFmt>
      <c:pivotFmt>
        <c:idx val="48"/>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pivotFmt>
      <c:pivotFmt>
        <c:idx val="49"/>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pivotFmt>
      <c:pivotFmt>
        <c:idx val="5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pivotFmt>
      <c:pivotFmt>
        <c:idx val="51"/>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pivotFmt>
      <c:pivotFmt>
        <c:idx val="52"/>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pivotFmt>
      <c:pivotFmt>
        <c:idx val="53"/>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pivotFmt>
      <c:pivotFmt>
        <c:idx val="54"/>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pivotFmt>
      <c:pivotFmt>
        <c:idx val="55"/>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pivotFmt>
      <c:pivotFmt>
        <c:idx val="56"/>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pivotFmt>
      <c:pivotFmt>
        <c:idx val="57"/>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marker>
          <c:symbol val="none"/>
        </c:marker>
        <c:dLbl>
          <c:idx val="0"/>
          <c:spPr>
            <a:noFill/>
            <a:ln>
              <a:noFill/>
            </a:ln>
            <a:effectLst/>
          </c:spPr>
          <c:txPr>
            <a:bodyPr rot="0" spcFirstLastPara="1" vertOverflow="ellipsis" vert="horz" wrap="square" anchor="ctr" anchorCtr="1"/>
            <a:lstStyle/>
            <a:p>
              <a:pPr>
                <a:defRPr lang="en-US" sz="800" b="1" i="0" u="none" strike="noStrike" kern="1200" baseline="0">
                  <a:solidFill>
                    <a:srgbClr val="0E2841"/>
                  </a:solidFill>
                  <a:latin typeface="+mn-lt"/>
                  <a:ea typeface="+mn-ea"/>
                  <a:cs typeface="+mn-cs"/>
                </a:defRPr>
              </a:pPr>
              <a:endParaRPr lang="en-US"/>
            </a:p>
          </c:txPr>
          <c:showLegendKey val="0"/>
          <c:showVal val="0"/>
          <c:showCatName val="1"/>
          <c:showSerName val="0"/>
          <c:showPercent val="1"/>
          <c:showBubbleSize val="0"/>
          <c:extLst>
            <c:ext xmlns:c15="http://schemas.microsoft.com/office/drawing/2012/chart" uri="{CE6537A1-D6FC-4f65-9D91-7224C49458BB}"/>
          </c:extLst>
        </c:dLbl>
      </c:pivotFmt>
      <c:pivotFmt>
        <c:idx val="58"/>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pivotFmt>
      <c:pivotFmt>
        <c:idx val="59"/>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pivotFmt>
      <c:pivotFmt>
        <c:idx val="6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pivotFmt>
      <c:pivotFmt>
        <c:idx val="61"/>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pivotFmt>
      <c:pivotFmt>
        <c:idx val="62"/>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pivotFmt>
      <c:pivotFmt>
        <c:idx val="63"/>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pivotFmt>
      <c:pivotFmt>
        <c:idx val="64"/>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pivotFmt>
      <c:pivotFmt>
        <c:idx val="65"/>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pivotFmt>
      <c:pivotFmt>
        <c:idx val="66"/>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pivotFmt>
      <c:pivotFmt>
        <c:idx val="67"/>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pivotFmt>
      <c:pivotFmt>
        <c:idx val="68"/>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marker>
          <c:symbol val="none"/>
        </c:marker>
        <c:dLbl>
          <c:idx val="0"/>
          <c:spPr>
            <a:noFill/>
            <a:ln>
              <a:noFill/>
            </a:ln>
            <a:effectLst/>
          </c:spPr>
          <c:txPr>
            <a:bodyPr rot="0" spcFirstLastPara="1" vertOverflow="ellipsis" vert="horz" wrap="square" anchor="ctr" anchorCtr="1"/>
            <a:lstStyle/>
            <a:p>
              <a:pPr>
                <a:defRPr lang="en-US" sz="800" b="0" i="0" u="none" strike="noStrike" kern="1200" baseline="0">
                  <a:solidFill>
                    <a:sysClr val="windowText" lastClr="000000"/>
                  </a:solidFill>
                  <a:latin typeface="+mn-lt"/>
                  <a:ea typeface="+mn-ea"/>
                  <a:cs typeface="+mn-cs"/>
                </a:defRPr>
              </a:pPr>
              <a:endParaRPr lang="en-US"/>
            </a:p>
          </c:txPr>
          <c:showLegendKey val="0"/>
          <c:showVal val="0"/>
          <c:showCatName val="1"/>
          <c:showSerName val="0"/>
          <c:showPercent val="1"/>
          <c:showBubbleSize val="0"/>
          <c:extLst>
            <c:ext xmlns:c15="http://schemas.microsoft.com/office/drawing/2012/chart" uri="{CE6537A1-D6FC-4f65-9D91-7224C49458BB}"/>
          </c:extLst>
        </c:dLbl>
      </c:pivotFmt>
      <c:pivotFmt>
        <c:idx val="69"/>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pivotFmt>
      <c:pivotFmt>
        <c:idx val="7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pivotFmt>
      <c:pivotFmt>
        <c:idx val="71"/>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pivotFmt>
      <c:pivotFmt>
        <c:idx val="72"/>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pivotFmt>
      <c:pivotFmt>
        <c:idx val="73"/>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pivotFmt>
      <c:pivotFmt>
        <c:idx val="74"/>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pivotFmt>
      <c:pivotFmt>
        <c:idx val="75"/>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pivotFmt>
      <c:pivotFmt>
        <c:idx val="76"/>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pivotFmt>
      <c:pivotFmt>
        <c:idx val="77"/>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pivotFmt>
      <c:pivotFmt>
        <c:idx val="78"/>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pivotFmt>
      <c:pivotFmt>
        <c:idx val="79"/>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marker>
          <c:symbol val="none"/>
        </c:marker>
        <c:dLbl>
          <c:idx val="0"/>
          <c:spPr>
            <a:noFill/>
            <a:ln>
              <a:noFill/>
            </a:ln>
            <a:effectLst/>
          </c:spPr>
          <c:txPr>
            <a:bodyPr rot="0" spcFirstLastPara="1" vertOverflow="ellipsis" vert="horz" wrap="square" anchor="ctr" anchorCtr="1"/>
            <a:lstStyle/>
            <a:p>
              <a:pPr>
                <a:defRPr lang="en-US" sz="800" b="1" i="0" u="none" strike="noStrike" kern="1200" baseline="0">
                  <a:solidFill>
                    <a:srgbClr val="0E2841"/>
                  </a:solidFill>
                  <a:latin typeface="+mn-lt"/>
                  <a:ea typeface="+mn-ea"/>
                  <a:cs typeface="+mn-cs"/>
                </a:defRPr>
              </a:pPr>
              <a:endParaRPr lang="en-US"/>
            </a:p>
          </c:txPr>
          <c:showLegendKey val="0"/>
          <c:showVal val="0"/>
          <c:showCatName val="1"/>
          <c:showSerName val="0"/>
          <c:showPercent val="1"/>
          <c:showBubbleSize val="0"/>
          <c:extLst>
            <c:ext xmlns:c15="http://schemas.microsoft.com/office/drawing/2012/chart" uri="{CE6537A1-D6FC-4f65-9D91-7224C49458BB}"/>
          </c:extLst>
        </c:dLbl>
      </c:pivotFmt>
      <c:pivotFmt>
        <c:idx val="8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pivotFmt>
      <c:pivotFmt>
        <c:idx val="81"/>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pivotFmt>
      <c:pivotFmt>
        <c:idx val="82"/>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pivotFmt>
      <c:pivotFmt>
        <c:idx val="83"/>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pivotFmt>
      <c:pivotFmt>
        <c:idx val="84"/>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pivotFmt>
      <c:pivotFmt>
        <c:idx val="85"/>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pivotFmt>
      <c:pivotFmt>
        <c:idx val="86"/>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pivotFmt>
      <c:pivotFmt>
        <c:idx val="87"/>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pivotFmt>
      <c:pivotFmt>
        <c:idx val="88"/>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pivotFmt>
      <c:pivotFmt>
        <c:idx val="89"/>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pivotFmt>
    </c:pivotFmts>
    <c:plotArea>
      <c:layout/>
      <c:pieChart>
        <c:varyColors val="1"/>
        <c:ser>
          <c:idx val="0"/>
          <c:order val="0"/>
          <c:tx>
            <c:strRef>
              <c:f>'REVENUE BY CAR MODEL'!$B$1:$B$2</c:f>
              <c:strCache>
                <c:ptCount val="1"/>
                <c:pt idx="0">
                  <c:v>automatic</c:v>
                </c:pt>
              </c:strCache>
            </c:strRef>
          </c:tx>
          <c:dPt>
            <c:idx val="0"/>
            <c:bubble3D val="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extLst>
              <c:ext xmlns:c16="http://schemas.microsoft.com/office/drawing/2014/chart" uri="{C3380CC4-5D6E-409C-BE32-E72D297353CC}">
                <c16:uniqueId val="{00000001-F38F-42B9-9C91-813FC9AFC8B8}"/>
              </c:ext>
            </c:extLst>
          </c:dPt>
          <c:dPt>
            <c:idx val="1"/>
            <c:bubble3D val="0"/>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c:spPr>
            <c:extLst>
              <c:ext xmlns:c16="http://schemas.microsoft.com/office/drawing/2014/chart" uri="{C3380CC4-5D6E-409C-BE32-E72D297353CC}">
                <c16:uniqueId val="{00000003-F38F-42B9-9C91-813FC9AFC8B8}"/>
              </c:ext>
            </c:extLst>
          </c:dPt>
          <c:dPt>
            <c:idx val="2"/>
            <c:bubble3D val="0"/>
            <c:spPr>
              <a:gradFill rotWithShape="1">
                <a:gsLst>
                  <a:gs pos="0">
                    <a:schemeClr val="accent3">
                      <a:satMod val="103000"/>
                      <a:lumMod val="102000"/>
                      <a:tint val="94000"/>
                    </a:schemeClr>
                  </a:gs>
                  <a:gs pos="50000">
                    <a:schemeClr val="accent3">
                      <a:satMod val="110000"/>
                      <a:lumMod val="100000"/>
                      <a:shade val="100000"/>
                    </a:schemeClr>
                  </a:gs>
                  <a:gs pos="100000">
                    <a:schemeClr val="accent3">
                      <a:lumMod val="99000"/>
                      <a:satMod val="120000"/>
                      <a:shade val="78000"/>
                    </a:schemeClr>
                  </a:gs>
                </a:gsLst>
                <a:lin ang="5400000" scaled="0"/>
              </a:gradFill>
              <a:ln>
                <a:noFill/>
              </a:ln>
              <a:effectLst/>
            </c:spPr>
            <c:extLst>
              <c:ext xmlns:c16="http://schemas.microsoft.com/office/drawing/2014/chart" uri="{C3380CC4-5D6E-409C-BE32-E72D297353CC}">
                <c16:uniqueId val="{00000005-F38F-42B9-9C91-813FC9AFC8B8}"/>
              </c:ext>
            </c:extLst>
          </c:dPt>
          <c:dPt>
            <c:idx val="3"/>
            <c:bubble3D val="0"/>
            <c:spPr>
              <a:gradFill rotWithShape="1">
                <a:gsLst>
                  <a:gs pos="0">
                    <a:schemeClr val="accent4">
                      <a:satMod val="103000"/>
                      <a:lumMod val="102000"/>
                      <a:tint val="94000"/>
                    </a:schemeClr>
                  </a:gs>
                  <a:gs pos="50000">
                    <a:schemeClr val="accent4">
                      <a:satMod val="110000"/>
                      <a:lumMod val="100000"/>
                      <a:shade val="100000"/>
                    </a:schemeClr>
                  </a:gs>
                  <a:gs pos="100000">
                    <a:schemeClr val="accent4">
                      <a:lumMod val="99000"/>
                      <a:satMod val="120000"/>
                      <a:shade val="78000"/>
                    </a:schemeClr>
                  </a:gs>
                </a:gsLst>
                <a:lin ang="5400000" scaled="0"/>
              </a:gradFill>
              <a:ln>
                <a:noFill/>
              </a:ln>
              <a:effectLst/>
            </c:spPr>
            <c:extLst>
              <c:ext xmlns:c16="http://schemas.microsoft.com/office/drawing/2014/chart" uri="{C3380CC4-5D6E-409C-BE32-E72D297353CC}">
                <c16:uniqueId val="{00000007-F38F-42B9-9C91-813FC9AFC8B8}"/>
              </c:ext>
            </c:extLst>
          </c:dPt>
          <c:dPt>
            <c:idx val="4"/>
            <c:bubble3D val="0"/>
            <c:spPr>
              <a:gradFill rotWithShape="1">
                <a:gsLst>
                  <a:gs pos="0">
                    <a:schemeClr val="accent5">
                      <a:satMod val="103000"/>
                      <a:lumMod val="102000"/>
                      <a:tint val="94000"/>
                    </a:schemeClr>
                  </a:gs>
                  <a:gs pos="50000">
                    <a:schemeClr val="accent5">
                      <a:satMod val="110000"/>
                      <a:lumMod val="100000"/>
                      <a:shade val="100000"/>
                    </a:schemeClr>
                  </a:gs>
                  <a:gs pos="100000">
                    <a:schemeClr val="accent5">
                      <a:lumMod val="99000"/>
                      <a:satMod val="120000"/>
                      <a:shade val="78000"/>
                    </a:schemeClr>
                  </a:gs>
                </a:gsLst>
                <a:lin ang="5400000" scaled="0"/>
              </a:gradFill>
              <a:ln>
                <a:noFill/>
              </a:ln>
              <a:effectLst/>
            </c:spPr>
            <c:extLst>
              <c:ext xmlns:c16="http://schemas.microsoft.com/office/drawing/2014/chart" uri="{C3380CC4-5D6E-409C-BE32-E72D297353CC}">
                <c16:uniqueId val="{00000009-F38F-42B9-9C91-813FC9AFC8B8}"/>
              </c:ext>
            </c:extLst>
          </c:dPt>
          <c:dPt>
            <c:idx val="5"/>
            <c:bubble3D val="0"/>
            <c:spPr>
              <a:gradFill rotWithShape="1">
                <a:gsLst>
                  <a:gs pos="0">
                    <a:schemeClr val="accent6">
                      <a:satMod val="103000"/>
                      <a:lumMod val="102000"/>
                      <a:tint val="94000"/>
                    </a:schemeClr>
                  </a:gs>
                  <a:gs pos="50000">
                    <a:schemeClr val="accent6">
                      <a:satMod val="110000"/>
                      <a:lumMod val="100000"/>
                      <a:shade val="100000"/>
                    </a:schemeClr>
                  </a:gs>
                  <a:gs pos="100000">
                    <a:schemeClr val="accent6">
                      <a:lumMod val="99000"/>
                      <a:satMod val="120000"/>
                      <a:shade val="78000"/>
                    </a:schemeClr>
                  </a:gs>
                </a:gsLst>
                <a:lin ang="5400000" scaled="0"/>
              </a:gradFill>
              <a:ln>
                <a:noFill/>
              </a:ln>
              <a:effectLst/>
            </c:spPr>
            <c:extLst>
              <c:ext xmlns:c16="http://schemas.microsoft.com/office/drawing/2014/chart" uri="{C3380CC4-5D6E-409C-BE32-E72D297353CC}">
                <c16:uniqueId val="{0000000B-F38F-42B9-9C91-813FC9AFC8B8}"/>
              </c:ext>
            </c:extLst>
          </c:dPt>
          <c:dPt>
            <c:idx val="6"/>
            <c:bubble3D val="0"/>
            <c:spPr>
              <a:gradFill rotWithShape="1">
                <a:gsLst>
                  <a:gs pos="0">
                    <a:schemeClr val="accent1">
                      <a:lumMod val="60000"/>
                      <a:satMod val="103000"/>
                      <a:lumMod val="102000"/>
                      <a:tint val="94000"/>
                    </a:schemeClr>
                  </a:gs>
                  <a:gs pos="50000">
                    <a:schemeClr val="accent1">
                      <a:lumMod val="60000"/>
                      <a:satMod val="110000"/>
                      <a:lumMod val="100000"/>
                      <a:shade val="100000"/>
                    </a:schemeClr>
                  </a:gs>
                  <a:gs pos="100000">
                    <a:schemeClr val="accent1">
                      <a:lumMod val="60000"/>
                      <a:lumMod val="99000"/>
                      <a:satMod val="120000"/>
                      <a:shade val="78000"/>
                    </a:schemeClr>
                  </a:gs>
                </a:gsLst>
                <a:lin ang="5400000" scaled="0"/>
              </a:gradFill>
              <a:ln>
                <a:noFill/>
              </a:ln>
              <a:effectLst/>
            </c:spPr>
            <c:extLst>
              <c:ext xmlns:c16="http://schemas.microsoft.com/office/drawing/2014/chart" uri="{C3380CC4-5D6E-409C-BE32-E72D297353CC}">
                <c16:uniqueId val="{0000000D-F38F-42B9-9C91-813FC9AFC8B8}"/>
              </c:ext>
            </c:extLst>
          </c:dPt>
          <c:dPt>
            <c:idx val="7"/>
            <c:bubble3D val="0"/>
            <c:spPr>
              <a:gradFill rotWithShape="1">
                <a:gsLst>
                  <a:gs pos="0">
                    <a:schemeClr val="accent2">
                      <a:lumMod val="60000"/>
                      <a:satMod val="103000"/>
                      <a:lumMod val="102000"/>
                      <a:tint val="94000"/>
                    </a:schemeClr>
                  </a:gs>
                  <a:gs pos="50000">
                    <a:schemeClr val="accent2">
                      <a:lumMod val="60000"/>
                      <a:satMod val="110000"/>
                      <a:lumMod val="100000"/>
                      <a:shade val="100000"/>
                    </a:schemeClr>
                  </a:gs>
                  <a:gs pos="100000">
                    <a:schemeClr val="accent2">
                      <a:lumMod val="60000"/>
                      <a:lumMod val="99000"/>
                      <a:satMod val="120000"/>
                      <a:shade val="78000"/>
                    </a:schemeClr>
                  </a:gs>
                </a:gsLst>
                <a:lin ang="5400000" scaled="0"/>
              </a:gradFill>
              <a:ln>
                <a:noFill/>
              </a:ln>
              <a:effectLst/>
            </c:spPr>
            <c:extLst>
              <c:ext xmlns:c16="http://schemas.microsoft.com/office/drawing/2014/chart" uri="{C3380CC4-5D6E-409C-BE32-E72D297353CC}">
                <c16:uniqueId val="{0000000F-F38F-42B9-9C91-813FC9AFC8B8}"/>
              </c:ext>
            </c:extLst>
          </c:dPt>
          <c:dPt>
            <c:idx val="8"/>
            <c:bubble3D val="0"/>
            <c:spPr>
              <a:gradFill rotWithShape="1">
                <a:gsLst>
                  <a:gs pos="0">
                    <a:schemeClr val="accent3">
                      <a:lumMod val="60000"/>
                      <a:satMod val="103000"/>
                      <a:lumMod val="102000"/>
                      <a:tint val="94000"/>
                    </a:schemeClr>
                  </a:gs>
                  <a:gs pos="50000">
                    <a:schemeClr val="accent3">
                      <a:lumMod val="60000"/>
                      <a:satMod val="110000"/>
                      <a:lumMod val="100000"/>
                      <a:shade val="100000"/>
                    </a:schemeClr>
                  </a:gs>
                  <a:gs pos="100000">
                    <a:schemeClr val="accent3">
                      <a:lumMod val="60000"/>
                      <a:lumMod val="99000"/>
                      <a:satMod val="120000"/>
                      <a:shade val="78000"/>
                    </a:schemeClr>
                  </a:gs>
                </a:gsLst>
                <a:lin ang="5400000" scaled="0"/>
              </a:gradFill>
              <a:ln>
                <a:noFill/>
              </a:ln>
              <a:effectLst/>
            </c:spPr>
            <c:extLst>
              <c:ext xmlns:c16="http://schemas.microsoft.com/office/drawing/2014/chart" uri="{C3380CC4-5D6E-409C-BE32-E72D297353CC}">
                <c16:uniqueId val="{00000011-F38F-42B9-9C91-813FC9AFC8B8}"/>
              </c:ext>
            </c:extLst>
          </c:dPt>
          <c:dPt>
            <c:idx val="9"/>
            <c:bubble3D val="0"/>
            <c:spPr>
              <a:gradFill rotWithShape="1">
                <a:gsLst>
                  <a:gs pos="0">
                    <a:schemeClr val="accent4">
                      <a:lumMod val="60000"/>
                      <a:satMod val="103000"/>
                      <a:lumMod val="102000"/>
                      <a:tint val="94000"/>
                    </a:schemeClr>
                  </a:gs>
                  <a:gs pos="50000">
                    <a:schemeClr val="accent4">
                      <a:lumMod val="60000"/>
                      <a:satMod val="110000"/>
                      <a:lumMod val="100000"/>
                      <a:shade val="100000"/>
                    </a:schemeClr>
                  </a:gs>
                  <a:gs pos="100000">
                    <a:schemeClr val="accent4">
                      <a:lumMod val="60000"/>
                      <a:lumMod val="99000"/>
                      <a:satMod val="120000"/>
                      <a:shade val="78000"/>
                    </a:schemeClr>
                  </a:gs>
                </a:gsLst>
                <a:lin ang="5400000" scaled="0"/>
              </a:gradFill>
              <a:ln>
                <a:noFill/>
              </a:ln>
              <a:effectLst/>
            </c:spPr>
            <c:extLst>
              <c:ext xmlns:c16="http://schemas.microsoft.com/office/drawing/2014/chart" uri="{C3380CC4-5D6E-409C-BE32-E72D297353CC}">
                <c16:uniqueId val="{00000013-F38F-42B9-9C91-813FC9AFC8B8}"/>
              </c:ext>
            </c:extLst>
          </c:dPt>
          <c:dLbls>
            <c:spPr>
              <a:noFill/>
              <a:ln>
                <a:noFill/>
              </a:ln>
              <a:effectLst/>
            </c:spPr>
            <c:txPr>
              <a:bodyPr rot="0" spcFirstLastPara="1" vertOverflow="ellipsis" vert="horz" wrap="square" anchor="ctr" anchorCtr="1"/>
              <a:lstStyle/>
              <a:p>
                <a:pPr>
                  <a:defRPr lang="en-US" sz="1200" b="0" i="0" u="none" strike="noStrike" kern="1200" baseline="0">
                    <a:solidFill>
                      <a:sysClr val="windowText" lastClr="000000"/>
                    </a:solidFill>
                    <a:latin typeface="+mn-lt"/>
                    <a:ea typeface="+mn-ea"/>
                    <a:cs typeface="+mn-cs"/>
                  </a:defRPr>
                </a:pPr>
                <a:endParaRPr lang="en-US"/>
              </a:p>
            </c:txPr>
            <c:showLegendKey val="0"/>
            <c:showVal val="0"/>
            <c:showCatName val="1"/>
            <c:showSerName val="0"/>
            <c:showPercent val="1"/>
            <c:showBubbleSize val="0"/>
            <c:showLeaderLines val="1"/>
            <c:leaderLines>
              <c:spPr>
                <a:ln w="9525">
                  <a:solidFill>
                    <a:schemeClr val="tx2">
                      <a:lumMod val="35000"/>
                      <a:lumOff val="65000"/>
                    </a:schemeClr>
                  </a:solidFill>
                </a:ln>
                <a:effectLst/>
              </c:spPr>
            </c:leaderLines>
            <c:extLst>
              <c:ext xmlns:c15="http://schemas.microsoft.com/office/drawing/2012/chart" uri="{CE6537A1-D6FC-4f65-9D91-7224C49458BB}"/>
            </c:extLst>
          </c:dLbls>
          <c:cat>
            <c:strRef>
              <c:f>'REVENUE BY CAR MODEL'!$A$3:$A$13</c:f>
              <c:strCache>
                <c:ptCount val="10"/>
                <c:pt idx="0">
                  <c:v>5 Series</c:v>
                </c:pt>
                <c:pt idx="1">
                  <c:v>Acadia</c:v>
                </c:pt>
                <c:pt idx="2">
                  <c:v>Cayenne</c:v>
                </c:pt>
                <c:pt idx="3">
                  <c:v>Equinox</c:v>
                </c:pt>
                <c:pt idx="4">
                  <c:v>Escalade</c:v>
                </c:pt>
                <c:pt idx="5">
                  <c:v>E-Series Wagon</c:v>
                </c:pt>
                <c:pt idx="6">
                  <c:v>Frontier</c:v>
                </c:pt>
                <c:pt idx="7">
                  <c:v>Santa Fe</c:v>
                </c:pt>
                <c:pt idx="8">
                  <c:v>Silverado 1500</c:v>
                </c:pt>
                <c:pt idx="9">
                  <c:v>Tahoe</c:v>
                </c:pt>
              </c:strCache>
            </c:strRef>
          </c:cat>
          <c:val>
            <c:numRef>
              <c:f>'REVENUE BY CAR MODEL'!$B$3:$B$13</c:f>
              <c:numCache>
                <c:formatCode>General</c:formatCode>
                <c:ptCount val="10"/>
                <c:pt idx="0">
                  <c:v>5050</c:v>
                </c:pt>
                <c:pt idx="1">
                  <c:v>4625</c:v>
                </c:pt>
                <c:pt idx="3">
                  <c:v>6650</c:v>
                </c:pt>
                <c:pt idx="4">
                  <c:v>3750</c:v>
                </c:pt>
                <c:pt idx="5">
                  <c:v>3700</c:v>
                </c:pt>
                <c:pt idx="6">
                  <c:v>4250</c:v>
                </c:pt>
                <c:pt idx="7">
                  <c:v>7475</c:v>
                </c:pt>
                <c:pt idx="8">
                  <c:v>7250</c:v>
                </c:pt>
                <c:pt idx="9">
                  <c:v>3725</c:v>
                </c:pt>
              </c:numCache>
            </c:numRef>
          </c:val>
          <c:extLst>
            <c:ext xmlns:c16="http://schemas.microsoft.com/office/drawing/2014/chart" uri="{C3380CC4-5D6E-409C-BE32-E72D297353CC}">
              <c16:uniqueId val="{00000014-F38F-42B9-9C91-813FC9AFC8B8}"/>
            </c:ext>
          </c:extLst>
        </c:ser>
        <c:ser>
          <c:idx val="1"/>
          <c:order val="1"/>
          <c:tx>
            <c:strRef>
              <c:f>'REVENUE BY CAR MODEL'!$C$1:$C$2</c:f>
              <c:strCache>
                <c:ptCount val="1"/>
                <c:pt idx="0">
                  <c:v>manual</c:v>
                </c:pt>
              </c:strCache>
            </c:strRef>
          </c:tx>
          <c:dPt>
            <c:idx val="0"/>
            <c:bubble3D val="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extLst>
              <c:ext xmlns:c16="http://schemas.microsoft.com/office/drawing/2014/chart" uri="{C3380CC4-5D6E-409C-BE32-E72D297353CC}">
                <c16:uniqueId val="{00000016-F38F-42B9-9C91-813FC9AFC8B8}"/>
              </c:ext>
            </c:extLst>
          </c:dPt>
          <c:dPt>
            <c:idx val="1"/>
            <c:bubble3D val="0"/>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c:spPr>
            <c:extLst>
              <c:ext xmlns:c16="http://schemas.microsoft.com/office/drawing/2014/chart" uri="{C3380CC4-5D6E-409C-BE32-E72D297353CC}">
                <c16:uniqueId val="{00000018-F38F-42B9-9C91-813FC9AFC8B8}"/>
              </c:ext>
            </c:extLst>
          </c:dPt>
          <c:dPt>
            <c:idx val="2"/>
            <c:bubble3D val="0"/>
            <c:spPr>
              <a:gradFill rotWithShape="1">
                <a:gsLst>
                  <a:gs pos="0">
                    <a:schemeClr val="accent3">
                      <a:satMod val="103000"/>
                      <a:lumMod val="102000"/>
                      <a:tint val="94000"/>
                    </a:schemeClr>
                  </a:gs>
                  <a:gs pos="50000">
                    <a:schemeClr val="accent3">
                      <a:satMod val="110000"/>
                      <a:lumMod val="100000"/>
                      <a:shade val="100000"/>
                    </a:schemeClr>
                  </a:gs>
                  <a:gs pos="100000">
                    <a:schemeClr val="accent3">
                      <a:lumMod val="99000"/>
                      <a:satMod val="120000"/>
                      <a:shade val="78000"/>
                    </a:schemeClr>
                  </a:gs>
                </a:gsLst>
                <a:lin ang="5400000" scaled="0"/>
              </a:gradFill>
              <a:ln>
                <a:noFill/>
              </a:ln>
              <a:effectLst/>
            </c:spPr>
            <c:extLst>
              <c:ext xmlns:c16="http://schemas.microsoft.com/office/drawing/2014/chart" uri="{C3380CC4-5D6E-409C-BE32-E72D297353CC}">
                <c16:uniqueId val="{0000001A-F38F-42B9-9C91-813FC9AFC8B8}"/>
              </c:ext>
            </c:extLst>
          </c:dPt>
          <c:dPt>
            <c:idx val="3"/>
            <c:bubble3D val="0"/>
            <c:spPr>
              <a:gradFill rotWithShape="1">
                <a:gsLst>
                  <a:gs pos="0">
                    <a:schemeClr val="accent4">
                      <a:satMod val="103000"/>
                      <a:lumMod val="102000"/>
                      <a:tint val="94000"/>
                    </a:schemeClr>
                  </a:gs>
                  <a:gs pos="50000">
                    <a:schemeClr val="accent4">
                      <a:satMod val="110000"/>
                      <a:lumMod val="100000"/>
                      <a:shade val="100000"/>
                    </a:schemeClr>
                  </a:gs>
                  <a:gs pos="100000">
                    <a:schemeClr val="accent4">
                      <a:lumMod val="99000"/>
                      <a:satMod val="120000"/>
                      <a:shade val="78000"/>
                    </a:schemeClr>
                  </a:gs>
                </a:gsLst>
                <a:lin ang="5400000" scaled="0"/>
              </a:gradFill>
              <a:ln>
                <a:noFill/>
              </a:ln>
              <a:effectLst/>
            </c:spPr>
            <c:extLst>
              <c:ext xmlns:c16="http://schemas.microsoft.com/office/drawing/2014/chart" uri="{C3380CC4-5D6E-409C-BE32-E72D297353CC}">
                <c16:uniqueId val="{0000001C-F38F-42B9-9C91-813FC9AFC8B8}"/>
              </c:ext>
            </c:extLst>
          </c:dPt>
          <c:dPt>
            <c:idx val="4"/>
            <c:bubble3D val="0"/>
            <c:spPr>
              <a:gradFill rotWithShape="1">
                <a:gsLst>
                  <a:gs pos="0">
                    <a:schemeClr val="accent5">
                      <a:satMod val="103000"/>
                      <a:lumMod val="102000"/>
                      <a:tint val="94000"/>
                    </a:schemeClr>
                  </a:gs>
                  <a:gs pos="50000">
                    <a:schemeClr val="accent5">
                      <a:satMod val="110000"/>
                      <a:lumMod val="100000"/>
                      <a:shade val="100000"/>
                    </a:schemeClr>
                  </a:gs>
                  <a:gs pos="100000">
                    <a:schemeClr val="accent5">
                      <a:lumMod val="99000"/>
                      <a:satMod val="120000"/>
                      <a:shade val="78000"/>
                    </a:schemeClr>
                  </a:gs>
                </a:gsLst>
                <a:lin ang="5400000" scaled="0"/>
              </a:gradFill>
              <a:ln>
                <a:noFill/>
              </a:ln>
              <a:effectLst/>
            </c:spPr>
            <c:extLst>
              <c:ext xmlns:c16="http://schemas.microsoft.com/office/drawing/2014/chart" uri="{C3380CC4-5D6E-409C-BE32-E72D297353CC}">
                <c16:uniqueId val="{0000001E-F38F-42B9-9C91-813FC9AFC8B8}"/>
              </c:ext>
            </c:extLst>
          </c:dPt>
          <c:dPt>
            <c:idx val="5"/>
            <c:bubble3D val="0"/>
            <c:spPr>
              <a:gradFill rotWithShape="1">
                <a:gsLst>
                  <a:gs pos="0">
                    <a:schemeClr val="accent6">
                      <a:satMod val="103000"/>
                      <a:lumMod val="102000"/>
                      <a:tint val="94000"/>
                    </a:schemeClr>
                  </a:gs>
                  <a:gs pos="50000">
                    <a:schemeClr val="accent6">
                      <a:satMod val="110000"/>
                      <a:lumMod val="100000"/>
                      <a:shade val="100000"/>
                    </a:schemeClr>
                  </a:gs>
                  <a:gs pos="100000">
                    <a:schemeClr val="accent6">
                      <a:lumMod val="99000"/>
                      <a:satMod val="120000"/>
                      <a:shade val="78000"/>
                    </a:schemeClr>
                  </a:gs>
                </a:gsLst>
                <a:lin ang="5400000" scaled="0"/>
              </a:gradFill>
              <a:ln>
                <a:noFill/>
              </a:ln>
              <a:effectLst/>
            </c:spPr>
            <c:extLst>
              <c:ext xmlns:c16="http://schemas.microsoft.com/office/drawing/2014/chart" uri="{C3380CC4-5D6E-409C-BE32-E72D297353CC}">
                <c16:uniqueId val="{00000020-F38F-42B9-9C91-813FC9AFC8B8}"/>
              </c:ext>
            </c:extLst>
          </c:dPt>
          <c:dPt>
            <c:idx val="6"/>
            <c:bubble3D val="0"/>
            <c:spPr>
              <a:gradFill rotWithShape="1">
                <a:gsLst>
                  <a:gs pos="0">
                    <a:schemeClr val="accent1">
                      <a:lumMod val="60000"/>
                      <a:satMod val="103000"/>
                      <a:lumMod val="102000"/>
                      <a:tint val="94000"/>
                    </a:schemeClr>
                  </a:gs>
                  <a:gs pos="50000">
                    <a:schemeClr val="accent1">
                      <a:lumMod val="60000"/>
                      <a:satMod val="110000"/>
                      <a:lumMod val="100000"/>
                      <a:shade val="100000"/>
                    </a:schemeClr>
                  </a:gs>
                  <a:gs pos="100000">
                    <a:schemeClr val="accent1">
                      <a:lumMod val="60000"/>
                      <a:lumMod val="99000"/>
                      <a:satMod val="120000"/>
                      <a:shade val="78000"/>
                    </a:schemeClr>
                  </a:gs>
                </a:gsLst>
                <a:lin ang="5400000" scaled="0"/>
              </a:gradFill>
              <a:ln>
                <a:noFill/>
              </a:ln>
              <a:effectLst/>
            </c:spPr>
            <c:extLst>
              <c:ext xmlns:c16="http://schemas.microsoft.com/office/drawing/2014/chart" uri="{C3380CC4-5D6E-409C-BE32-E72D297353CC}">
                <c16:uniqueId val="{00000022-F38F-42B9-9C91-813FC9AFC8B8}"/>
              </c:ext>
            </c:extLst>
          </c:dPt>
          <c:dPt>
            <c:idx val="7"/>
            <c:bubble3D val="0"/>
            <c:spPr>
              <a:gradFill rotWithShape="1">
                <a:gsLst>
                  <a:gs pos="0">
                    <a:schemeClr val="accent2">
                      <a:lumMod val="60000"/>
                      <a:satMod val="103000"/>
                      <a:lumMod val="102000"/>
                      <a:tint val="94000"/>
                    </a:schemeClr>
                  </a:gs>
                  <a:gs pos="50000">
                    <a:schemeClr val="accent2">
                      <a:lumMod val="60000"/>
                      <a:satMod val="110000"/>
                      <a:lumMod val="100000"/>
                      <a:shade val="100000"/>
                    </a:schemeClr>
                  </a:gs>
                  <a:gs pos="100000">
                    <a:schemeClr val="accent2">
                      <a:lumMod val="60000"/>
                      <a:lumMod val="99000"/>
                      <a:satMod val="120000"/>
                      <a:shade val="78000"/>
                    </a:schemeClr>
                  </a:gs>
                </a:gsLst>
                <a:lin ang="5400000" scaled="0"/>
              </a:gradFill>
              <a:ln>
                <a:noFill/>
              </a:ln>
              <a:effectLst/>
            </c:spPr>
            <c:extLst>
              <c:ext xmlns:c16="http://schemas.microsoft.com/office/drawing/2014/chart" uri="{C3380CC4-5D6E-409C-BE32-E72D297353CC}">
                <c16:uniqueId val="{00000024-F38F-42B9-9C91-813FC9AFC8B8}"/>
              </c:ext>
            </c:extLst>
          </c:dPt>
          <c:dPt>
            <c:idx val="8"/>
            <c:bubble3D val="0"/>
            <c:spPr>
              <a:gradFill rotWithShape="1">
                <a:gsLst>
                  <a:gs pos="0">
                    <a:schemeClr val="accent3">
                      <a:lumMod val="60000"/>
                      <a:satMod val="103000"/>
                      <a:lumMod val="102000"/>
                      <a:tint val="94000"/>
                    </a:schemeClr>
                  </a:gs>
                  <a:gs pos="50000">
                    <a:schemeClr val="accent3">
                      <a:lumMod val="60000"/>
                      <a:satMod val="110000"/>
                      <a:lumMod val="100000"/>
                      <a:shade val="100000"/>
                    </a:schemeClr>
                  </a:gs>
                  <a:gs pos="100000">
                    <a:schemeClr val="accent3">
                      <a:lumMod val="60000"/>
                      <a:lumMod val="99000"/>
                      <a:satMod val="120000"/>
                      <a:shade val="78000"/>
                    </a:schemeClr>
                  </a:gs>
                </a:gsLst>
                <a:lin ang="5400000" scaled="0"/>
              </a:gradFill>
              <a:ln>
                <a:noFill/>
              </a:ln>
              <a:effectLst/>
            </c:spPr>
            <c:extLst>
              <c:ext xmlns:c16="http://schemas.microsoft.com/office/drawing/2014/chart" uri="{C3380CC4-5D6E-409C-BE32-E72D297353CC}">
                <c16:uniqueId val="{00000026-F38F-42B9-9C91-813FC9AFC8B8}"/>
              </c:ext>
            </c:extLst>
          </c:dPt>
          <c:dPt>
            <c:idx val="9"/>
            <c:bubble3D val="0"/>
            <c:spPr>
              <a:gradFill rotWithShape="1">
                <a:gsLst>
                  <a:gs pos="0">
                    <a:schemeClr val="accent4">
                      <a:lumMod val="60000"/>
                      <a:satMod val="103000"/>
                      <a:lumMod val="102000"/>
                      <a:tint val="94000"/>
                    </a:schemeClr>
                  </a:gs>
                  <a:gs pos="50000">
                    <a:schemeClr val="accent4">
                      <a:lumMod val="60000"/>
                      <a:satMod val="110000"/>
                      <a:lumMod val="100000"/>
                      <a:shade val="100000"/>
                    </a:schemeClr>
                  </a:gs>
                  <a:gs pos="100000">
                    <a:schemeClr val="accent4">
                      <a:lumMod val="60000"/>
                      <a:lumMod val="99000"/>
                      <a:satMod val="120000"/>
                      <a:shade val="78000"/>
                    </a:schemeClr>
                  </a:gs>
                </a:gsLst>
                <a:lin ang="5400000" scaled="0"/>
              </a:gradFill>
              <a:ln>
                <a:noFill/>
              </a:ln>
              <a:effectLst/>
            </c:spPr>
            <c:extLst>
              <c:ext xmlns:c16="http://schemas.microsoft.com/office/drawing/2014/chart" uri="{C3380CC4-5D6E-409C-BE32-E72D297353CC}">
                <c16:uniqueId val="{00000028-F38F-42B9-9C91-813FC9AFC8B8}"/>
              </c:ext>
            </c:extLst>
          </c:dPt>
          <c:dLbls>
            <c:spPr>
              <a:noFill/>
              <a:ln>
                <a:noFill/>
              </a:ln>
              <a:effectLst/>
            </c:spPr>
            <c:txPr>
              <a:bodyPr rot="0" spcFirstLastPara="1" vertOverflow="ellipsis" vert="horz" wrap="square" anchor="ctr" anchorCtr="1"/>
              <a:lstStyle/>
              <a:p>
                <a:pPr>
                  <a:defRPr lang="en-US" sz="800" b="1" i="0" u="none" strike="noStrike" kern="1200" baseline="0">
                    <a:solidFill>
                      <a:srgbClr val="0E2841"/>
                    </a:solidFill>
                    <a:latin typeface="+mn-lt"/>
                    <a:ea typeface="+mn-ea"/>
                    <a:cs typeface="+mn-cs"/>
                  </a:defRPr>
                </a:pPr>
                <a:endParaRPr lang="en-US"/>
              </a:p>
            </c:txPr>
            <c:showLegendKey val="0"/>
            <c:showVal val="0"/>
            <c:showCatName val="1"/>
            <c:showSerName val="0"/>
            <c:showPercent val="1"/>
            <c:showBubbleSize val="0"/>
            <c:showLeaderLines val="1"/>
            <c:leaderLines>
              <c:spPr>
                <a:ln w="9525">
                  <a:solidFill>
                    <a:schemeClr val="tx2">
                      <a:lumMod val="35000"/>
                      <a:lumOff val="65000"/>
                    </a:schemeClr>
                  </a:solidFill>
                </a:ln>
                <a:effectLst/>
              </c:spPr>
            </c:leaderLines>
            <c:extLst>
              <c:ext xmlns:c15="http://schemas.microsoft.com/office/drawing/2012/chart" uri="{CE6537A1-D6FC-4f65-9D91-7224C49458BB}"/>
            </c:extLst>
          </c:dLbls>
          <c:cat>
            <c:strRef>
              <c:f>'REVENUE BY CAR MODEL'!$A$3:$A$13</c:f>
              <c:strCache>
                <c:ptCount val="10"/>
                <c:pt idx="0">
                  <c:v>5 Series</c:v>
                </c:pt>
                <c:pt idx="1">
                  <c:v>Acadia</c:v>
                </c:pt>
                <c:pt idx="2">
                  <c:v>Cayenne</c:v>
                </c:pt>
                <c:pt idx="3">
                  <c:v>Equinox</c:v>
                </c:pt>
                <c:pt idx="4">
                  <c:v>Escalade</c:v>
                </c:pt>
                <c:pt idx="5">
                  <c:v>E-Series Wagon</c:v>
                </c:pt>
                <c:pt idx="6">
                  <c:v>Frontier</c:v>
                </c:pt>
                <c:pt idx="7">
                  <c:v>Santa Fe</c:v>
                </c:pt>
                <c:pt idx="8">
                  <c:v>Silverado 1500</c:v>
                </c:pt>
                <c:pt idx="9">
                  <c:v>Tahoe</c:v>
                </c:pt>
              </c:strCache>
            </c:strRef>
          </c:cat>
          <c:val>
            <c:numRef>
              <c:f>'REVENUE BY CAR MODEL'!$C$3:$C$13</c:f>
              <c:numCache>
                <c:formatCode>General</c:formatCode>
                <c:ptCount val="10"/>
                <c:pt idx="0">
                  <c:v>50</c:v>
                </c:pt>
                <c:pt idx="2">
                  <c:v>6900</c:v>
                </c:pt>
              </c:numCache>
            </c:numRef>
          </c:val>
          <c:extLst>
            <c:ext xmlns:c16="http://schemas.microsoft.com/office/drawing/2014/chart" uri="{C3380CC4-5D6E-409C-BE32-E72D297353CC}">
              <c16:uniqueId val="{00000029-F38F-42B9-9C91-813FC9AFC8B8}"/>
            </c:ext>
          </c:extLst>
        </c:ser>
        <c:dLbls>
          <c:showLegendKey val="0"/>
          <c:showVal val="0"/>
          <c:showCatName val="1"/>
          <c:showSerName val="0"/>
          <c:showPercent val="1"/>
          <c:showBubbleSize val="0"/>
          <c:showLeaderLines val="1"/>
        </c:dLbls>
        <c:firstSliceAng val="0"/>
      </c:pie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lgn="ctr" rtl="0">
        <a:defRPr lang="en-US" sz="800" b="1" i="0" u="none" strike="noStrike" kern="1200" baseline="0">
          <a:solidFill>
            <a:srgbClr val="0E2841"/>
          </a:solidFill>
          <a:latin typeface="+mn-lt"/>
          <a:ea typeface="+mn-ea"/>
          <a:cs typeface="+mn-cs"/>
        </a:defRPr>
      </a:pPr>
      <a:endParaRPr lang="en-US"/>
    </a:p>
  </c:txPr>
  <c:externalData r:id="rId3">
    <c:autoUpdate val="0"/>
  </c:externalData>
  <c:extLst>
    <c:ext xmlns:c14="http://schemas.microsoft.com/office/drawing/2007/8/2/chart" uri="{781A3756-C4B2-4CAC-9D66-4F8BD8637D16}">
      <c14:pivotOptions>
        <c14:dropZoneFilter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[Case Study 2 Visuals.xlsb]REVENUE BY CAR MODEL!PivotTable3</c:name>
    <c:fmtId val="16"/>
  </c:pivotSource>
  <c:chart>
    <c:autoTitleDeleted val="1"/>
    <c:pivotFmts>
      <c:pivotFmt>
        <c:idx val="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marker>
          <c:symbol val="circle"/>
          <c:size val="6"/>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12700">
              <a:solidFill>
                <a:schemeClr val="lt2"/>
              </a:solidFill>
              <a:round/>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2"/>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marker>
          <c:symbol val="circle"/>
          <c:size val="6"/>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w="12700">
              <a:solidFill>
                <a:schemeClr val="lt2"/>
              </a:solidFill>
              <a:round/>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2"/>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ysClr val="windowText" lastClr="000000"/>
                  </a:solidFill>
                  <a:latin typeface="+mn-lt"/>
                  <a:ea typeface="+mn-ea"/>
                  <a:cs typeface="+mn-cs"/>
                </a:defRPr>
              </a:pPr>
              <a:endParaRPr lang="en-US"/>
            </a:p>
          </c:txPr>
          <c:showLegendKey val="0"/>
          <c:showVal val="0"/>
          <c:showCatName val="1"/>
          <c:showSerName val="0"/>
          <c:showPercent val="1"/>
          <c:showBubbleSize val="0"/>
          <c:extLst>
            <c:ext xmlns:c15="http://schemas.microsoft.com/office/drawing/2012/chart" uri="{CE6537A1-D6FC-4f65-9D91-7224C49458BB}"/>
          </c:extLst>
        </c:dLbl>
      </c:pivotFmt>
      <c:pivotFmt>
        <c:idx val="3"/>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2"/>
                  </a:solidFill>
                  <a:latin typeface="+mn-lt"/>
                  <a:ea typeface="+mn-ea"/>
                  <a:cs typeface="+mn-cs"/>
                </a:defRPr>
              </a:pPr>
              <a:endParaRPr lang="en-US"/>
            </a:p>
          </c:txPr>
          <c:showLegendKey val="0"/>
          <c:showVal val="0"/>
          <c:showCatName val="1"/>
          <c:showSerName val="0"/>
          <c:showPercent val="1"/>
          <c:showBubbleSize val="0"/>
          <c:extLst>
            <c:ext xmlns:c15="http://schemas.microsoft.com/office/drawing/2012/chart" uri="{CE6537A1-D6FC-4f65-9D91-7224C49458BB}"/>
          </c:extLst>
        </c:dLbl>
      </c:pivotFmt>
      <c:pivotFmt>
        <c:idx val="4"/>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pivotFmt>
      <c:pivotFmt>
        <c:idx val="5"/>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pivotFmt>
      <c:pivotFmt>
        <c:idx val="6"/>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pivotFmt>
      <c:pivotFmt>
        <c:idx val="7"/>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pivotFmt>
      <c:pivotFmt>
        <c:idx val="8"/>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pivotFmt>
      <c:pivotFmt>
        <c:idx val="9"/>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pivotFmt>
      <c:pivotFmt>
        <c:idx val="1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pivotFmt>
      <c:pivotFmt>
        <c:idx val="11"/>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pivotFmt>
      <c:pivotFmt>
        <c:idx val="12"/>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pivotFmt>
      <c:pivotFmt>
        <c:idx val="13"/>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pivotFmt>
      <c:pivotFmt>
        <c:idx val="14"/>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pivotFmt>
      <c:pivotFmt>
        <c:idx val="15"/>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pivotFmt>
      <c:pivotFmt>
        <c:idx val="16"/>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pivotFmt>
      <c:pivotFmt>
        <c:idx val="17"/>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pivotFmt>
      <c:pivotFmt>
        <c:idx val="18"/>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pivotFmt>
      <c:pivotFmt>
        <c:idx val="19"/>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pivotFmt>
      <c:pivotFmt>
        <c:idx val="2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pivotFmt>
      <c:pivotFmt>
        <c:idx val="21"/>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pivotFmt>
      <c:pivotFmt>
        <c:idx val="22"/>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pivotFmt>
      <c:pivotFmt>
        <c:idx val="23"/>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pivotFmt>
      <c:pivotFmt>
        <c:idx val="24"/>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pivotFmt>
      <c:pivotFmt>
        <c:idx val="25"/>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pivotFmt>
      <c:pivotFmt>
        <c:idx val="26"/>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pivotFmt>
      <c:pivotFmt>
        <c:idx val="27"/>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pivotFmt>
      <c:pivotFmt>
        <c:idx val="28"/>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pivotFmt>
      <c:pivotFmt>
        <c:idx val="29"/>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pivotFmt>
      <c:pivotFmt>
        <c:idx val="3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pivotFmt>
      <c:pivotFmt>
        <c:idx val="31"/>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pivotFmt>
      <c:pivotFmt>
        <c:idx val="32"/>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pivotFmt>
      <c:pivotFmt>
        <c:idx val="33"/>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pivotFmt>
      <c:pivotFmt>
        <c:idx val="34"/>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pivotFmt>
      <c:pivotFmt>
        <c:idx val="35"/>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pivotFmt>
      <c:pivotFmt>
        <c:idx val="36"/>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pivotFmt>
      <c:pivotFmt>
        <c:idx val="37"/>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pivotFmt>
      <c:pivotFmt>
        <c:idx val="38"/>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pivotFmt>
      <c:pivotFmt>
        <c:idx val="39"/>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pivotFmt>
      <c:pivotFmt>
        <c:idx val="4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pivotFmt>
      <c:pivotFmt>
        <c:idx val="41"/>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pivotFmt>
      <c:pivotFmt>
        <c:idx val="42"/>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pivotFmt>
      <c:pivotFmt>
        <c:idx val="43"/>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pivotFmt>
      <c:pivotFmt>
        <c:idx val="44"/>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ysClr val="windowText" lastClr="000000"/>
                  </a:solidFill>
                  <a:latin typeface="+mn-lt"/>
                  <a:ea typeface="+mn-ea"/>
                  <a:cs typeface="+mn-cs"/>
                </a:defRPr>
              </a:pPr>
              <a:endParaRPr lang="en-US"/>
            </a:p>
          </c:txPr>
          <c:showLegendKey val="0"/>
          <c:showVal val="0"/>
          <c:showCatName val="1"/>
          <c:showSerName val="0"/>
          <c:showPercent val="1"/>
          <c:showBubbleSize val="0"/>
          <c:extLst>
            <c:ext xmlns:c15="http://schemas.microsoft.com/office/drawing/2012/chart" uri="{CE6537A1-D6FC-4f65-9D91-7224C49458BB}"/>
          </c:extLst>
        </c:dLbl>
      </c:pivotFmt>
      <c:pivotFmt>
        <c:idx val="45"/>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pivotFmt>
      <c:pivotFmt>
        <c:idx val="46"/>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pivotFmt>
      <c:pivotFmt>
        <c:idx val="47"/>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pivotFmt>
      <c:pivotFmt>
        <c:idx val="48"/>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pivotFmt>
      <c:pivotFmt>
        <c:idx val="49"/>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pivotFmt>
      <c:pivotFmt>
        <c:idx val="5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pivotFmt>
      <c:pivotFmt>
        <c:idx val="51"/>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pivotFmt>
      <c:pivotFmt>
        <c:idx val="52"/>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pivotFmt>
      <c:pivotFmt>
        <c:idx val="53"/>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pivotFmt>
      <c:pivotFmt>
        <c:idx val="54"/>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pivotFmt>
      <c:pivotFmt>
        <c:idx val="55"/>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2"/>
                  </a:solidFill>
                  <a:latin typeface="+mn-lt"/>
                  <a:ea typeface="+mn-ea"/>
                  <a:cs typeface="+mn-cs"/>
                </a:defRPr>
              </a:pPr>
              <a:endParaRPr lang="en-US"/>
            </a:p>
          </c:txPr>
          <c:showLegendKey val="0"/>
          <c:showVal val="0"/>
          <c:showCatName val="1"/>
          <c:showSerName val="0"/>
          <c:showPercent val="1"/>
          <c:showBubbleSize val="0"/>
          <c:extLst>
            <c:ext xmlns:c15="http://schemas.microsoft.com/office/drawing/2012/chart" uri="{CE6537A1-D6FC-4f65-9D91-7224C49458BB}"/>
          </c:extLst>
        </c:dLbl>
      </c:pivotFmt>
      <c:pivotFmt>
        <c:idx val="56"/>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pivotFmt>
      <c:pivotFmt>
        <c:idx val="57"/>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pivotFmt>
      <c:pivotFmt>
        <c:idx val="58"/>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pivotFmt>
      <c:pivotFmt>
        <c:idx val="59"/>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pivotFmt>
      <c:pivotFmt>
        <c:idx val="6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pivotFmt>
      <c:pivotFmt>
        <c:idx val="61"/>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pivotFmt>
      <c:pivotFmt>
        <c:idx val="62"/>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pivotFmt>
      <c:pivotFmt>
        <c:idx val="63"/>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pivotFmt>
      <c:pivotFmt>
        <c:idx val="64"/>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pivotFmt>
      <c:pivotFmt>
        <c:idx val="65"/>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pivotFmt>
      <c:pivotFmt>
        <c:idx val="66"/>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ysClr val="windowText" lastClr="000000"/>
                  </a:solidFill>
                  <a:latin typeface="+mn-lt"/>
                  <a:ea typeface="+mn-ea"/>
                  <a:cs typeface="+mn-cs"/>
                </a:defRPr>
              </a:pPr>
              <a:endParaRPr lang="en-US"/>
            </a:p>
          </c:txPr>
          <c:showLegendKey val="0"/>
          <c:showVal val="0"/>
          <c:showCatName val="1"/>
          <c:showSerName val="0"/>
          <c:showPercent val="1"/>
          <c:showBubbleSize val="0"/>
          <c:extLst>
            <c:ext xmlns:c15="http://schemas.microsoft.com/office/drawing/2012/chart" uri="{CE6537A1-D6FC-4f65-9D91-7224C49458BB}"/>
          </c:extLst>
        </c:dLbl>
      </c:pivotFmt>
      <c:pivotFmt>
        <c:idx val="67"/>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pivotFmt>
      <c:pivotFmt>
        <c:idx val="68"/>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pivotFmt>
      <c:pivotFmt>
        <c:idx val="69"/>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pivotFmt>
      <c:pivotFmt>
        <c:idx val="7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pivotFmt>
      <c:pivotFmt>
        <c:idx val="71"/>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pivotFmt>
      <c:pivotFmt>
        <c:idx val="72"/>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pivotFmt>
      <c:pivotFmt>
        <c:idx val="73"/>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pivotFmt>
      <c:pivotFmt>
        <c:idx val="74"/>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pivotFmt>
      <c:pivotFmt>
        <c:idx val="75"/>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pivotFmt>
      <c:pivotFmt>
        <c:idx val="76"/>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pivotFmt>
      <c:pivotFmt>
        <c:idx val="77"/>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2"/>
                  </a:solidFill>
                  <a:latin typeface="+mn-lt"/>
                  <a:ea typeface="+mn-ea"/>
                  <a:cs typeface="+mn-cs"/>
                </a:defRPr>
              </a:pPr>
              <a:endParaRPr lang="en-US"/>
            </a:p>
          </c:txPr>
          <c:showLegendKey val="0"/>
          <c:showVal val="0"/>
          <c:showCatName val="1"/>
          <c:showSerName val="0"/>
          <c:showPercent val="1"/>
          <c:showBubbleSize val="0"/>
          <c:extLst>
            <c:ext xmlns:c15="http://schemas.microsoft.com/office/drawing/2012/chart" uri="{CE6537A1-D6FC-4f65-9D91-7224C49458BB}"/>
          </c:extLst>
        </c:dLbl>
      </c:pivotFmt>
      <c:pivotFmt>
        <c:idx val="78"/>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pivotFmt>
      <c:pivotFmt>
        <c:idx val="79"/>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pivotFmt>
      <c:pivotFmt>
        <c:idx val="8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pivotFmt>
      <c:pivotFmt>
        <c:idx val="81"/>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pivotFmt>
      <c:pivotFmt>
        <c:idx val="82"/>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pivotFmt>
      <c:pivotFmt>
        <c:idx val="83"/>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pivotFmt>
      <c:pivotFmt>
        <c:idx val="84"/>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pivotFmt>
      <c:pivotFmt>
        <c:idx val="85"/>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pivotFmt>
      <c:pivotFmt>
        <c:idx val="86"/>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pivotFmt>
      <c:pivotFmt>
        <c:idx val="87"/>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pivotFmt>
    </c:pivotFmts>
    <c:plotArea>
      <c:layout/>
      <c:pieChart>
        <c:varyColors val="1"/>
        <c:ser>
          <c:idx val="0"/>
          <c:order val="0"/>
          <c:tx>
            <c:strRef>
              <c:f>'REVENUE BY CAR MODEL'!$B$15:$B$16</c:f>
              <c:strCache>
                <c:ptCount val="1"/>
                <c:pt idx="0">
                  <c:v>automatic</c:v>
                </c:pt>
              </c:strCache>
            </c:strRef>
          </c:tx>
          <c:dPt>
            <c:idx val="0"/>
            <c:bubble3D val="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extLst>
              <c:ext xmlns:c16="http://schemas.microsoft.com/office/drawing/2014/chart" uri="{C3380CC4-5D6E-409C-BE32-E72D297353CC}">
                <c16:uniqueId val="{00000001-610E-4663-A227-728DE5718E4D}"/>
              </c:ext>
            </c:extLst>
          </c:dPt>
          <c:dPt>
            <c:idx val="1"/>
            <c:bubble3D val="0"/>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c:spPr>
            <c:extLst>
              <c:ext xmlns:c16="http://schemas.microsoft.com/office/drawing/2014/chart" uri="{C3380CC4-5D6E-409C-BE32-E72D297353CC}">
                <c16:uniqueId val="{00000003-610E-4663-A227-728DE5718E4D}"/>
              </c:ext>
            </c:extLst>
          </c:dPt>
          <c:dPt>
            <c:idx val="2"/>
            <c:bubble3D val="0"/>
            <c:spPr>
              <a:gradFill rotWithShape="1">
                <a:gsLst>
                  <a:gs pos="0">
                    <a:schemeClr val="accent3">
                      <a:satMod val="103000"/>
                      <a:lumMod val="102000"/>
                      <a:tint val="94000"/>
                    </a:schemeClr>
                  </a:gs>
                  <a:gs pos="50000">
                    <a:schemeClr val="accent3">
                      <a:satMod val="110000"/>
                      <a:lumMod val="100000"/>
                      <a:shade val="100000"/>
                    </a:schemeClr>
                  </a:gs>
                  <a:gs pos="100000">
                    <a:schemeClr val="accent3">
                      <a:lumMod val="99000"/>
                      <a:satMod val="120000"/>
                      <a:shade val="78000"/>
                    </a:schemeClr>
                  </a:gs>
                </a:gsLst>
                <a:lin ang="5400000" scaled="0"/>
              </a:gradFill>
              <a:ln>
                <a:noFill/>
              </a:ln>
              <a:effectLst/>
            </c:spPr>
            <c:extLst>
              <c:ext xmlns:c16="http://schemas.microsoft.com/office/drawing/2014/chart" uri="{C3380CC4-5D6E-409C-BE32-E72D297353CC}">
                <c16:uniqueId val="{00000005-610E-4663-A227-728DE5718E4D}"/>
              </c:ext>
            </c:extLst>
          </c:dPt>
          <c:dPt>
            <c:idx val="3"/>
            <c:bubble3D val="0"/>
            <c:spPr>
              <a:gradFill rotWithShape="1">
                <a:gsLst>
                  <a:gs pos="0">
                    <a:schemeClr val="accent4">
                      <a:satMod val="103000"/>
                      <a:lumMod val="102000"/>
                      <a:tint val="94000"/>
                    </a:schemeClr>
                  </a:gs>
                  <a:gs pos="50000">
                    <a:schemeClr val="accent4">
                      <a:satMod val="110000"/>
                      <a:lumMod val="100000"/>
                      <a:shade val="100000"/>
                    </a:schemeClr>
                  </a:gs>
                  <a:gs pos="100000">
                    <a:schemeClr val="accent4">
                      <a:lumMod val="99000"/>
                      <a:satMod val="120000"/>
                      <a:shade val="78000"/>
                    </a:schemeClr>
                  </a:gs>
                </a:gsLst>
                <a:lin ang="5400000" scaled="0"/>
              </a:gradFill>
              <a:ln>
                <a:noFill/>
              </a:ln>
              <a:effectLst/>
            </c:spPr>
            <c:extLst>
              <c:ext xmlns:c16="http://schemas.microsoft.com/office/drawing/2014/chart" uri="{C3380CC4-5D6E-409C-BE32-E72D297353CC}">
                <c16:uniqueId val="{00000007-610E-4663-A227-728DE5718E4D}"/>
              </c:ext>
            </c:extLst>
          </c:dPt>
          <c:dPt>
            <c:idx val="4"/>
            <c:bubble3D val="0"/>
            <c:spPr>
              <a:gradFill rotWithShape="1">
                <a:gsLst>
                  <a:gs pos="0">
                    <a:schemeClr val="accent5">
                      <a:satMod val="103000"/>
                      <a:lumMod val="102000"/>
                      <a:tint val="94000"/>
                    </a:schemeClr>
                  </a:gs>
                  <a:gs pos="50000">
                    <a:schemeClr val="accent5">
                      <a:satMod val="110000"/>
                      <a:lumMod val="100000"/>
                      <a:shade val="100000"/>
                    </a:schemeClr>
                  </a:gs>
                  <a:gs pos="100000">
                    <a:schemeClr val="accent5">
                      <a:lumMod val="99000"/>
                      <a:satMod val="120000"/>
                      <a:shade val="78000"/>
                    </a:schemeClr>
                  </a:gs>
                </a:gsLst>
                <a:lin ang="5400000" scaled="0"/>
              </a:gradFill>
              <a:ln>
                <a:noFill/>
              </a:ln>
              <a:effectLst/>
            </c:spPr>
            <c:extLst>
              <c:ext xmlns:c16="http://schemas.microsoft.com/office/drawing/2014/chart" uri="{C3380CC4-5D6E-409C-BE32-E72D297353CC}">
                <c16:uniqueId val="{00000009-610E-4663-A227-728DE5718E4D}"/>
              </c:ext>
            </c:extLst>
          </c:dPt>
          <c:dPt>
            <c:idx val="5"/>
            <c:bubble3D val="0"/>
            <c:spPr>
              <a:gradFill rotWithShape="1">
                <a:gsLst>
                  <a:gs pos="0">
                    <a:schemeClr val="accent6">
                      <a:satMod val="103000"/>
                      <a:lumMod val="102000"/>
                      <a:tint val="94000"/>
                    </a:schemeClr>
                  </a:gs>
                  <a:gs pos="50000">
                    <a:schemeClr val="accent6">
                      <a:satMod val="110000"/>
                      <a:lumMod val="100000"/>
                      <a:shade val="100000"/>
                    </a:schemeClr>
                  </a:gs>
                  <a:gs pos="100000">
                    <a:schemeClr val="accent6">
                      <a:lumMod val="99000"/>
                      <a:satMod val="120000"/>
                      <a:shade val="78000"/>
                    </a:schemeClr>
                  </a:gs>
                </a:gsLst>
                <a:lin ang="5400000" scaled="0"/>
              </a:gradFill>
              <a:ln>
                <a:noFill/>
              </a:ln>
              <a:effectLst/>
            </c:spPr>
            <c:extLst>
              <c:ext xmlns:c16="http://schemas.microsoft.com/office/drawing/2014/chart" uri="{C3380CC4-5D6E-409C-BE32-E72D297353CC}">
                <c16:uniqueId val="{0000000B-610E-4663-A227-728DE5718E4D}"/>
              </c:ext>
            </c:extLst>
          </c:dPt>
          <c:dPt>
            <c:idx val="6"/>
            <c:bubble3D val="0"/>
            <c:spPr>
              <a:gradFill rotWithShape="1">
                <a:gsLst>
                  <a:gs pos="0">
                    <a:schemeClr val="accent1">
                      <a:lumMod val="60000"/>
                      <a:satMod val="103000"/>
                      <a:lumMod val="102000"/>
                      <a:tint val="94000"/>
                    </a:schemeClr>
                  </a:gs>
                  <a:gs pos="50000">
                    <a:schemeClr val="accent1">
                      <a:lumMod val="60000"/>
                      <a:satMod val="110000"/>
                      <a:lumMod val="100000"/>
                      <a:shade val="100000"/>
                    </a:schemeClr>
                  </a:gs>
                  <a:gs pos="100000">
                    <a:schemeClr val="accent1">
                      <a:lumMod val="60000"/>
                      <a:lumMod val="99000"/>
                      <a:satMod val="120000"/>
                      <a:shade val="78000"/>
                    </a:schemeClr>
                  </a:gs>
                </a:gsLst>
                <a:lin ang="5400000" scaled="0"/>
              </a:gradFill>
              <a:ln>
                <a:noFill/>
              </a:ln>
              <a:effectLst/>
            </c:spPr>
            <c:extLst>
              <c:ext xmlns:c16="http://schemas.microsoft.com/office/drawing/2014/chart" uri="{C3380CC4-5D6E-409C-BE32-E72D297353CC}">
                <c16:uniqueId val="{0000000D-610E-4663-A227-728DE5718E4D}"/>
              </c:ext>
            </c:extLst>
          </c:dPt>
          <c:dPt>
            <c:idx val="7"/>
            <c:bubble3D val="0"/>
            <c:spPr>
              <a:gradFill rotWithShape="1">
                <a:gsLst>
                  <a:gs pos="0">
                    <a:schemeClr val="accent2">
                      <a:lumMod val="60000"/>
                      <a:satMod val="103000"/>
                      <a:lumMod val="102000"/>
                      <a:tint val="94000"/>
                    </a:schemeClr>
                  </a:gs>
                  <a:gs pos="50000">
                    <a:schemeClr val="accent2">
                      <a:lumMod val="60000"/>
                      <a:satMod val="110000"/>
                      <a:lumMod val="100000"/>
                      <a:shade val="100000"/>
                    </a:schemeClr>
                  </a:gs>
                  <a:gs pos="100000">
                    <a:schemeClr val="accent2">
                      <a:lumMod val="60000"/>
                      <a:lumMod val="99000"/>
                      <a:satMod val="120000"/>
                      <a:shade val="78000"/>
                    </a:schemeClr>
                  </a:gs>
                </a:gsLst>
                <a:lin ang="5400000" scaled="0"/>
              </a:gradFill>
              <a:ln>
                <a:noFill/>
              </a:ln>
              <a:effectLst/>
            </c:spPr>
            <c:extLst>
              <c:ext xmlns:c16="http://schemas.microsoft.com/office/drawing/2014/chart" uri="{C3380CC4-5D6E-409C-BE32-E72D297353CC}">
                <c16:uniqueId val="{0000000F-610E-4663-A227-728DE5718E4D}"/>
              </c:ext>
            </c:extLst>
          </c:dPt>
          <c:dPt>
            <c:idx val="8"/>
            <c:bubble3D val="0"/>
            <c:spPr>
              <a:gradFill rotWithShape="1">
                <a:gsLst>
                  <a:gs pos="0">
                    <a:schemeClr val="accent3">
                      <a:lumMod val="60000"/>
                      <a:satMod val="103000"/>
                      <a:lumMod val="102000"/>
                      <a:tint val="94000"/>
                    </a:schemeClr>
                  </a:gs>
                  <a:gs pos="50000">
                    <a:schemeClr val="accent3">
                      <a:lumMod val="60000"/>
                      <a:satMod val="110000"/>
                      <a:lumMod val="100000"/>
                      <a:shade val="100000"/>
                    </a:schemeClr>
                  </a:gs>
                  <a:gs pos="100000">
                    <a:schemeClr val="accent3">
                      <a:lumMod val="60000"/>
                      <a:lumMod val="99000"/>
                      <a:satMod val="120000"/>
                      <a:shade val="78000"/>
                    </a:schemeClr>
                  </a:gs>
                </a:gsLst>
                <a:lin ang="5400000" scaled="0"/>
              </a:gradFill>
              <a:ln>
                <a:noFill/>
              </a:ln>
              <a:effectLst/>
            </c:spPr>
            <c:extLst>
              <c:ext xmlns:c16="http://schemas.microsoft.com/office/drawing/2014/chart" uri="{C3380CC4-5D6E-409C-BE32-E72D297353CC}">
                <c16:uniqueId val="{00000011-610E-4663-A227-728DE5718E4D}"/>
              </c:ext>
            </c:extLst>
          </c:dPt>
          <c:dPt>
            <c:idx val="9"/>
            <c:bubble3D val="0"/>
            <c:spPr>
              <a:gradFill rotWithShape="1">
                <a:gsLst>
                  <a:gs pos="0">
                    <a:schemeClr val="accent4">
                      <a:lumMod val="60000"/>
                      <a:satMod val="103000"/>
                      <a:lumMod val="102000"/>
                      <a:tint val="94000"/>
                    </a:schemeClr>
                  </a:gs>
                  <a:gs pos="50000">
                    <a:schemeClr val="accent4">
                      <a:lumMod val="60000"/>
                      <a:satMod val="110000"/>
                      <a:lumMod val="100000"/>
                      <a:shade val="100000"/>
                    </a:schemeClr>
                  </a:gs>
                  <a:gs pos="100000">
                    <a:schemeClr val="accent4">
                      <a:lumMod val="60000"/>
                      <a:lumMod val="99000"/>
                      <a:satMod val="120000"/>
                      <a:shade val="78000"/>
                    </a:schemeClr>
                  </a:gs>
                </a:gsLst>
                <a:lin ang="5400000" scaled="0"/>
              </a:gradFill>
              <a:ln>
                <a:noFill/>
              </a:ln>
              <a:effectLst/>
            </c:spPr>
            <c:extLst>
              <c:ext xmlns:c16="http://schemas.microsoft.com/office/drawing/2014/chart" uri="{C3380CC4-5D6E-409C-BE32-E72D297353CC}">
                <c16:uniqueId val="{00000013-610E-4663-A227-728DE5718E4D}"/>
              </c:ext>
            </c:extLst>
          </c:dPt>
          <c:dLbls>
            <c:spPr>
              <a:noFill/>
              <a:ln>
                <a:noFill/>
              </a:ln>
              <a:effectLst/>
            </c:spPr>
            <c:txPr>
              <a:bodyPr rot="0" spcFirstLastPara="1" vertOverflow="ellipsis" vert="horz" wrap="square" lIns="38100" tIns="19050" rIns="38100" bIns="19050" anchor="ctr" anchorCtr="1">
                <a:spAutoFit/>
              </a:bodyPr>
              <a:lstStyle/>
              <a:p>
                <a:pPr>
                  <a:defRPr sz="1200" b="1" i="0" u="none" strike="noStrike" kern="1200" baseline="0">
                    <a:solidFill>
                      <a:sysClr val="windowText" lastClr="000000"/>
                    </a:solidFill>
                    <a:latin typeface="+mn-lt"/>
                    <a:ea typeface="+mn-ea"/>
                    <a:cs typeface="+mn-cs"/>
                  </a:defRPr>
                </a:pPr>
                <a:endParaRPr lang="en-US"/>
              </a:p>
            </c:txPr>
            <c:showLegendKey val="0"/>
            <c:showVal val="0"/>
            <c:showCatName val="1"/>
            <c:showSerName val="0"/>
            <c:showPercent val="1"/>
            <c:showBubbleSize val="0"/>
            <c:showLeaderLines val="1"/>
            <c:leaderLines>
              <c:spPr>
                <a:ln w="9525">
                  <a:solidFill>
                    <a:schemeClr val="tx2">
                      <a:lumMod val="35000"/>
                      <a:lumOff val="65000"/>
                    </a:schemeClr>
                  </a:solidFill>
                </a:ln>
                <a:effectLst/>
              </c:spPr>
            </c:leaderLines>
            <c:extLst>
              <c:ext xmlns:c15="http://schemas.microsoft.com/office/drawing/2012/chart" uri="{CE6537A1-D6FC-4f65-9D91-7224C49458BB}"/>
            </c:extLst>
          </c:dLbls>
          <c:cat>
            <c:strRef>
              <c:f>'REVENUE BY CAR MODEL'!$A$17:$A$27</c:f>
              <c:strCache>
                <c:ptCount val="10"/>
                <c:pt idx="0">
                  <c:v>Accord</c:v>
                </c:pt>
                <c:pt idx="1">
                  <c:v>Camry</c:v>
                </c:pt>
                <c:pt idx="2">
                  <c:v>F-250 Super Duty</c:v>
                </c:pt>
                <c:pt idx="3">
                  <c:v>Fiesta</c:v>
                </c:pt>
                <c:pt idx="4">
                  <c:v>Grand Caravan</c:v>
                </c:pt>
                <c:pt idx="5">
                  <c:v>Maxima</c:v>
                </c:pt>
                <c:pt idx="6">
                  <c:v>Patriot</c:v>
                </c:pt>
                <c:pt idx="7">
                  <c:v>Range Rover</c:v>
                </c:pt>
                <c:pt idx="8">
                  <c:v>S-Class</c:v>
                </c:pt>
                <c:pt idx="9">
                  <c:v>Town and Country</c:v>
                </c:pt>
              </c:strCache>
            </c:strRef>
          </c:cat>
          <c:val>
            <c:numRef>
              <c:f>'REVENUE BY CAR MODEL'!$B$17:$B$27</c:f>
              <c:numCache>
                <c:formatCode>General</c:formatCode>
                <c:ptCount val="10"/>
                <c:pt idx="0">
                  <c:v>-10300</c:v>
                </c:pt>
                <c:pt idx="1">
                  <c:v>-5850</c:v>
                </c:pt>
                <c:pt idx="2">
                  <c:v>-8225</c:v>
                </c:pt>
                <c:pt idx="3">
                  <c:v>-6825</c:v>
                </c:pt>
                <c:pt idx="4">
                  <c:v>-5375</c:v>
                </c:pt>
                <c:pt idx="5">
                  <c:v>-6475</c:v>
                </c:pt>
                <c:pt idx="6">
                  <c:v>-10550</c:v>
                </c:pt>
                <c:pt idx="7">
                  <c:v>-7100</c:v>
                </c:pt>
                <c:pt idx="8">
                  <c:v>-12750</c:v>
                </c:pt>
                <c:pt idx="9">
                  <c:v>-6200</c:v>
                </c:pt>
              </c:numCache>
            </c:numRef>
          </c:val>
          <c:extLst>
            <c:ext xmlns:c16="http://schemas.microsoft.com/office/drawing/2014/chart" uri="{C3380CC4-5D6E-409C-BE32-E72D297353CC}">
              <c16:uniqueId val="{00000014-5A12-4B3E-97CC-725D69F99790}"/>
            </c:ext>
          </c:extLst>
        </c:ser>
        <c:ser>
          <c:idx val="1"/>
          <c:order val="1"/>
          <c:tx>
            <c:strRef>
              <c:f>'REVENUE BY CAR MODEL'!$C$15:$C$16</c:f>
              <c:strCache>
                <c:ptCount val="1"/>
                <c:pt idx="0">
                  <c:v>manual</c:v>
                </c:pt>
              </c:strCache>
            </c:strRef>
          </c:tx>
          <c:dPt>
            <c:idx val="0"/>
            <c:bubble3D val="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extLst>
              <c:ext xmlns:c16="http://schemas.microsoft.com/office/drawing/2014/chart" uri="{C3380CC4-5D6E-409C-BE32-E72D297353CC}">
                <c16:uniqueId val="{00000015-610E-4663-A227-728DE5718E4D}"/>
              </c:ext>
            </c:extLst>
          </c:dPt>
          <c:dPt>
            <c:idx val="1"/>
            <c:bubble3D val="0"/>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c:spPr>
            <c:extLst>
              <c:ext xmlns:c16="http://schemas.microsoft.com/office/drawing/2014/chart" uri="{C3380CC4-5D6E-409C-BE32-E72D297353CC}">
                <c16:uniqueId val="{00000017-610E-4663-A227-728DE5718E4D}"/>
              </c:ext>
            </c:extLst>
          </c:dPt>
          <c:dPt>
            <c:idx val="2"/>
            <c:bubble3D val="0"/>
            <c:spPr>
              <a:gradFill rotWithShape="1">
                <a:gsLst>
                  <a:gs pos="0">
                    <a:schemeClr val="accent3">
                      <a:satMod val="103000"/>
                      <a:lumMod val="102000"/>
                      <a:tint val="94000"/>
                    </a:schemeClr>
                  </a:gs>
                  <a:gs pos="50000">
                    <a:schemeClr val="accent3">
                      <a:satMod val="110000"/>
                      <a:lumMod val="100000"/>
                      <a:shade val="100000"/>
                    </a:schemeClr>
                  </a:gs>
                  <a:gs pos="100000">
                    <a:schemeClr val="accent3">
                      <a:lumMod val="99000"/>
                      <a:satMod val="120000"/>
                      <a:shade val="78000"/>
                    </a:schemeClr>
                  </a:gs>
                </a:gsLst>
                <a:lin ang="5400000" scaled="0"/>
              </a:gradFill>
              <a:ln>
                <a:noFill/>
              </a:ln>
              <a:effectLst/>
            </c:spPr>
            <c:extLst>
              <c:ext xmlns:c16="http://schemas.microsoft.com/office/drawing/2014/chart" uri="{C3380CC4-5D6E-409C-BE32-E72D297353CC}">
                <c16:uniqueId val="{00000019-610E-4663-A227-728DE5718E4D}"/>
              </c:ext>
            </c:extLst>
          </c:dPt>
          <c:dPt>
            <c:idx val="3"/>
            <c:bubble3D val="0"/>
            <c:spPr>
              <a:gradFill rotWithShape="1">
                <a:gsLst>
                  <a:gs pos="0">
                    <a:schemeClr val="accent4">
                      <a:satMod val="103000"/>
                      <a:lumMod val="102000"/>
                      <a:tint val="94000"/>
                    </a:schemeClr>
                  </a:gs>
                  <a:gs pos="50000">
                    <a:schemeClr val="accent4">
                      <a:satMod val="110000"/>
                      <a:lumMod val="100000"/>
                      <a:shade val="100000"/>
                    </a:schemeClr>
                  </a:gs>
                  <a:gs pos="100000">
                    <a:schemeClr val="accent4">
                      <a:lumMod val="99000"/>
                      <a:satMod val="120000"/>
                      <a:shade val="78000"/>
                    </a:schemeClr>
                  </a:gs>
                </a:gsLst>
                <a:lin ang="5400000" scaled="0"/>
              </a:gradFill>
              <a:ln>
                <a:noFill/>
              </a:ln>
              <a:effectLst/>
            </c:spPr>
            <c:extLst>
              <c:ext xmlns:c16="http://schemas.microsoft.com/office/drawing/2014/chart" uri="{C3380CC4-5D6E-409C-BE32-E72D297353CC}">
                <c16:uniqueId val="{0000001B-610E-4663-A227-728DE5718E4D}"/>
              </c:ext>
            </c:extLst>
          </c:dPt>
          <c:dPt>
            <c:idx val="4"/>
            <c:bubble3D val="0"/>
            <c:spPr>
              <a:gradFill rotWithShape="1">
                <a:gsLst>
                  <a:gs pos="0">
                    <a:schemeClr val="accent5">
                      <a:satMod val="103000"/>
                      <a:lumMod val="102000"/>
                      <a:tint val="94000"/>
                    </a:schemeClr>
                  </a:gs>
                  <a:gs pos="50000">
                    <a:schemeClr val="accent5">
                      <a:satMod val="110000"/>
                      <a:lumMod val="100000"/>
                      <a:shade val="100000"/>
                    </a:schemeClr>
                  </a:gs>
                  <a:gs pos="100000">
                    <a:schemeClr val="accent5">
                      <a:lumMod val="99000"/>
                      <a:satMod val="120000"/>
                      <a:shade val="78000"/>
                    </a:schemeClr>
                  </a:gs>
                </a:gsLst>
                <a:lin ang="5400000" scaled="0"/>
              </a:gradFill>
              <a:ln>
                <a:noFill/>
              </a:ln>
              <a:effectLst/>
            </c:spPr>
            <c:extLst>
              <c:ext xmlns:c16="http://schemas.microsoft.com/office/drawing/2014/chart" uri="{C3380CC4-5D6E-409C-BE32-E72D297353CC}">
                <c16:uniqueId val="{0000001D-610E-4663-A227-728DE5718E4D}"/>
              </c:ext>
            </c:extLst>
          </c:dPt>
          <c:dPt>
            <c:idx val="5"/>
            <c:bubble3D val="0"/>
            <c:spPr>
              <a:gradFill rotWithShape="1">
                <a:gsLst>
                  <a:gs pos="0">
                    <a:schemeClr val="accent6">
                      <a:satMod val="103000"/>
                      <a:lumMod val="102000"/>
                      <a:tint val="94000"/>
                    </a:schemeClr>
                  </a:gs>
                  <a:gs pos="50000">
                    <a:schemeClr val="accent6">
                      <a:satMod val="110000"/>
                      <a:lumMod val="100000"/>
                      <a:shade val="100000"/>
                    </a:schemeClr>
                  </a:gs>
                  <a:gs pos="100000">
                    <a:schemeClr val="accent6">
                      <a:lumMod val="99000"/>
                      <a:satMod val="120000"/>
                      <a:shade val="78000"/>
                    </a:schemeClr>
                  </a:gs>
                </a:gsLst>
                <a:lin ang="5400000" scaled="0"/>
              </a:gradFill>
              <a:ln>
                <a:noFill/>
              </a:ln>
              <a:effectLst/>
            </c:spPr>
            <c:extLst>
              <c:ext xmlns:c16="http://schemas.microsoft.com/office/drawing/2014/chart" uri="{C3380CC4-5D6E-409C-BE32-E72D297353CC}">
                <c16:uniqueId val="{0000001F-610E-4663-A227-728DE5718E4D}"/>
              </c:ext>
            </c:extLst>
          </c:dPt>
          <c:dPt>
            <c:idx val="6"/>
            <c:bubble3D val="0"/>
            <c:spPr>
              <a:gradFill rotWithShape="1">
                <a:gsLst>
                  <a:gs pos="0">
                    <a:schemeClr val="accent1">
                      <a:lumMod val="60000"/>
                      <a:satMod val="103000"/>
                      <a:lumMod val="102000"/>
                      <a:tint val="94000"/>
                    </a:schemeClr>
                  </a:gs>
                  <a:gs pos="50000">
                    <a:schemeClr val="accent1">
                      <a:lumMod val="60000"/>
                      <a:satMod val="110000"/>
                      <a:lumMod val="100000"/>
                      <a:shade val="100000"/>
                    </a:schemeClr>
                  </a:gs>
                  <a:gs pos="100000">
                    <a:schemeClr val="accent1">
                      <a:lumMod val="60000"/>
                      <a:lumMod val="99000"/>
                      <a:satMod val="120000"/>
                      <a:shade val="78000"/>
                    </a:schemeClr>
                  </a:gs>
                </a:gsLst>
                <a:lin ang="5400000" scaled="0"/>
              </a:gradFill>
              <a:ln>
                <a:noFill/>
              </a:ln>
              <a:effectLst/>
            </c:spPr>
            <c:extLst>
              <c:ext xmlns:c16="http://schemas.microsoft.com/office/drawing/2014/chart" uri="{C3380CC4-5D6E-409C-BE32-E72D297353CC}">
                <c16:uniqueId val="{00000021-610E-4663-A227-728DE5718E4D}"/>
              </c:ext>
            </c:extLst>
          </c:dPt>
          <c:dPt>
            <c:idx val="7"/>
            <c:bubble3D val="0"/>
            <c:spPr>
              <a:gradFill rotWithShape="1">
                <a:gsLst>
                  <a:gs pos="0">
                    <a:schemeClr val="accent2">
                      <a:lumMod val="60000"/>
                      <a:satMod val="103000"/>
                      <a:lumMod val="102000"/>
                      <a:tint val="94000"/>
                    </a:schemeClr>
                  </a:gs>
                  <a:gs pos="50000">
                    <a:schemeClr val="accent2">
                      <a:lumMod val="60000"/>
                      <a:satMod val="110000"/>
                      <a:lumMod val="100000"/>
                      <a:shade val="100000"/>
                    </a:schemeClr>
                  </a:gs>
                  <a:gs pos="100000">
                    <a:schemeClr val="accent2">
                      <a:lumMod val="60000"/>
                      <a:lumMod val="99000"/>
                      <a:satMod val="120000"/>
                      <a:shade val="78000"/>
                    </a:schemeClr>
                  </a:gs>
                </a:gsLst>
                <a:lin ang="5400000" scaled="0"/>
              </a:gradFill>
              <a:ln>
                <a:noFill/>
              </a:ln>
              <a:effectLst/>
            </c:spPr>
            <c:extLst>
              <c:ext xmlns:c16="http://schemas.microsoft.com/office/drawing/2014/chart" uri="{C3380CC4-5D6E-409C-BE32-E72D297353CC}">
                <c16:uniqueId val="{00000023-610E-4663-A227-728DE5718E4D}"/>
              </c:ext>
            </c:extLst>
          </c:dPt>
          <c:dPt>
            <c:idx val="8"/>
            <c:bubble3D val="0"/>
            <c:spPr>
              <a:gradFill rotWithShape="1">
                <a:gsLst>
                  <a:gs pos="0">
                    <a:schemeClr val="accent3">
                      <a:lumMod val="60000"/>
                      <a:satMod val="103000"/>
                      <a:lumMod val="102000"/>
                      <a:tint val="94000"/>
                    </a:schemeClr>
                  </a:gs>
                  <a:gs pos="50000">
                    <a:schemeClr val="accent3">
                      <a:lumMod val="60000"/>
                      <a:satMod val="110000"/>
                      <a:lumMod val="100000"/>
                      <a:shade val="100000"/>
                    </a:schemeClr>
                  </a:gs>
                  <a:gs pos="100000">
                    <a:schemeClr val="accent3">
                      <a:lumMod val="60000"/>
                      <a:lumMod val="99000"/>
                      <a:satMod val="120000"/>
                      <a:shade val="78000"/>
                    </a:schemeClr>
                  </a:gs>
                </a:gsLst>
                <a:lin ang="5400000" scaled="0"/>
              </a:gradFill>
              <a:ln>
                <a:noFill/>
              </a:ln>
              <a:effectLst/>
            </c:spPr>
            <c:extLst>
              <c:ext xmlns:c16="http://schemas.microsoft.com/office/drawing/2014/chart" uri="{C3380CC4-5D6E-409C-BE32-E72D297353CC}">
                <c16:uniqueId val="{00000025-610E-4663-A227-728DE5718E4D}"/>
              </c:ext>
            </c:extLst>
          </c:dPt>
          <c:dPt>
            <c:idx val="9"/>
            <c:bubble3D val="0"/>
            <c:spPr>
              <a:gradFill rotWithShape="1">
                <a:gsLst>
                  <a:gs pos="0">
                    <a:schemeClr val="accent4">
                      <a:lumMod val="60000"/>
                      <a:satMod val="103000"/>
                      <a:lumMod val="102000"/>
                      <a:tint val="94000"/>
                    </a:schemeClr>
                  </a:gs>
                  <a:gs pos="50000">
                    <a:schemeClr val="accent4">
                      <a:lumMod val="60000"/>
                      <a:satMod val="110000"/>
                      <a:lumMod val="100000"/>
                      <a:shade val="100000"/>
                    </a:schemeClr>
                  </a:gs>
                  <a:gs pos="100000">
                    <a:schemeClr val="accent4">
                      <a:lumMod val="60000"/>
                      <a:lumMod val="99000"/>
                      <a:satMod val="120000"/>
                      <a:shade val="78000"/>
                    </a:schemeClr>
                  </a:gs>
                </a:gsLst>
                <a:lin ang="5400000" scaled="0"/>
              </a:gradFill>
              <a:ln>
                <a:noFill/>
              </a:ln>
              <a:effectLst/>
            </c:spPr>
            <c:extLst>
              <c:ext xmlns:c16="http://schemas.microsoft.com/office/drawing/2014/chart" uri="{C3380CC4-5D6E-409C-BE32-E72D297353CC}">
                <c16:uniqueId val="{00000027-610E-4663-A227-728DE5718E4D}"/>
              </c:ext>
            </c:extLst>
          </c:dPt>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2"/>
                    </a:solidFill>
                    <a:latin typeface="+mn-lt"/>
                    <a:ea typeface="+mn-ea"/>
                    <a:cs typeface="+mn-cs"/>
                  </a:defRPr>
                </a:pPr>
                <a:endParaRPr lang="en-US"/>
              </a:p>
            </c:txPr>
            <c:showLegendKey val="0"/>
            <c:showVal val="0"/>
            <c:showCatName val="1"/>
            <c:showSerName val="0"/>
            <c:showPercent val="1"/>
            <c:showBubbleSize val="0"/>
            <c:showLeaderLines val="1"/>
            <c:leaderLines>
              <c:spPr>
                <a:ln w="9525">
                  <a:solidFill>
                    <a:schemeClr val="tx2">
                      <a:lumMod val="35000"/>
                      <a:lumOff val="65000"/>
                    </a:schemeClr>
                  </a:solidFill>
                </a:ln>
                <a:effectLst/>
              </c:spPr>
            </c:leaderLines>
            <c:extLst>
              <c:ext xmlns:c15="http://schemas.microsoft.com/office/drawing/2012/chart" uri="{CE6537A1-D6FC-4f65-9D91-7224C49458BB}"/>
            </c:extLst>
          </c:dLbls>
          <c:cat>
            <c:strRef>
              <c:f>'REVENUE BY CAR MODEL'!$A$17:$A$27</c:f>
              <c:strCache>
                <c:ptCount val="10"/>
                <c:pt idx="0">
                  <c:v>Accord</c:v>
                </c:pt>
                <c:pt idx="1">
                  <c:v>Camry</c:v>
                </c:pt>
                <c:pt idx="2">
                  <c:v>F-250 Super Duty</c:v>
                </c:pt>
                <c:pt idx="3">
                  <c:v>Fiesta</c:v>
                </c:pt>
                <c:pt idx="4">
                  <c:v>Grand Caravan</c:v>
                </c:pt>
                <c:pt idx="5">
                  <c:v>Maxima</c:v>
                </c:pt>
                <c:pt idx="6">
                  <c:v>Patriot</c:v>
                </c:pt>
                <c:pt idx="7">
                  <c:v>Range Rover</c:v>
                </c:pt>
                <c:pt idx="8">
                  <c:v>S-Class</c:v>
                </c:pt>
                <c:pt idx="9">
                  <c:v>Town and Country</c:v>
                </c:pt>
              </c:strCache>
            </c:strRef>
          </c:cat>
          <c:val>
            <c:numRef>
              <c:f>'REVENUE BY CAR MODEL'!$C$17:$C$27</c:f>
              <c:numCache>
                <c:formatCode>General</c:formatCode>
                <c:ptCount val="10"/>
                <c:pt idx="1">
                  <c:v>-1925</c:v>
                </c:pt>
              </c:numCache>
            </c:numRef>
          </c:val>
          <c:extLst>
            <c:ext xmlns:c16="http://schemas.microsoft.com/office/drawing/2014/chart" uri="{C3380CC4-5D6E-409C-BE32-E72D297353CC}">
              <c16:uniqueId val="{00000029-5A12-4B3E-97CC-725D69F99790}"/>
            </c:ext>
          </c:extLst>
        </c:ser>
        <c:dLbls>
          <c:showLegendKey val="0"/>
          <c:showVal val="0"/>
          <c:showCatName val="1"/>
          <c:showSerName val="0"/>
          <c:showPercent val="1"/>
          <c:showBubbleSize val="0"/>
          <c:showLeaderLines val="1"/>
        </c:dLbls>
        <c:firstSliceAng val="0"/>
      </c:pie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[Case Study 2 Visuals.xlsb]REVENUE BY CAR CONDITION!PivotTable1</c:name>
    <c:fmtId val="14"/>
  </c:pivotSource>
  <c:chart>
    <c:title>
      <c:tx>
        <c:rich>
          <a:bodyPr rot="0" spcFirstLastPara="1" vertOverflow="ellipsis" vert="horz" wrap="square" anchor="ctr" anchorCtr="1"/>
          <a:lstStyle/>
          <a:p>
            <a:pPr>
              <a:defRPr sz="1600" b="1" i="0" u="none" strike="noStrike" kern="1200" baseline="0">
                <a:solidFill>
                  <a:schemeClr val="tx1"/>
                </a:solidFill>
                <a:latin typeface="+mn-lt"/>
                <a:ea typeface="+mn-ea"/>
                <a:cs typeface="+mn-cs"/>
              </a:defRPr>
            </a:pPr>
            <a:r>
              <a:rPr lang="en-US"/>
              <a:t>RELATIONSHIP BETWEEN CAR MAKE, CAR CONDITION &amp; REVENUE</a:t>
            </a:r>
          </a:p>
        </c:rich>
      </c:tx>
      <c:layout>
        <c:manualLayout>
          <c:xMode val="edge"/>
          <c:yMode val="edge"/>
          <c:x val="0.22140030050591497"/>
          <c:y val="5.2158669356414042E-2"/>
        </c:manualLayout>
      </c:layout>
      <c:overlay val="0"/>
      <c:spPr>
        <a:noFill/>
        <a:ln>
          <a:noFill/>
        </a:ln>
        <a:effectLst/>
      </c:spPr>
      <c:txPr>
        <a:bodyPr rot="0" spcFirstLastPara="1" vertOverflow="ellipsis" vert="horz" wrap="square" anchor="ctr" anchorCtr="1"/>
        <a:lstStyle/>
        <a:p>
          <a:pPr>
            <a:defRPr sz="1600" b="1" i="0" u="none" strike="noStrike" kern="1200" baseline="0">
              <a:solidFill>
                <a:schemeClr val="tx1"/>
              </a:solidFill>
              <a:latin typeface="+mn-lt"/>
              <a:ea typeface="+mn-ea"/>
              <a:cs typeface="+mn-cs"/>
            </a:defRPr>
          </a:pPr>
          <a:endParaRPr lang="en-US"/>
        </a:p>
      </c:txPr>
    </c:title>
    <c:autoTitleDeleted val="0"/>
    <c:pivotFmts>
      <c:pivotFmt>
        <c:idx val="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8"/>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9"/>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1"/>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manualLayout>
          <c:layoutTarget val="inner"/>
          <c:xMode val="edge"/>
          <c:yMode val="edge"/>
          <c:x val="0.10373521333089178"/>
          <c:y val="0.14058825049187276"/>
          <c:w val="0.76719501922724775"/>
          <c:h val="0.73493608171941116"/>
        </c:manualLayout>
      </c:layout>
      <c:barChart>
        <c:barDir val="col"/>
        <c:grouping val="stacked"/>
        <c:varyColors val="0"/>
        <c:ser>
          <c:idx val="0"/>
          <c:order val="0"/>
          <c:tx>
            <c:strRef>
              <c:f>'REVENUE BY CAR CONDITION'!$B$3:$B$4</c:f>
              <c:strCache>
                <c:ptCount val="1"/>
                <c:pt idx="0">
                  <c:v>Excellent</c:v>
                </c:pt>
              </c:strCache>
            </c:strRef>
          </c:tx>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cat>
            <c:strRef>
              <c:f>'REVENUE BY CAR CONDITION'!$A$5:$A$35</c:f>
              <c:strCache>
                <c:ptCount val="30"/>
                <c:pt idx="0">
                  <c:v>Acura</c:v>
                </c:pt>
                <c:pt idx="1">
                  <c:v>Audi</c:v>
                </c:pt>
                <c:pt idx="2">
                  <c:v>BMW</c:v>
                </c:pt>
                <c:pt idx="3">
                  <c:v>Buick</c:v>
                </c:pt>
                <c:pt idx="4">
                  <c:v>Cadillac</c:v>
                </c:pt>
                <c:pt idx="5">
                  <c:v>Chevrolet</c:v>
                </c:pt>
                <c:pt idx="6">
                  <c:v>Chrysler</c:v>
                </c:pt>
                <c:pt idx="7">
                  <c:v>Dodge</c:v>
                </c:pt>
                <c:pt idx="8">
                  <c:v>Ford</c:v>
                </c:pt>
                <c:pt idx="9">
                  <c:v>GMC</c:v>
                </c:pt>
                <c:pt idx="10">
                  <c:v>HUMMER</c:v>
                </c:pt>
                <c:pt idx="11">
                  <c:v>Hyundai</c:v>
                </c:pt>
                <c:pt idx="12">
                  <c:v>Infiniti</c:v>
                </c:pt>
                <c:pt idx="13">
                  <c:v>Jaguar</c:v>
                </c:pt>
                <c:pt idx="14">
                  <c:v>Kia</c:v>
                </c:pt>
                <c:pt idx="15">
                  <c:v>Land Rover</c:v>
                </c:pt>
                <c:pt idx="16">
                  <c:v>Lexus</c:v>
                </c:pt>
                <c:pt idx="17">
                  <c:v>Lincoln</c:v>
                </c:pt>
                <c:pt idx="18">
                  <c:v>Maserati</c:v>
                </c:pt>
                <c:pt idx="19">
                  <c:v>Mazda</c:v>
                </c:pt>
                <c:pt idx="20">
                  <c:v>Mercury</c:v>
                </c:pt>
                <c:pt idx="21">
                  <c:v>MINI</c:v>
                </c:pt>
                <c:pt idx="22">
                  <c:v>Mitsubishi</c:v>
                </c:pt>
                <c:pt idx="23">
                  <c:v>Pontiac</c:v>
                </c:pt>
                <c:pt idx="24">
                  <c:v>Porsche</c:v>
                </c:pt>
                <c:pt idx="25">
                  <c:v>Saturn</c:v>
                </c:pt>
                <c:pt idx="26">
                  <c:v>Scion</c:v>
                </c:pt>
                <c:pt idx="27">
                  <c:v>Subaru</c:v>
                </c:pt>
                <c:pt idx="28">
                  <c:v>Volkswagen</c:v>
                </c:pt>
                <c:pt idx="29">
                  <c:v>Volvo</c:v>
                </c:pt>
              </c:strCache>
            </c:strRef>
          </c:cat>
          <c:val>
            <c:numRef>
              <c:f>'REVENUE BY CAR CONDITION'!$B$5:$B$35</c:f>
              <c:numCache>
                <c:formatCode>General</c:formatCode>
                <c:ptCount val="30"/>
                <c:pt idx="0">
                  <c:v>5100</c:v>
                </c:pt>
                <c:pt idx="1">
                  <c:v>25</c:v>
                </c:pt>
                <c:pt idx="2">
                  <c:v>8975</c:v>
                </c:pt>
                <c:pt idx="3">
                  <c:v>-3100</c:v>
                </c:pt>
                <c:pt idx="4">
                  <c:v>3175</c:v>
                </c:pt>
                <c:pt idx="5">
                  <c:v>23050</c:v>
                </c:pt>
                <c:pt idx="6">
                  <c:v>1200</c:v>
                </c:pt>
                <c:pt idx="7">
                  <c:v>11426</c:v>
                </c:pt>
                <c:pt idx="8">
                  <c:v>15825</c:v>
                </c:pt>
                <c:pt idx="9">
                  <c:v>6350</c:v>
                </c:pt>
                <c:pt idx="11">
                  <c:v>8050</c:v>
                </c:pt>
                <c:pt idx="12">
                  <c:v>3850</c:v>
                </c:pt>
                <c:pt idx="14">
                  <c:v>8825</c:v>
                </c:pt>
                <c:pt idx="15">
                  <c:v>-4150</c:v>
                </c:pt>
                <c:pt idx="16">
                  <c:v>-175</c:v>
                </c:pt>
                <c:pt idx="17">
                  <c:v>-3950</c:v>
                </c:pt>
                <c:pt idx="18">
                  <c:v>1200</c:v>
                </c:pt>
                <c:pt idx="19">
                  <c:v>-875</c:v>
                </c:pt>
                <c:pt idx="20">
                  <c:v>2675</c:v>
                </c:pt>
                <c:pt idx="21">
                  <c:v>5750</c:v>
                </c:pt>
                <c:pt idx="22">
                  <c:v>-3400</c:v>
                </c:pt>
                <c:pt idx="23">
                  <c:v>575</c:v>
                </c:pt>
                <c:pt idx="25">
                  <c:v>-800</c:v>
                </c:pt>
                <c:pt idx="27">
                  <c:v>300</c:v>
                </c:pt>
                <c:pt idx="28">
                  <c:v>4050</c:v>
                </c:pt>
                <c:pt idx="29">
                  <c:v>1850</c:v>
                </c:pt>
              </c:numCache>
            </c:numRef>
          </c:val>
          <c:extLst>
            <c:ext xmlns:c16="http://schemas.microsoft.com/office/drawing/2014/chart" uri="{C3380CC4-5D6E-409C-BE32-E72D297353CC}">
              <c16:uniqueId val="{00000000-E2B2-46BB-9430-AC89D753843B}"/>
            </c:ext>
          </c:extLst>
        </c:ser>
        <c:ser>
          <c:idx val="1"/>
          <c:order val="1"/>
          <c:tx>
            <c:strRef>
              <c:f>'REVENUE BY CAR CONDITION'!$C$3:$C$4</c:f>
              <c:strCache>
                <c:ptCount val="1"/>
                <c:pt idx="0">
                  <c:v>Fair</c:v>
                </c:pt>
              </c:strCache>
            </c:strRef>
          </c:tx>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cat>
            <c:strRef>
              <c:f>'REVENUE BY CAR CONDITION'!$A$5:$A$35</c:f>
              <c:strCache>
                <c:ptCount val="30"/>
                <c:pt idx="0">
                  <c:v>Acura</c:v>
                </c:pt>
                <c:pt idx="1">
                  <c:v>Audi</c:v>
                </c:pt>
                <c:pt idx="2">
                  <c:v>BMW</c:v>
                </c:pt>
                <c:pt idx="3">
                  <c:v>Buick</c:v>
                </c:pt>
                <c:pt idx="4">
                  <c:v>Cadillac</c:v>
                </c:pt>
                <c:pt idx="5">
                  <c:v>Chevrolet</c:v>
                </c:pt>
                <c:pt idx="6">
                  <c:v>Chrysler</c:v>
                </c:pt>
                <c:pt idx="7">
                  <c:v>Dodge</c:v>
                </c:pt>
                <c:pt idx="8">
                  <c:v>Ford</c:v>
                </c:pt>
                <c:pt idx="9">
                  <c:v>GMC</c:v>
                </c:pt>
                <c:pt idx="10">
                  <c:v>HUMMER</c:v>
                </c:pt>
                <c:pt idx="11">
                  <c:v>Hyundai</c:v>
                </c:pt>
                <c:pt idx="12">
                  <c:v>Infiniti</c:v>
                </c:pt>
                <c:pt idx="13">
                  <c:v>Jaguar</c:v>
                </c:pt>
                <c:pt idx="14">
                  <c:v>Kia</c:v>
                </c:pt>
                <c:pt idx="15">
                  <c:v>Land Rover</c:v>
                </c:pt>
                <c:pt idx="16">
                  <c:v>Lexus</c:v>
                </c:pt>
                <c:pt idx="17">
                  <c:v>Lincoln</c:v>
                </c:pt>
                <c:pt idx="18">
                  <c:v>Maserati</c:v>
                </c:pt>
                <c:pt idx="19">
                  <c:v>Mazda</c:v>
                </c:pt>
                <c:pt idx="20">
                  <c:v>Mercury</c:v>
                </c:pt>
                <c:pt idx="21">
                  <c:v>MINI</c:v>
                </c:pt>
                <c:pt idx="22">
                  <c:v>Mitsubishi</c:v>
                </c:pt>
                <c:pt idx="23">
                  <c:v>Pontiac</c:v>
                </c:pt>
                <c:pt idx="24">
                  <c:v>Porsche</c:v>
                </c:pt>
                <c:pt idx="25">
                  <c:v>Saturn</c:v>
                </c:pt>
                <c:pt idx="26">
                  <c:v>Scion</c:v>
                </c:pt>
                <c:pt idx="27">
                  <c:v>Subaru</c:v>
                </c:pt>
                <c:pt idx="28">
                  <c:v>Volkswagen</c:v>
                </c:pt>
                <c:pt idx="29">
                  <c:v>Volvo</c:v>
                </c:pt>
              </c:strCache>
            </c:strRef>
          </c:cat>
          <c:val>
            <c:numRef>
              <c:f>'REVENUE BY CAR CONDITION'!$C$5:$C$35</c:f>
              <c:numCache>
                <c:formatCode>General</c:formatCode>
                <c:ptCount val="30"/>
                <c:pt idx="0">
                  <c:v>525</c:v>
                </c:pt>
                <c:pt idx="1">
                  <c:v>-2800</c:v>
                </c:pt>
                <c:pt idx="2">
                  <c:v>-8125</c:v>
                </c:pt>
                <c:pt idx="4">
                  <c:v>-2925</c:v>
                </c:pt>
                <c:pt idx="5">
                  <c:v>-4500</c:v>
                </c:pt>
                <c:pt idx="6">
                  <c:v>-650</c:v>
                </c:pt>
                <c:pt idx="7">
                  <c:v>-1875</c:v>
                </c:pt>
                <c:pt idx="8">
                  <c:v>-10600</c:v>
                </c:pt>
                <c:pt idx="11">
                  <c:v>-925</c:v>
                </c:pt>
                <c:pt idx="12">
                  <c:v>-4425</c:v>
                </c:pt>
                <c:pt idx="13">
                  <c:v>-4250</c:v>
                </c:pt>
                <c:pt idx="14">
                  <c:v>-1325</c:v>
                </c:pt>
                <c:pt idx="16">
                  <c:v>-1500</c:v>
                </c:pt>
                <c:pt idx="19">
                  <c:v>675</c:v>
                </c:pt>
                <c:pt idx="21">
                  <c:v>-425</c:v>
                </c:pt>
                <c:pt idx="22">
                  <c:v>-1650</c:v>
                </c:pt>
                <c:pt idx="23">
                  <c:v>-850</c:v>
                </c:pt>
                <c:pt idx="25">
                  <c:v>-425</c:v>
                </c:pt>
                <c:pt idx="28">
                  <c:v>-950</c:v>
                </c:pt>
              </c:numCache>
            </c:numRef>
          </c:val>
          <c:extLst>
            <c:ext xmlns:c16="http://schemas.microsoft.com/office/drawing/2014/chart" uri="{C3380CC4-5D6E-409C-BE32-E72D297353CC}">
              <c16:uniqueId val="{00000001-E2B2-46BB-9430-AC89D753843B}"/>
            </c:ext>
          </c:extLst>
        </c:ser>
        <c:ser>
          <c:idx val="2"/>
          <c:order val="2"/>
          <c:tx>
            <c:strRef>
              <c:f>'REVENUE BY CAR CONDITION'!$D$3:$D$4</c:f>
              <c:strCache>
                <c:ptCount val="1"/>
                <c:pt idx="0">
                  <c:v>Good</c:v>
                </c:pt>
              </c:strCache>
            </c:strRef>
          </c:tx>
          <c:spPr>
            <a:gradFill rotWithShape="1">
              <a:gsLst>
                <a:gs pos="0">
                  <a:schemeClr val="accent3">
                    <a:satMod val="103000"/>
                    <a:lumMod val="102000"/>
                    <a:tint val="94000"/>
                  </a:schemeClr>
                </a:gs>
                <a:gs pos="50000">
                  <a:schemeClr val="accent3">
                    <a:satMod val="110000"/>
                    <a:lumMod val="100000"/>
                    <a:shade val="100000"/>
                  </a:schemeClr>
                </a:gs>
                <a:gs pos="100000">
                  <a:schemeClr val="accent3">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cat>
            <c:strRef>
              <c:f>'REVENUE BY CAR CONDITION'!$A$5:$A$35</c:f>
              <c:strCache>
                <c:ptCount val="30"/>
                <c:pt idx="0">
                  <c:v>Acura</c:v>
                </c:pt>
                <c:pt idx="1">
                  <c:v>Audi</c:v>
                </c:pt>
                <c:pt idx="2">
                  <c:v>BMW</c:v>
                </c:pt>
                <c:pt idx="3">
                  <c:v>Buick</c:v>
                </c:pt>
                <c:pt idx="4">
                  <c:v>Cadillac</c:v>
                </c:pt>
                <c:pt idx="5">
                  <c:v>Chevrolet</c:v>
                </c:pt>
                <c:pt idx="6">
                  <c:v>Chrysler</c:v>
                </c:pt>
                <c:pt idx="7">
                  <c:v>Dodge</c:v>
                </c:pt>
                <c:pt idx="8">
                  <c:v>Ford</c:v>
                </c:pt>
                <c:pt idx="9">
                  <c:v>GMC</c:v>
                </c:pt>
                <c:pt idx="10">
                  <c:v>HUMMER</c:v>
                </c:pt>
                <c:pt idx="11">
                  <c:v>Hyundai</c:v>
                </c:pt>
                <c:pt idx="12">
                  <c:v>Infiniti</c:v>
                </c:pt>
                <c:pt idx="13">
                  <c:v>Jaguar</c:v>
                </c:pt>
                <c:pt idx="14">
                  <c:v>Kia</c:v>
                </c:pt>
                <c:pt idx="15">
                  <c:v>Land Rover</c:v>
                </c:pt>
                <c:pt idx="16">
                  <c:v>Lexus</c:v>
                </c:pt>
                <c:pt idx="17">
                  <c:v>Lincoln</c:v>
                </c:pt>
                <c:pt idx="18">
                  <c:v>Maserati</c:v>
                </c:pt>
                <c:pt idx="19">
                  <c:v>Mazda</c:v>
                </c:pt>
                <c:pt idx="20">
                  <c:v>Mercury</c:v>
                </c:pt>
                <c:pt idx="21">
                  <c:v>MINI</c:v>
                </c:pt>
                <c:pt idx="22">
                  <c:v>Mitsubishi</c:v>
                </c:pt>
                <c:pt idx="23">
                  <c:v>Pontiac</c:v>
                </c:pt>
                <c:pt idx="24">
                  <c:v>Porsche</c:v>
                </c:pt>
                <c:pt idx="25">
                  <c:v>Saturn</c:v>
                </c:pt>
                <c:pt idx="26">
                  <c:v>Scion</c:v>
                </c:pt>
                <c:pt idx="27">
                  <c:v>Subaru</c:v>
                </c:pt>
                <c:pt idx="28">
                  <c:v>Volkswagen</c:v>
                </c:pt>
                <c:pt idx="29">
                  <c:v>Volvo</c:v>
                </c:pt>
              </c:strCache>
            </c:strRef>
          </c:cat>
          <c:val>
            <c:numRef>
              <c:f>'REVENUE BY CAR CONDITION'!$D$5:$D$35</c:f>
              <c:numCache>
                <c:formatCode>General</c:formatCode>
                <c:ptCount val="30"/>
                <c:pt idx="0">
                  <c:v>-1375</c:v>
                </c:pt>
                <c:pt idx="1">
                  <c:v>-3725</c:v>
                </c:pt>
                <c:pt idx="2">
                  <c:v>-1675</c:v>
                </c:pt>
                <c:pt idx="3">
                  <c:v>-225</c:v>
                </c:pt>
                <c:pt idx="4">
                  <c:v>-2100</c:v>
                </c:pt>
                <c:pt idx="5">
                  <c:v>-150</c:v>
                </c:pt>
                <c:pt idx="6">
                  <c:v>550</c:v>
                </c:pt>
                <c:pt idx="7">
                  <c:v>-2975</c:v>
                </c:pt>
                <c:pt idx="8">
                  <c:v>-3149</c:v>
                </c:pt>
                <c:pt idx="9">
                  <c:v>700</c:v>
                </c:pt>
                <c:pt idx="11">
                  <c:v>-8950</c:v>
                </c:pt>
                <c:pt idx="12">
                  <c:v>-2625</c:v>
                </c:pt>
                <c:pt idx="14">
                  <c:v>-200</c:v>
                </c:pt>
                <c:pt idx="16">
                  <c:v>-600</c:v>
                </c:pt>
                <c:pt idx="17">
                  <c:v>-3300</c:v>
                </c:pt>
                <c:pt idx="19">
                  <c:v>575</c:v>
                </c:pt>
                <c:pt idx="20">
                  <c:v>-1225</c:v>
                </c:pt>
                <c:pt idx="21">
                  <c:v>-475</c:v>
                </c:pt>
                <c:pt idx="22">
                  <c:v>1775</c:v>
                </c:pt>
                <c:pt idx="23">
                  <c:v>1375</c:v>
                </c:pt>
                <c:pt idx="26">
                  <c:v>-1450</c:v>
                </c:pt>
                <c:pt idx="27">
                  <c:v>-325</c:v>
                </c:pt>
                <c:pt idx="28">
                  <c:v>-2375</c:v>
                </c:pt>
              </c:numCache>
            </c:numRef>
          </c:val>
          <c:extLst>
            <c:ext xmlns:c16="http://schemas.microsoft.com/office/drawing/2014/chart" uri="{C3380CC4-5D6E-409C-BE32-E72D297353CC}">
              <c16:uniqueId val="{00000002-E2B2-46BB-9430-AC89D753843B}"/>
            </c:ext>
          </c:extLst>
        </c:ser>
        <c:ser>
          <c:idx val="3"/>
          <c:order val="3"/>
          <c:tx>
            <c:strRef>
              <c:f>'REVENUE BY CAR CONDITION'!$E$3:$E$4</c:f>
              <c:strCache>
                <c:ptCount val="1"/>
                <c:pt idx="0">
                  <c:v>Poor</c:v>
                </c:pt>
              </c:strCache>
            </c:strRef>
          </c:tx>
          <c:spPr>
            <a:gradFill rotWithShape="1">
              <a:gsLst>
                <a:gs pos="0">
                  <a:schemeClr val="accent4">
                    <a:satMod val="103000"/>
                    <a:lumMod val="102000"/>
                    <a:tint val="94000"/>
                  </a:schemeClr>
                </a:gs>
                <a:gs pos="50000">
                  <a:schemeClr val="accent4">
                    <a:satMod val="110000"/>
                    <a:lumMod val="100000"/>
                    <a:shade val="100000"/>
                  </a:schemeClr>
                </a:gs>
                <a:gs pos="100000">
                  <a:schemeClr val="accent4">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cat>
            <c:strRef>
              <c:f>'REVENUE BY CAR CONDITION'!$A$5:$A$35</c:f>
              <c:strCache>
                <c:ptCount val="30"/>
                <c:pt idx="0">
                  <c:v>Acura</c:v>
                </c:pt>
                <c:pt idx="1">
                  <c:v>Audi</c:v>
                </c:pt>
                <c:pt idx="2">
                  <c:v>BMW</c:v>
                </c:pt>
                <c:pt idx="3">
                  <c:v>Buick</c:v>
                </c:pt>
                <c:pt idx="4">
                  <c:v>Cadillac</c:v>
                </c:pt>
                <c:pt idx="5">
                  <c:v>Chevrolet</c:v>
                </c:pt>
                <c:pt idx="6">
                  <c:v>Chrysler</c:v>
                </c:pt>
                <c:pt idx="7">
                  <c:v>Dodge</c:v>
                </c:pt>
                <c:pt idx="8">
                  <c:v>Ford</c:v>
                </c:pt>
                <c:pt idx="9">
                  <c:v>GMC</c:v>
                </c:pt>
                <c:pt idx="10">
                  <c:v>HUMMER</c:v>
                </c:pt>
                <c:pt idx="11">
                  <c:v>Hyundai</c:v>
                </c:pt>
                <c:pt idx="12">
                  <c:v>Infiniti</c:v>
                </c:pt>
                <c:pt idx="13">
                  <c:v>Jaguar</c:v>
                </c:pt>
                <c:pt idx="14">
                  <c:v>Kia</c:v>
                </c:pt>
                <c:pt idx="15">
                  <c:v>Land Rover</c:v>
                </c:pt>
                <c:pt idx="16">
                  <c:v>Lexus</c:v>
                </c:pt>
                <c:pt idx="17">
                  <c:v>Lincoln</c:v>
                </c:pt>
                <c:pt idx="18">
                  <c:v>Maserati</c:v>
                </c:pt>
                <c:pt idx="19">
                  <c:v>Mazda</c:v>
                </c:pt>
                <c:pt idx="20">
                  <c:v>Mercury</c:v>
                </c:pt>
                <c:pt idx="21">
                  <c:v>MINI</c:v>
                </c:pt>
                <c:pt idx="22">
                  <c:v>Mitsubishi</c:v>
                </c:pt>
                <c:pt idx="23">
                  <c:v>Pontiac</c:v>
                </c:pt>
                <c:pt idx="24">
                  <c:v>Porsche</c:v>
                </c:pt>
                <c:pt idx="25">
                  <c:v>Saturn</c:v>
                </c:pt>
                <c:pt idx="26">
                  <c:v>Scion</c:v>
                </c:pt>
                <c:pt idx="27">
                  <c:v>Subaru</c:v>
                </c:pt>
                <c:pt idx="28">
                  <c:v>Volkswagen</c:v>
                </c:pt>
                <c:pt idx="29">
                  <c:v>Volvo</c:v>
                </c:pt>
              </c:strCache>
            </c:strRef>
          </c:cat>
          <c:val>
            <c:numRef>
              <c:f>'REVENUE BY CAR CONDITION'!$E$5:$E$35</c:f>
              <c:numCache>
                <c:formatCode>General</c:formatCode>
                <c:ptCount val="30"/>
                <c:pt idx="1">
                  <c:v>-400</c:v>
                </c:pt>
                <c:pt idx="2">
                  <c:v>-1575</c:v>
                </c:pt>
                <c:pt idx="3">
                  <c:v>300</c:v>
                </c:pt>
                <c:pt idx="4">
                  <c:v>300</c:v>
                </c:pt>
                <c:pt idx="5">
                  <c:v>-9700</c:v>
                </c:pt>
                <c:pt idx="6">
                  <c:v>-6975</c:v>
                </c:pt>
                <c:pt idx="7">
                  <c:v>-9375</c:v>
                </c:pt>
                <c:pt idx="8">
                  <c:v>-10825</c:v>
                </c:pt>
                <c:pt idx="10">
                  <c:v>0</c:v>
                </c:pt>
                <c:pt idx="11">
                  <c:v>-3525</c:v>
                </c:pt>
                <c:pt idx="14">
                  <c:v>100</c:v>
                </c:pt>
                <c:pt idx="16">
                  <c:v>-250</c:v>
                </c:pt>
                <c:pt idx="17">
                  <c:v>100</c:v>
                </c:pt>
                <c:pt idx="20">
                  <c:v>-1850</c:v>
                </c:pt>
                <c:pt idx="21">
                  <c:v>-450</c:v>
                </c:pt>
                <c:pt idx="22">
                  <c:v>-700</c:v>
                </c:pt>
                <c:pt idx="23">
                  <c:v>150</c:v>
                </c:pt>
                <c:pt idx="24">
                  <c:v>6900</c:v>
                </c:pt>
                <c:pt idx="27">
                  <c:v>-2050</c:v>
                </c:pt>
                <c:pt idx="28">
                  <c:v>-1575</c:v>
                </c:pt>
              </c:numCache>
            </c:numRef>
          </c:val>
          <c:extLst>
            <c:ext xmlns:c16="http://schemas.microsoft.com/office/drawing/2014/chart" uri="{C3380CC4-5D6E-409C-BE32-E72D297353CC}">
              <c16:uniqueId val="{00000003-E2B2-46BB-9430-AC89D753843B}"/>
            </c:ext>
          </c:extLst>
        </c:ser>
        <c:dLbls>
          <c:showLegendKey val="0"/>
          <c:showVal val="0"/>
          <c:showCatName val="0"/>
          <c:showSerName val="0"/>
          <c:showPercent val="0"/>
          <c:showBubbleSize val="0"/>
        </c:dLbls>
        <c:gapWidth val="150"/>
        <c:overlap val="100"/>
        <c:axId val="920748080"/>
        <c:axId val="920733200"/>
      </c:barChart>
      <c:catAx>
        <c:axId val="920748080"/>
        <c:scaling>
          <c:orientation val="minMax"/>
        </c:scaling>
        <c:delete val="0"/>
        <c:axPos val="b"/>
        <c:title>
          <c:tx>
            <c:rich>
              <a:bodyPr rot="0" spcFirstLastPara="1" vertOverflow="ellipsis" vert="horz" wrap="square" anchor="ctr" anchorCtr="1"/>
              <a:lstStyle/>
              <a:p>
                <a:pPr>
                  <a:defRPr sz="1200" b="1" i="0" u="none" strike="noStrike" kern="1200" baseline="0">
                    <a:solidFill>
                      <a:schemeClr val="tx1"/>
                    </a:solidFill>
                    <a:latin typeface="+mn-lt"/>
                    <a:ea typeface="+mn-ea"/>
                    <a:cs typeface="+mn-cs"/>
                  </a:defRPr>
                </a:pPr>
                <a:r>
                  <a:rPr lang="en-US" sz="1200" b="1">
                    <a:solidFill>
                      <a:schemeClr val="tx1"/>
                    </a:solidFill>
                  </a:rPr>
                  <a:t>Car Condition </a:t>
                </a:r>
              </a:p>
            </c:rich>
          </c:tx>
          <c:layout>
            <c:manualLayout>
              <c:xMode val="edge"/>
              <c:yMode val="edge"/>
              <c:x val="0.43923579320026851"/>
              <c:y val="0.90889242032055251"/>
            </c:manualLayout>
          </c:layout>
          <c:overlay val="0"/>
          <c:spPr>
            <a:noFill/>
            <a:ln>
              <a:noFill/>
            </a:ln>
            <a:effectLst/>
          </c:spPr>
          <c:txPr>
            <a:bodyPr rot="0" spcFirstLastPara="1" vertOverflow="ellipsis" vert="horz" wrap="square" anchor="ctr" anchorCtr="1"/>
            <a:lstStyle/>
            <a:p>
              <a:pPr>
                <a:defRPr sz="1200" b="1" i="0" u="none" strike="noStrike" kern="1200" baseline="0">
                  <a:solidFill>
                    <a:schemeClr val="tx1"/>
                  </a:solidFill>
                  <a:latin typeface="+mn-lt"/>
                  <a:ea typeface="+mn-ea"/>
                  <a:cs typeface="+mn-cs"/>
                </a:defRPr>
              </a:pPr>
              <a:endParaRPr lang="en-US"/>
            </a:p>
          </c:txPr>
        </c:title>
        <c:numFmt formatCode="General" sourceLinked="1"/>
        <c:majorTickMark val="none"/>
        <c:minorTickMark val="none"/>
        <c:tickLblPos val="nextTo"/>
        <c:spPr>
          <a:noFill/>
          <a:ln w="12700"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920733200"/>
        <c:crosses val="autoZero"/>
        <c:auto val="1"/>
        <c:lblAlgn val="ctr"/>
        <c:lblOffset val="100"/>
        <c:noMultiLvlLbl val="0"/>
      </c:catAx>
      <c:valAx>
        <c:axId val="92073320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920748080"/>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1200" b="0" i="0" u="none" strike="noStrike" kern="1200" baseline="0">
              <a:solidFill>
                <a:schemeClr val="tx1"/>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solidFill>
            <a:schemeClr val="tx1"/>
          </a:solidFill>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[Case Study 2 Visuals.xlsb]SALES!PivotTable1</c:name>
    <c:fmtId val="21"/>
  </c:pivotSource>
  <c:chart>
    <c:title>
      <c:tx>
        <c:rich>
          <a:bodyPr rot="0" spcFirstLastPara="1" vertOverflow="ellipsis" vert="horz" wrap="square" anchor="ctr" anchorCtr="1"/>
          <a:lstStyle/>
          <a:p>
            <a:pPr>
              <a:defRPr sz="1600"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r>
              <a:rPr lang="en-US"/>
              <a:t>SALES BY SEASONS OF THE YEAR</a:t>
            </a:r>
          </a:p>
        </c:rich>
      </c:tx>
      <c:overlay val="0"/>
      <c:spPr>
        <a:noFill/>
        <a:ln>
          <a:noFill/>
        </a:ln>
        <a:effectLst/>
      </c:spPr>
      <c:txPr>
        <a:bodyPr rot="0" spcFirstLastPara="1" vertOverflow="ellipsis" vert="horz" wrap="square" anchor="ctr" anchorCtr="1"/>
        <a:lstStyle/>
        <a:p>
          <a:pPr>
            <a:defRPr sz="1600"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endParaRPr lang="en-US"/>
        </a:p>
      </c:txPr>
    </c:title>
    <c:autoTitleDeleted val="0"/>
    <c:pivotFmts>
      <c:pivotFmt>
        <c:idx val="0"/>
      </c:pivotFmt>
      <c:pivotFmt>
        <c:idx val="1"/>
      </c:pivotFmt>
      <c:pivotFmt>
        <c:idx val="2"/>
      </c:pivotFmt>
      <c:pivotFmt>
        <c:idx val="3"/>
      </c:pivotFmt>
      <c:pivotFmt>
        <c:idx val="4"/>
        <c:dLbl>
          <c:idx val="0"/>
          <c:dLblPos val="inEnd"/>
          <c:showLegendKey val="0"/>
          <c:showVal val="0"/>
          <c:showCatName val="0"/>
          <c:showSerName val="0"/>
          <c:showPercent val="0"/>
          <c:showBubbleSize val="0"/>
          <c:extLst>
            <c:ext xmlns:c15="http://schemas.microsoft.com/office/drawing/2012/chart" uri="{CE6537A1-D6FC-4f65-9D91-7224C49458BB}"/>
          </c:extLst>
        </c:dLbl>
      </c:pivotFmt>
      <c:pivotFmt>
        <c:idx val="5"/>
        <c:dLbl>
          <c:idx val="0"/>
          <c:dLblPos val="inEnd"/>
          <c:showLegendKey val="0"/>
          <c:showVal val="0"/>
          <c:showCatName val="0"/>
          <c:showSerName val="0"/>
          <c:showPercent val="0"/>
          <c:showBubbleSize val="0"/>
          <c:extLst>
            <c:ext xmlns:c15="http://schemas.microsoft.com/office/drawing/2012/chart" uri="{CE6537A1-D6FC-4f65-9D91-7224C49458BB}"/>
          </c:extLst>
        </c:dLbl>
      </c:pivotFmt>
      <c:pivotFmt>
        <c:idx val="6"/>
        <c:dLbl>
          <c:idx val="0"/>
          <c:dLblPos val="inEnd"/>
          <c:showLegendKey val="0"/>
          <c:showVal val="0"/>
          <c:showCatName val="0"/>
          <c:showSerName val="0"/>
          <c:showPercent val="0"/>
          <c:showBubbleSize val="0"/>
          <c:extLst>
            <c:ext xmlns:c15="http://schemas.microsoft.com/office/drawing/2012/chart" uri="{CE6537A1-D6FC-4f65-9D91-7224C49458BB}"/>
          </c:extLst>
        </c:dLbl>
      </c:pivotFmt>
      <c:pivotFmt>
        <c:idx val="7"/>
        <c:dLbl>
          <c:idx val="0"/>
          <c:dLblPos val="inEnd"/>
          <c:showLegendKey val="0"/>
          <c:showVal val="0"/>
          <c:showCatName val="0"/>
          <c:showSerName val="0"/>
          <c:showPercent val="0"/>
          <c:showBubbleSize val="0"/>
          <c:extLst>
            <c:ext xmlns:c15="http://schemas.microsoft.com/office/drawing/2012/chart" uri="{CE6537A1-D6FC-4f65-9D91-7224C49458BB}"/>
          </c:extLst>
        </c:dLbl>
      </c:pivotFmt>
      <c:pivotFmt>
        <c:idx val="8"/>
        <c:dLbl>
          <c:idx val="0"/>
          <c:dLblPos val="inEnd"/>
          <c:showLegendKey val="0"/>
          <c:showVal val="0"/>
          <c:showCatName val="0"/>
          <c:showSerName val="0"/>
          <c:showPercent val="0"/>
          <c:showBubbleSize val="0"/>
          <c:extLst>
            <c:ext xmlns:c15="http://schemas.microsoft.com/office/drawing/2012/chart" uri="{CE6537A1-D6FC-4f65-9D91-7224C49458BB}"/>
          </c:extLst>
        </c:dLbl>
      </c:pivotFmt>
      <c:pivotFmt>
        <c:idx val="9"/>
      </c:pivotFmt>
      <c:pivotFmt>
        <c:idx val="10"/>
        <c:dLbl>
          <c:idx val="0"/>
          <c:showLegendKey val="0"/>
          <c:showVal val="0"/>
          <c:showCatName val="0"/>
          <c:showSerName val="0"/>
          <c:showPercent val="0"/>
          <c:showBubbleSize val="0"/>
          <c:extLst>
            <c:ext xmlns:c15="http://schemas.microsoft.com/office/drawing/2012/chart" uri="{CE6537A1-D6FC-4f65-9D91-7224C49458BB}"/>
          </c:extLst>
        </c:dLbl>
      </c:pivotFmt>
      <c:pivotFmt>
        <c:idx val="11"/>
        <c:dLbl>
          <c:idx val="0"/>
          <c:dLblPos val="inEnd"/>
          <c:showLegendKey val="0"/>
          <c:showVal val="0"/>
          <c:showCatName val="0"/>
          <c:showSerName val="0"/>
          <c:showPercent val="0"/>
          <c:showBubbleSize val="0"/>
          <c:extLst>
            <c:ext xmlns:c15="http://schemas.microsoft.com/office/drawing/2012/chart" uri="{CE6537A1-D6FC-4f65-9D91-7224C49458BB}"/>
          </c:extLst>
        </c:dLbl>
      </c:pivotFmt>
      <c:pivotFmt>
        <c:idx val="12"/>
        <c:dLbl>
          <c:idx val="0"/>
          <c:showLegendKey val="0"/>
          <c:showVal val="0"/>
          <c:showCatName val="0"/>
          <c:showSerName val="0"/>
          <c:showPercent val="0"/>
          <c:showBubbleSize val="0"/>
          <c:extLst>
            <c:ext xmlns:c15="http://schemas.microsoft.com/office/drawing/2012/chart" uri="{CE6537A1-D6FC-4f65-9D91-7224C49458BB}"/>
          </c:extLst>
        </c:dLbl>
      </c:pivotFmt>
      <c:pivotFmt>
        <c:idx val="13"/>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4"/>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34925" cap="rnd">
            <a:solidFill>
              <a:schemeClr val="accent1"/>
            </a:solidFill>
            <a:round/>
          </a:ln>
          <a:effectLst>
            <a:outerShdw blurRad="57150" dist="19050" dir="5400000" algn="ctr" rotWithShape="0">
              <a:srgbClr val="000000">
                <a:alpha val="63000"/>
              </a:srgbClr>
            </a:outerShdw>
          </a:effectLst>
        </c:spPr>
        <c:marker>
          <c:symbol val="circle"/>
          <c:size val="6"/>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9525">
              <a:solidFill>
                <a:schemeClr val="accent1"/>
              </a:solidFill>
              <a:round/>
            </a:ln>
            <a:effectLst>
              <a:outerShdw blurRad="57150" dist="19050" dir="5400000" algn="ctr" rotWithShape="0">
                <a:srgbClr val="000000">
                  <a:alpha val="63000"/>
                </a:srgbClr>
              </a:outerShdw>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5"/>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34925" cap="rnd">
            <a:solidFill>
              <a:schemeClr val="accent1"/>
            </a:solidFill>
            <a:round/>
          </a:ln>
          <a:effectLst>
            <a:outerShdw blurRad="57150" dist="19050" dir="5400000" algn="ctr" rotWithShape="0">
              <a:srgbClr val="000000">
                <a:alpha val="63000"/>
              </a:srgbClr>
            </a:outerShdw>
          </a:effectLst>
        </c:spPr>
        <c:marker>
          <c:symbol val="circle"/>
          <c:size val="6"/>
          <c:spPr>
            <a:gradFill rotWithShape="1">
              <a:gsLst>
                <a:gs pos="0">
                  <a:schemeClr val="accent3">
                    <a:satMod val="103000"/>
                    <a:lumMod val="102000"/>
                    <a:tint val="94000"/>
                  </a:schemeClr>
                </a:gs>
                <a:gs pos="50000">
                  <a:schemeClr val="accent3">
                    <a:satMod val="110000"/>
                    <a:lumMod val="100000"/>
                    <a:shade val="100000"/>
                  </a:schemeClr>
                </a:gs>
                <a:gs pos="100000">
                  <a:schemeClr val="accent3">
                    <a:lumMod val="99000"/>
                    <a:satMod val="120000"/>
                    <a:shade val="78000"/>
                  </a:schemeClr>
                </a:gs>
              </a:gsLst>
              <a:lin ang="5400000" scaled="0"/>
            </a:gradFill>
            <a:ln w="9525">
              <a:solidFill>
                <a:schemeClr val="accent3"/>
              </a:solidFill>
              <a:round/>
            </a:ln>
            <a:effectLst>
              <a:outerShdw blurRad="57150" dist="19050" dir="5400000" algn="ctr" rotWithShape="0">
                <a:srgbClr val="000000">
                  <a:alpha val="63000"/>
                </a:srgbClr>
              </a:outerShdw>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6"/>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7"/>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34925" cap="rnd">
            <a:solidFill>
              <a:schemeClr val="accent1"/>
            </a:solidFill>
            <a:round/>
          </a:ln>
          <a:effectLst>
            <a:outerShdw blurRad="57150" dist="19050" dir="5400000" algn="ctr" rotWithShape="0">
              <a:srgbClr val="000000">
                <a:alpha val="63000"/>
              </a:srgbClr>
            </a:outerShdw>
          </a:effectLst>
        </c:spPr>
        <c:marker>
          <c:symbol val="circle"/>
          <c:size val="6"/>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9525">
              <a:solidFill>
                <a:schemeClr val="accent1"/>
              </a:solidFill>
              <a:round/>
            </a:ln>
            <a:effectLst>
              <a:outerShdw blurRad="57150" dist="19050" dir="5400000" algn="ctr" rotWithShape="0">
                <a:srgbClr val="000000">
                  <a:alpha val="63000"/>
                </a:srgbClr>
              </a:outerShdw>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8"/>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34925" cap="rnd">
            <a:solidFill>
              <a:schemeClr val="accent1"/>
            </a:solidFill>
            <a:round/>
          </a:ln>
          <a:effectLst>
            <a:outerShdw blurRad="57150" dist="19050" dir="5400000" algn="ctr" rotWithShape="0">
              <a:srgbClr val="000000">
                <a:alpha val="63000"/>
              </a:srgbClr>
            </a:outerShdw>
          </a:effectLst>
        </c:spPr>
        <c:marker>
          <c:symbol val="circle"/>
          <c:size val="6"/>
          <c:spPr>
            <a:gradFill rotWithShape="1">
              <a:gsLst>
                <a:gs pos="0">
                  <a:schemeClr val="accent3">
                    <a:satMod val="103000"/>
                    <a:lumMod val="102000"/>
                    <a:tint val="94000"/>
                  </a:schemeClr>
                </a:gs>
                <a:gs pos="50000">
                  <a:schemeClr val="accent3">
                    <a:satMod val="110000"/>
                    <a:lumMod val="100000"/>
                    <a:shade val="100000"/>
                  </a:schemeClr>
                </a:gs>
                <a:gs pos="100000">
                  <a:schemeClr val="accent3">
                    <a:lumMod val="99000"/>
                    <a:satMod val="120000"/>
                    <a:shade val="78000"/>
                  </a:schemeClr>
                </a:gs>
              </a:gsLst>
              <a:lin ang="5400000" scaled="0"/>
            </a:gradFill>
            <a:ln w="9525">
              <a:solidFill>
                <a:schemeClr val="accent3"/>
              </a:solidFill>
              <a:round/>
            </a:ln>
            <a:effectLst>
              <a:outerShdw blurRad="57150" dist="19050" dir="5400000" algn="ctr" rotWithShape="0">
                <a:srgbClr val="000000">
                  <a:alpha val="63000"/>
                </a:srgbClr>
              </a:outerShdw>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9"/>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34925" cap="rnd">
            <a:solidFill>
              <a:schemeClr val="accent1"/>
            </a:solidFill>
            <a:round/>
          </a:ln>
          <a:effectLst>
            <a:outerShdw blurRad="57150" dist="19050" dir="5400000" algn="ctr" rotWithShape="0">
              <a:srgbClr val="000000">
                <a:alpha val="63000"/>
              </a:srgbClr>
            </a:outerShdw>
          </a:effectLst>
        </c:spPr>
        <c:marker>
          <c:symbol val="circle"/>
          <c:size val="6"/>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9525">
              <a:solidFill>
                <a:schemeClr val="accent1"/>
              </a:solidFill>
              <a:round/>
            </a:ln>
            <a:effectLst>
              <a:outerShdw blurRad="57150" dist="19050" dir="5400000" algn="ctr" rotWithShape="0">
                <a:srgbClr val="000000">
                  <a:alpha val="63000"/>
                </a:srgbClr>
              </a:outerShdw>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1"/>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34925" cap="rnd">
            <a:solidFill>
              <a:schemeClr val="accent1"/>
            </a:solidFill>
            <a:round/>
          </a:ln>
          <a:effectLst>
            <a:outerShdw blurRad="57150" dist="19050" dir="5400000" algn="ctr" rotWithShape="0">
              <a:srgbClr val="000000">
                <a:alpha val="63000"/>
              </a:srgbClr>
            </a:outerShdw>
          </a:effectLst>
        </c:spPr>
        <c:marker>
          <c:symbol val="circle"/>
          <c:size val="6"/>
          <c:spPr>
            <a:gradFill rotWithShape="1">
              <a:gsLst>
                <a:gs pos="0">
                  <a:schemeClr val="accent3">
                    <a:satMod val="103000"/>
                    <a:lumMod val="102000"/>
                    <a:tint val="94000"/>
                  </a:schemeClr>
                </a:gs>
                <a:gs pos="50000">
                  <a:schemeClr val="accent3">
                    <a:satMod val="110000"/>
                    <a:lumMod val="100000"/>
                    <a:shade val="100000"/>
                  </a:schemeClr>
                </a:gs>
                <a:gs pos="100000">
                  <a:schemeClr val="accent3">
                    <a:lumMod val="99000"/>
                    <a:satMod val="120000"/>
                    <a:shade val="78000"/>
                  </a:schemeClr>
                </a:gs>
              </a:gsLst>
              <a:lin ang="5400000" scaled="0"/>
            </a:gradFill>
            <a:ln w="9525">
              <a:solidFill>
                <a:schemeClr val="accent3"/>
              </a:solidFill>
              <a:round/>
            </a:ln>
            <a:effectLst>
              <a:outerShdw blurRad="57150" dist="19050" dir="5400000" algn="ctr" rotWithShape="0">
                <a:srgbClr val="000000">
                  <a:alpha val="63000"/>
                </a:srgbClr>
              </a:outerShdw>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1"/>
          <c:order val="1"/>
          <c:tx>
            <c:strRef>
              <c:f>SALES!$C$3:$C$4</c:f>
              <c:strCache>
                <c:ptCount val="1"/>
                <c:pt idx="0">
                  <c:v>Summer</c:v>
                </c:pt>
              </c:strCache>
            </c:strRef>
          </c:tx>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cat>
            <c:strRef>
              <c:f>SALES!$A$5:$A$35</c:f>
              <c:strCache>
                <c:ptCount val="30"/>
                <c:pt idx="0">
                  <c:v>Acura</c:v>
                </c:pt>
                <c:pt idx="1">
                  <c:v>Audi</c:v>
                </c:pt>
                <c:pt idx="2">
                  <c:v>BMW</c:v>
                </c:pt>
                <c:pt idx="3">
                  <c:v>Buick</c:v>
                </c:pt>
                <c:pt idx="4">
                  <c:v>Cadillac</c:v>
                </c:pt>
                <c:pt idx="5">
                  <c:v>Chevrolet</c:v>
                </c:pt>
                <c:pt idx="6">
                  <c:v>Chrysler</c:v>
                </c:pt>
                <c:pt idx="7">
                  <c:v>Dodge</c:v>
                </c:pt>
                <c:pt idx="8">
                  <c:v>Ford</c:v>
                </c:pt>
                <c:pt idx="9">
                  <c:v>GMC</c:v>
                </c:pt>
                <c:pt idx="10">
                  <c:v>Honda</c:v>
                </c:pt>
                <c:pt idx="11">
                  <c:v>HUMMER</c:v>
                </c:pt>
                <c:pt idx="12">
                  <c:v>Hyundai</c:v>
                </c:pt>
                <c:pt idx="13">
                  <c:v>Infiniti</c:v>
                </c:pt>
                <c:pt idx="14">
                  <c:v>Jeep</c:v>
                </c:pt>
                <c:pt idx="15">
                  <c:v>Kia</c:v>
                </c:pt>
                <c:pt idx="16">
                  <c:v>Land Rover</c:v>
                </c:pt>
                <c:pt idx="17">
                  <c:v>Lexus</c:v>
                </c:pt>
                <c:pt idx="18">
                  <c:v>Lincoln</c:v>
                </c:pt>
                <c:pt idx="19">
                  <c:v>Maserati</c:v>
                </c:pt>
                <c:pt idx="20">
                  <c:v>Mazda</c:v>
                </c:pt>
                <c:pt idx="21">
                  <c:v>Mercedes-Benz</c:v>
                </c:pt>
                <c:pt idx="22">
                  <c:v>MINI</c:v>
                </c:pt>
                <c:pt idx="23">
                  <c:v>Mitsubishi</c:v>
                </c:pt>
                <c:pt idx="24">
                  <c:v>Nissan</c:v>
                </c:pt>
                <c:pt idx="25">
                  <c:v>Pontiac</c:v>
                </c:pt>
                <c:pt idx="26">
                  <c:v>Porsche</c:v>
                </c:pt>
                <c:pt idx="27">
                  <c:v>Subaru</c:v>
                </c:pt>
                <c:pt idx="28">
                  <c:v>Toyota</c:v>
                </c:pt>
                <c:pt idx="29">
                  <c:v>Volkswagen</c:v>
                </c:pt>
              </c:strCache>
            </c:strRef>
          </c:cat>
          <c:val>
            <c:numRef>
              <c:f>SALES!$C$5:$C$35</c:f>
              <c:numCache>
                <c:formatCode>General</c:formatCode>
                <c:ptCount val="30"/>
                <c:pt idx="0">
                  <c:v>160850</c:v>
                </c:pt>
                <c:pt idx="1">
                  <c:v>216400</c:v>
                </c:pt>
                <c:pt idx="2">
                  <c:v>301800</c:v>
                </c:pt>
                <c:pt idx="3">
                  <c:v>78100</c:v>
                </c:pt>
                <c:pt idx="4">
                  <c:v>220950</c:v>
                </c:pt>
                <c:pt idx="5">
                  <c:v>1165450</c:v>
                </c:pt>
                <c:pt idx="6">
                  <c:v>97850</c:v>
                </c:pt>
                <c:pt idx="7">
                  <c:v>447051</c:v>
                </c:pt>
                <c:pt idx="8">
                  <c:v>1683450</c:v>
                </c:pt>
                <c:pt idx="9">
                  <c:v>149400</c:v>
                </c:pt>
                <c:pt idx="10">
                  <c:v>395450</c:v>
                </c:pt>
                <c:pt idx="11">
                  <c:v>27500</c:v>
                </c:pt>
                <c:pt idx="12">
                  <c:v>427000</c:v>
                </c:pt>
                <c:pt idx="13">
                  <c:v>408950</c:v>
                </c:pt>
                <c:pt idx="14">
                  <c:v>298350</c:v>
                </c:pt>
                <c:pt idx="15">
                  <c:v>407650</c:v>
                </c:pt>
                <c:pt idx="16">
                  <c:v>210400</c:v>
                </c:pt>
                <c:pt idx="17">
                  <c:v>116900</c:v>
                </c:pt>
                <c:pt idx="18">
                  <c:v>186000</c:v>
                </c:pt>
                <c:pt idx="19">
                  <c:v>49500</c:v>
                </c:pt>
                <c:pt idx="20">
                  <c:v>135100</c:v>
                </c:pt>
                <c:pt idx="21">
                  <c:v>524700</c:v>
                </c:pt>
                <c:pt idx="22">
                  <c:v>103650</c:v>
                </c:pt>
                <c:pt idx="23">
                  <c:v>73400</c:v>
                </c:pt>
                <c:pt idx="24">
                  <c:v>752150</c:v>
                </c:pt>
                <c:pt idx="25">
                  <c:v>41300</c:v>
                </c:pt>
                <c:pt idx="26">
                  <c:v>36000</c:v>
                </c:pt>
                <c:pt idx="27">
                  <c:v>100600</c:v>
                </c:pt>
                <c:pt idx="28">
                  <c:v>895700</c:v>
                </c:pt>
                <c:pt idx="29">
                  <c:v>202800</c:v>
                </c:pt>
              </c:numCache>
            </c:numRef>
          </c:val>
          <c:extLst>
            <c:ext xmlns:c16="http://schemas.microsoft.com/office/drawing/2014/chart" uri="{C3380CC4-5D6E-409C-BE32-E72D297353CC}">
              <c16:uniqueId val="{00000000-9447-45ED-BE87-884D39F407A5}"/>
            </c:ext>
          </c:extLst>
        </c:ser>
        <c:dLbls>
          <c:showLegendKey val="0"/>
          <c:showVal val="0"/>
          <c:showCatName val="0"/>
          <c:showSerName val="0"/>
          <c:showPercent val="0"/>
          <c:showBubbleSize val="0"/>
        </c:dLbls>
        <c:gapWidth val="150"/>
        <c:axId val="12454207"/>
        <c:axId val="12458047"/>
      </c:barChart>
      <c:lineChart>
        <c:grouping val="stacked"/>
        <c:varyColors val="0"/>
        <c:ser>
          <c:idx val="0"/>
          <c:order val="0"/>
          <c:tx>
            <c:strRef>
              <c:f>SALES!$B$3:$B$4</c:f>
              <c:strCache>
                <c:ptCount val="1"/>
                <c:pt idx="0">
                  <c:v>Autumn</c:v>
                </c:pt>
              </c:strCache>
            </c:strRef>
          </c:tx>
          <c:spPr>
            <a:ln w="34925" cap="rnd">
              <a:solidFill>
                <a:schemeClr val="accent1"/>
              </a:solidFill>
              <a:round/>
            </a:ln>
            <a:effectLst>
              <a:outerShdw blurRad="57150" dist="19050" dir="5400000" algn="ctr" rotWithShape="0">
                <a:srgbClr val="000000">
                  <a:alpha val="63000"/>
                </a:srgbClr>
              </a:outerShdw>
            </a:effectLst>
          </c:spPr>
          <c:marker>
            <c:symbol val="circle"/>
            <c:size val="6"/>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9525">
                <a:solidFill>
                  <a:schemeClr val="accent1"/>
                </a:solidFill>
                <a:round/>
              </a:ln>
              <a:effectLst>
                <a:outerShdw blurRad="57150" dist="19050" dir="5400000" algn="ctr" rotWithShape="0">
                  <a:srgbClr val="000000">
                    <a:alpha val="63000"/>
                  </a:srgbClr>
                </a:outerShdw>
              </a:effectLst>
            </c:spPr>
          </c:marker>
          <c:cat>
            <c:strRef>
              <c:f>SALES!$A$5:$A$35</c:f>
              <c:strCache>
                <c:ptCount val="30"/>
                <c:pt idx="0">
                  <c:v>Acura</c:v>
                </c:pt>
                <c:pt idx="1">
                  <c:v>Audi</c:v>
                </c:pt>
                <c:pt idx="2">
                  <c:v>BMW</c:v>
                </c:pt>
                <c:pt idx="3">
                  <c:v>Buick</c:v>
                </c:pt>
                <c:pt idx="4">
                  <c:v>Cadillac</c:v>
                </c:pt>
                <c:pt idx="5">
                  <c:v>Chevrolet</c:v>
                </c:pt>
                <c:pt idx="6">
                  <c:v>Chrysler</c:v>
                </c:pt>
                <c:pt idx="7">
                  <c:v>Dodge</c:v>
                </c:pt>
                <c:pt idx="8">
                  <c:v>Ford</c:v>
                </c:pt>
                <c:pt idx="9">
                  <c:v>GMC</c:v>
                </c:pt>
                <c:pt idx="10">
                  <c:v>Honda</c:v>
                </c:pt>
                <c:pt idx="11">
                  <c:v>HUMMER</c:v>
                </c:pt>
                <c:pt idx="12">
                  <c:v>Hyundai</c:v>
                </c:pt>
                <c:pt idx="13">
                  <c:v>Infiniti</c:v>
                </c:pt>
                <c:pt idx="14">
                  <c:v>Jeep</c:v>
                </c:pt>
                <c:pt idx="15">
                  <c:v>Kia</c:v>
                </c:pt>
                <c:pt idx="16">
                  <c:v>Land Rover</c:v>
                </c:pt>
                <c:pt idx="17">
                  <c:v>Lexus</c:v>
                </c:pt>
                <c:pt idx="18">
                  <c:v>Lincoln</c:v>
                </c:pt>
                <c:pt idx="19">
                  <c:v>Maserati</c:v>
                </c:pt>
                <c:pt idx="20">
                  <c:v>Mazda</c:v>
                </c:pt>
                <c:pt idx="21">
                  <c:v>Mercedes-Benz</c:v>
                </c:pt>
                <c:pt idx="22">
                  <c:v>MINI</c:v>
                </c:pt>
                <c:pt idx="23">
                  <c:v>Mitsubishi</c:v>
                </c:pt>
                <c:pt idx="24">
                  <c:v>Nissan</c:v>
                </c:pt>
                <c:pt idx="25">
                  <c:v>Pontiac</c:v>
                </c:pt>
                <c:pt idx="26">
                  <c:v>Porsche</c:v>
                </c:pt>
                <c:pt idx="27">
                  <c:v>Subaru</c:v>
                </c:pt>
                <c:pt idx="28">
                  <c:v>Toyota</c:v>
                </c:pt>
                <c:pt idx="29">
                  <c:v>Volkswagen</c:v>
                </c:pt>
              </c:strCache>
            </c:strRef>
          </c:cat>
          <c:val>
            <c:numRef>
              <c:f>SALES!$B$5:$B$35</c:f>
              <c:numCache>
                <c:formatCode>General</c:formatCode>
                <c:ptCount val="30"/>
                <c:pt idx="2">
                  <c:v>2600</c:v>
                </c:pt>
                <c:pt idx="6">
                  <c:v>17700</c:v>
                </c:pt>
                <c:pt idx="8">
                  <c:v>32901</c:v>
                </c:pt>
                <c:pt idx="13">
                  <c:v>19200</c:v>
                </c:pt>
                <c:pt idx="20">
                  <c:v>21000</c:v>
                </c:pt>
                <c:pt idx="28">
                  <c:v>15400</c:v>
                </c:pt>
              </c:numCache>
            </c:numRef>
          </c:val>
          <c:smooth val="0"/>
          <c:extLst>
            <c:ext xmlns:c16="http://schemas.microsoft.com/office/drawing/2014/chart" uri="{C3380CC4-5D6E-409C-BE32-E72D297353CC}">
              <c16:uniqueId val="{00000001-9447-45ED-BE87-884D39F407A5}"/>
            </c:ext>
          </c:extLst>
        </c:ser>
        <c:ser>
          <c:idx val="2"/>
          <c:order val="2"/>
          <c:tx>
            <c:strRef>
              <c:f>SALES!$D$3:$D$4</c:f>
              <c:strCache>
                <c:ptCount val="1"/>
                <c:pt idx="0">
                  <c:v>Winter</c:v>
                </c:pt>
              </c:strCache>
            </c:strRef>
          </c:tx>
          <c:spPr>
            <a:ln w="34925" cap="rnd">
              <a:solidFill>
                <a:schemeClr val="accent3"/>
              </a:solidFill>
              <a:round/>
            </a:ln>
            <a:effectLst>
              <a:outerShdw blurRad="57150" dist="19050" dir="5400000" algn="ctr" rotWithShape="0">
                <a:srgbClr val="000000">
                  <a:alpha val="63000"/>
                </a:srgbClr>
              </a:outerShdw>
            </a:effectLst>
          </c:spPr>
          <c:marker>
            <c:symbol val="circle"/>
            <c:size val="6"/>
            <c:spPr>
              <a:gradFill rotWithShape="1">
                <a:gsLst>
                  <a:gs pos="0">
                    <a:schemeClr val="accent3">
                      <a:satMod val="103000"/>
                      <a:lumMod val="102000"/>
                      <a:tint val="94000"/>
                    </a:schemeClr>
                  </a:gs>
                  <a:gs pos="50000">
                    <a:schemeClr val="accent3">
                      <a:satMod val="110000"/>
                      <a:lumMod val="100000"/>
                      <a:shade val="100000"/>
                    </a:schemeClr>
                  </a:gs>
                  <a:gs pos="100000">
                    <a:schemeClr val="accent3">
                      <a:lumMod val="99000"/>
                      <a:satMod val="120000"/>
                      <a:shade val="78000"/>
                    </a:schemeClr>
                  </a:gs>
                </a:gsLst>
                <a:lin ang="5400000" scaled="0"/>
              </a:gradFill>
              <a:ln w="9525">
                <a:solidFill>
                  <a:schemeClr val="accent3"/>
                </a:solidFill>
                <a:round/>
              </a:ln>
              <a:effectLst>
                <a:outerShdw blurRad="57150" dist="19050" dir="5400000" algn="ctr" rotWithShape="0">
                  <a:srgbClr val="000000">
                    <a:alpha val="63000"/>
                  </a:srgbClr>
                </a:outerShdw>
              </a:effectLst>
            </c:spPr>
          </c:marker>
          <c:cat>
            <c:strRef>
              <c:f>SALES!$A$5:$A$35</c:f>
              <c:strCache>
                <c:ptCount val="30"/>
                <c:pt idx="0">
                  <c:v>Acura</c:v>
                </c:pt>
                <c:pt idx="1">
                  <c:v>Audi</c:v>
                </c:pt>
                <c:pt idx="2">
                  <c:v>BMW</c:v>
                </c:pt>
                <c:pt idx="3">
                  <c:v>Buick</c:v>
                </c:pt>
                <c:pt idx="4">
                  <c:v>Cadillac</c:v>
                </c:pt>
                <c:pt idx="5">
                  <c:v>Chevrolet</c:v>
                </c:pt>
                <c:pt idx="6">
                  <c:v>Chrysler</c:v>
                </c:pt>
                <c:pt idx="7">
                  <c:v>Dodge</c:v>
                </c:pt>
                <c:pt idx="8">
                  <c:v>Ford</c:v>
                </c:pt>
                <c:pt idx="9">
                  <c:v>GMC</c:v>
                </c:pt>
                <c:pt idx="10">
                  <c:v>Honda</c:v>
                </c:pt>
                <c:pt idx="11">
                  <c:v>HUMMER</c:v>
                </c:pt>
                <c:pt idx="12">
                  <c:v>Hyundai</c:v>
                </c:pt>
                <c:pt idx="13">
                  <c:v>Infiniti</c:v>
                </c:pt>
                <c:pt idx="14">
                  <c:v>Jeep</c:v>
                </c:pt>
                <c:pt idx="15">
                  <c:v>Kia</c:v>
                </c:pt>
                <c:pt idx="16">
                  <c:v>Land Rover</c:v>
                </c:pt>
                <c:pt idx="17">
                  <c:v>Lexus</c:v>
                </c:pt>
                <c:pt idx="18">
                  <c:v>Lincoln</c:v>
                </c:pt>
                <c:pt idx="19">
                  <c:v>Maserati</c:v>
                </c:pt>
                <c:pt idx="20">
                  <c:v>Mazda</c:v>
                </c:pt>
                <c:pt idx="21">
                  <c:v>Mercedes-Benz</c:v>
                </c:pt>
                <c:pt idx="22">
                  <c:v>MINI</c:v>
                </c:pt>
                <c:pt idx="23">
                  <c:v>Mitsubishi</c:v>
                </c:pt>
                <c:pt idx="24">
                  <c:v>Nissan</c:v>
                </c:pt>
                <c:pt idx="25">
                  <c:v>Pontiac</c:v>
                </c:pt>
                <c:pt idx="26">
                  <c:v>Porsche</c:v>
                </c:pt>
                <c:pt idx="27">
                  <c:v>Subaru</c:v>
                </c:pt>
                <c:pt idx="28">
                  <c:v>Toyota</c:v>
                </c:pt>
                <c:pt idx="29">
                  <c:v>Volkswagen</c:v>
                </c:pt>
              </c:strCache>
            </c:strRef>
          </c:cat>
          <c:val>
            <c:numRef>
              <c:f>SALES!$D$5:$D$35</c:f>
              <c:numCache>
                <c:formatCode>General</c:formatCode>
                <c:ptCount val="30"/>
                <c:pt idx="5">
                  <c:v>15100</c:v>
                </c:pt>
                <c:pt idx="7">
                  <c:v>12300</c:v>
                </c:pt>
                <c:pt idx="20">
                  <c:v>1100</c:v>
                </c:pt>
                <c:pt idx="21">
                  <c:v>39000</c:v>
                </c:pt>
              </c:numCache>
            </c:numRef>
          </c:val>
          <c:smooth val="0"/>
          <c:extLst>
            <c:ext xmlns:c16="http://schemas.microsoft.com/office/drawing/2014/chart" uri="{C3380CC4-5D6E-409C-BE32-E72D297353CC}">
              <c16:uniqueId val="{00000002-9447-45ED-BE87-884D39F407A5}"/>
            </c:ext>
          </c:extLst>
        </c:ser>
        <c:dLbls>
          <c:showLegendKey val="0"/>
          <c:showVal val="0"/>
          <c:showCatName val="0"/>
          <c:showSerName val="0"/>
          <c:showPercent val="0"/>
          <c:showBubbleSize val="0"/>
        </c:dLbls>
        <c:marker val="1"/>
        <c:smooth val="0"/>
        <c:axId val="12454207"/>
        <c:axId val="12458047"/>
      </c:lineChart>
      <c:catAx>
        <c:axId val="12454207"/>
        <c:scaling>
          <c:orientation val="minMax"/>
        </c:scaling>
        <c:delete val="0"/>
        <c:axPos val="b"/>
        <c:numFmt formatCode="General" sourceLinked="1"/>
        <c:majorTickMark val="none"/>
        <c:minorTickMark val="none"/>
        <c:tickLblPos val="nextTo"/>
        <c:spPr>
          <a:noFill/>
          <a:ln w="12700" cap="flat" cmpd="sng" algn="ctr">
            <a:solidFill>
              <a:schemeClr val="lt1">
                <a:lumMod val="95000"/>
                <a:alpha val="54000"/>
              </a:schemeClr>
            </a:solidFill>
            <a:round/>
          </a:ln>
          <a:effectLst/>
        </c:spPr>
        <c:txPr>
          <a:bodyPr rot="-60000000" spcFirstLastPara="1" vertOverflow="ellipsis" vert="horz" wrap="square" anchor="ctr" anchorCtr="1"/>
          <a:lstStyle/>
          <a:p>
            <a:pPr>
              <a:defRPr sz="1050" b="0" i="0" u="none" strike="noStrike" kern="1200" baseline="0">
                <a:solidFill>
                  <a:schemeClr val="lt1">
                    <a:lumMod val="85000"/>
                  </a:schemeClr>
                </a:solidFill>
                <a:latin typeface="+mn-lt"/>
                <a:ea typeface="+mn-ea"/>
                <a:cs typeface="+mn-cs"/>
              </a:defRPr>
            </a:pPr>
            <a:endParaRPr lang="en-US"/>
          </a:p>
        </c:txPr>
        <c:crossAx val="12458047"/>
        <c:crosses val="autoZero"/>
        <c:auto val="1"/>
        <c:lblAlgn val="ctr"/>
        <c:lblOffset val="100"/>
        <c:noMultiLvlLbl val="0"/>
      </c:catAx>
      <c:valAx>
        <c:axId val="12458047"/>
        <c:scaling>
          <c:orientation val="minMax"/>
        </c:scaling>
        <c:delete val="0"/>
        <c:axPos val="l"/>
        <c:majorGridlines>
          <c:spPr>
            <a:ln w="9525" cap="flat" cmpd="sng" algn="ctr">
              <a:solidFill>
                <a:schemeClr val="lt1">
                  <a:lumMod val="95000"/>
                  <a:alpha val="10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crossAx val="12454207"/>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1400" b="0" i="0" u="none" strike="noStrike" kern="1200" baseline="0">
              <a:solidFill>
                <a:schemeClr val="lt1">
                  <a:lumMod val="8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[Case Study 2 Visuals.xlsb]SALES!PivotTable2</c:name>
    <c:fmtId val="33"/>
  </c:pivotSource>
  <c:chart>
    <c:title>
      <c:tx>
        <c:rich>
          <a:bodyPr rot="0" spcFirstLastPara="1" vertOverflow="ellipsis" vert="horz" wrap="square" anchor="ctr" anchorCtr="1"/>
          <a:lstStyle/>
          <a:p>
            <a:pPr algn="ctr" rtl="0">
              <a:defRPr lang="en-US" sz="1600" b="1" i="0" u="none" strike="noStrike" kern="1200" spc="100" baseline="0">
                <a:solidFill>
                  <a:sysClr val="window" lastClr="FFFFFF">
                    <a:lumMod val="95000"/>
                  </a:sysClr>
                </a:solidFill>
                <a:effectLst>
                  <a:outerShdw blurRad="50800" dist="38100" dir="5400000" algn="t" rotWithShape="0">
                    <a:prstClr val="black">
                      <a:alpha val="40000"/>
                    </a:prstClr>
                  </a:outerShdw>
                </a:effectLst>
                <a:latin typeface="+mn-lt"/>
                <a:ea typeface="+mn-ea"/>
                <a:cs typeface="+mn-cs"/>
              </a:defRPr>
            </a:pPr>
            <a:r>
              <a:rPr lang="en-US" sz="1600" b="1" i="0" u="none" strike="noStrike" kern="1200" spc="100" baseline="0">
                <a:solidFill>
                  <a:sysClr val="window" lastClr="FFFFFF">
                    <a:lumMod val="95000"/>
                  </a:sysClr>
                </a:solidFill>
                <a:effectLst>
                  <a:outerShdw blurRad="50800" dist="38100" dir="5400000" algn="t" rotWithShape="0">
                    <a:prstClr val="black">
                      <a:alpha val="40000"/>
                    </a:prstClr>
                  </a:outerShdw>
                </a:effectLst>
                <a:latin typeface="+mn-lt"/>
                <a:ea typeface="+mn-ea"/>
                <a:cs typeface="+mn-cs"/>
              </a:rPr>
              <a:t>SALES BY DAY OF WEEK</a:t>
            </a:r>
          </a:p>
        </c:rich>
      </c:tx>
      <c:overlay val="0"/>
      <c:spPr>
        <a:noFill/>
        <a:ln>
          <a:noFill/>
        </a:ln>
        <a:effectLst/>
      </c:spPr>
      <c:txPr>
        <a:bodyPr rot="0" spcFirstLastPara="1" vertOverflow="ellipsis" vert="horz" wrap="square" anchor="ctr" anchorCtr="1"/>
        <a:lstStyle/>
        <a:p>
          <a:pPr algn="ctr" rtl="0">
            <a:defRPr lang="en-US" sz="1600" b="1" i="0" u="none" strike="noStrike" kern="1200" spc="100" baseline="0">
              <a:solidFill>
                <a:sysClr val="window" lastClr="FFFFFF">
                  <a:lumMod val="95000"/>
                </a:sysClr>
              </a:solidFill>
              <a:effectLst>
                <a:outerShdw blurRad="50800" dist="38100" dir="5400000" algn="t" rotWithShape="0">
                  <a:prstClr val="black">
                    <a:alpha val="40000"/>
                  </a:prstClr>
                </a:outerShdw>
              </a:effectLst>
              <a:latin typeface="+mn-lt"/>
              <a:ea typeface="+mn-ea"/>
              <a:cs typeface="+mn-cs"/>
            </a:defRPr>
          </a:pPr>
          <a:endParaRPr lang="en-US"/>
        </a:p>
      </c:txPr>
    </c:title>
    <c:autoTitleDeleted val="0"/>
    <c:pivotFmts>
      <c:pivotFmt>
        <c:idx val="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34925" cap="rnd">
            <a:solidFill>
              <a:schemeClr val="accent1"/>
            </a:solidFill>
            <a:round/>
          </a:ln>
          <a:effectLst>
            <a:outerShdw blurRad="57150" dist="19050" dir="5400000" algn="ctr" rotWithShape="0">
              <a:srgbClr val="000000">
                <a:alpha val="63000"/>
              </a:srgbClr>
            </a:outerShdw>
          </a:effectLst>
        </c:spPr>
        <c:marker>
          <c:symbol val="circle"/>
          <c:size val="6"/>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9525">
              <a:solidFill>
                <a:schemeClr val="accent1"/>
              </a:solidFill>
              <a:round/>
            </a:ln>
            <a:effectLst>
              <a:outerShdw blurRad="57150" dist="19050" dir="5400000" algn="ctr" rotWithShape="0">
                <a:srgbClr val="000000">
                  <a:alpha val="63000"/>
                </a:srgbClr>
              </a:outerShdw>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34925" cap="rnd">
            <a:solidFill>
              <a:schemeClr val="accent1"/>
            </a:solidFill>
            <a:round/>
          </a:ln>
          <a:effectLst>
            <a:outerShdw blurRad="57150" dist="19050" dir="5400000" algn="ctr" rotWithShape="0">
              <a:srgbClr val="000000">
                <a:alpha val="63000"/>
              </a:srgbClr>
            </a:outerShdw>
          </a:effectLst>
        </c:spPr>
        <c:marker>
          <c:symbol val="circle"/>
          <c:size val="6"/>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9525">
              <a:solidFill>
                <a:schemeClr val="accent1"/>
              </a:solidFill>
              <a:round/>
            </a:ln>
            <a:effectLst>
              <a:outerShdw blurRad="57150" dist="19050" dir="5400000" algn="ctr" rotWithShape="0">
                <a:srgbClr val="000000">
                  <a:alpha val="63000"/>
                </a:srgbClr>
              </a:outerShdw>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34925" cap="rnd">
            <a:solidFill>
              <a:schemeClr val="accent1"/>
            </a:solidFill>
            <a:round/>
          </a:ln>
          <a:effectLst>
            <a:outerShdw blurRad="57150" dist="19050" dir="5400000" algn="ctr" rotWithShape="0">
              <a:srgbClr val="000000">
                <a:alpha val="63000"/>
              </a:srgbClr>
            </a:outerShdw>
          </a:effectLst>
        </c:spPr>
        <c:marker>
          <c:symbol val="circle"/>
          <c:size val="6"/>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w="9525">
              <a:solidFill>
                <a:schemeClr val="accent2"/>
              </a:solidFill>
              <a:round/>
            </a:ln>
            <a:effectLst>
              <a:outerShdw blurRad="57150" dist="19050" dir="5400000" algn="ctr" rotWithShape="0">
                <a:srgbClr val="000000">
                  <a:alpha val="63000"/>
                </a:srgbClr>
              </a:outerShdw>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34925" cap="rnd">
            <a:solidFill>
              <a:schemeClr val="accent1"/>
            </a:solidFill>
            <a:round/>
          </a:ln>
          <a:effectLst>
            <a:outerShdw blurRad="57150" dist="19050" dir="5400000" algn="ctr" rotWithShape="0">
              <a:srgbClr val="000000">
                <a:alpha val="63000"/>
              </a:srgbClr>
            </a:outerShdw>
          </a:effectLst>
        </c:spPr>
        <c:marker>
          <c:symbol val="circle"/>
          <c:size val="6"/>
          <c:spPr>
            <a:gradFill rotWithShape="1">
              <a:gsLst>
                <a:gs pos="0">
                  <a:schemeClr val="accent3">
                    <a:satMod val="103000"/>
                    <a:lumMod val="102000"/>
                    <a:tint val="94000"/>
                  </a:schemeClr>
                </a:gs>
                <a:gs pos="50000">
                  <a:schemeClr val="accent3">
                    <a:satMod val="110000"/>
                    <a:lumMod val="100000"/>
                    <a:shade val="100000"/>
                  </a:schemeClr>
                </a:gs>
                <a:gs pos="100000">
                  <a:schemeClr val="accent3">
                    <a:lumMod val="99000"/>
                    <a:satMod val="120000"/>
                    <a:shade val="78000"/>
                  </a:schemeClr>
                </a:gs>
              </a:gsLst>
              <a:lin ang="5400000" scaled="0"/>
            </a:gradFill>
            <a:ln w="9525">
              <a:solidFill>
                <a:schemeClr val="accent3"/>
              </a:solidFill>
              <a:round/>
            </a:ln>
            <a:effectLst>
              <a:outerShdw blurRad="57150" dist="19050" dir="5400000" algn="ctr" rotWithShape="0">
                <a:srgbClr val="000000">
                  <a:alpha val="63000"/>
                </a:srgbClr>
              </a:outerShdw>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34925" cap="rnd">
            <a:solidFill>
              <a:schemeClr val="accent1"/>
            </a:solidFill>
            <a:round/>
          </a:ln>
          <a:effectLst>
            <a:outerShdw blurRad="57150" dist="19050" dir="5400000" algn="ctr" rotWithShape="0">
              <a:srgbClr val="000000">
                <a:alpha val="63000"/>
              </a:srgbClr>
            </a:outerShdw>
          </a:effectLst>
        </c:spPr>
        <c:marker>
          <c:symbol val="circle"/>
          <c:size val="6"/>
          <c:spPr>
            <a:gradFill rotWithShape="1">
              <a:gsLst>
                <a:gs pos="0">
                  <a:schemeClr val="accent4">
                    <a:satMod val="103000"/>
                    <a:lumMod val="102000"/>
                    <a:tint val="94000"/>
                  </a:schemeClr>
                </a:gs>
                <a:gs pos="50000">
                  <a:schemeClr val="accent4">
                    <a:satMod val="110000"/>
                    <a:lumMod val="100000"/>
                    <a:shade val="100000"/>
                  </a:schemeClr>
                </a:gs>
                <a:gs pos="100000">
                  <a:schemeClr val="accent4">
                    <a:lumMod val="99000"/>
                    <a:satMod val="120000"/>
                    <a:shade val="78000"/>
                  </a:schemeClr>
                </a:gs>
              </a:gsLst>
              <a:lin ang="5400000" scaled="0"/>
            </a:gradFill>
            <a:ln w="9525">
              <a:solidFill>
                <a:schemeClr val="accent4"/>
              </a:solidFill>
              <a:round/>
            </a:ln>
            <a:effectLst>
              <a:outerShdw blurRad="57150" dist="19050" dir="5400000" algn="ctr" rotWithShape="0">
                <a:srgbClr val="000000">
                  <a:alpha val="63000"/>
                </a:srgbClr>
              </a:outerShdw>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34925" cap="rnd">
            <a:solidFill>
              <a:schemeClr val="accent1"/>
            </a:solidFill>
            <a:round/>
          </a:ln>
          <a:effectLst>
            <a:outerShdw blurRad="57150" dist="19050" dir="5400000" algn="ctr" rotWithShape="0">
              <a:srgbClr val="000000">
                <a:alpha val="63000"/>
              </a:srgbClr>
            </a:outerShdw>
          </a:effectLst>
        </c:spPr>
        <c:marker>
          <c:symbol val="circle"/>
          <c:size val="6"/>
          <c:spPr>
            <a:gradFill rotWithShape="1">
              <a:gsLst>
                <a:gs pos="0">
                  <a:schemeClr val="accent5">
                    <a:satMod val="103000"/>
                    <a:lumMod val="102000"/>
                    <a:tint val="94000"/>
                  </a:schemeClr>
                </a:gs>
                <a:gs pos="50000">
                  <a:schemeClr val="accent5">
                    <a:satMod val="110000"/>
                    <a:lumMod val="100000"/>
                    <a:shade val="100000"/>
                  </a:schemeClr>
                </a:gs>
                <a:gs pos="100000">
                  <a:schemeClr val="accent5">
                    <a:lumMod val="99000"/>
                    <a:satMod val="120000"/>
                    <a:shade val="78000"/>
                  </a:schemeClr>
                </a:gs>
              </a:gsLst>
              <a:lin ang="5400000" scaled="0"/>
            </a:gradFill>
            <a:ln w="9525">
              <a:solidFill>
                <a:schemeClr val="accent5"/>
              </a:solidFill>
              <a:round/>
            </a:ln>
            <a:effectLst>
              <a:outerShdw blurRad="57150" dist="19050" dir="5400000" algn="ctr" rotWithShape="0">
                <a:srgbClr val="000000">
                  <a:alpha val="63000"/>
                </a:srgbClr>
              </a:outerShdw>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34925" cap="rnd">
            <a:solidFill>
              <a:schemeClr val="accent1"/>
            </a:solidFill>
            <a:round/>
          </a:ln>
          <a:effectLst>
            <a:outerShdw blurRad="57150" dist="19050" dir="5400000" algn="ctr" rotWithShape="0">
              <a:srgbClr val="000000">
                <a:alpha val="63000"/>
              </a:srgbClr>
            </a:outerShdw>
          </a:effectLst>
        </c:spPr>
        <c:marker>
          <c:symbol val="circle"/>
          <c:size val="6"/>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9525">
              <a:solidFill>
                <a:schemeClr val="accent1"/>
              </a:solidFill>
              <a:round/>
            </a:ln>
            <a:effectLst>
              <a:outerShdw blurRad="57150" dist="19050" dir="5400000" algn="ctr" rotWithShape="0">
                <a:srgbClr val="000000">
                  <a:alpha val="63000"/>
                </a:srgbClr>
              </a:outerShdw>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34925" cap="rnd">
            <a:solidFill>
              <a:schemeClr val="accent1"/>
            </a:solidFill>
            <a:round/>
          </a:ln>
          <a:effectLst>
            <a:outerShdw blurRad="57150" dist="19050" dir="5400000" algn="ctr" rotWithShape="0">
              <a:srgbClr val="000000">
                <a:alpha val="63000"/>
              </a:srgbClr>
            </a:outerShdw>
          </a:effectLst>
        </c:spPr>
        <c:marker>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9525">
              <a:solidFill>
                <a:schemeClr val="accent1"/>
              </a:solidFill>
              <a:round/>
            </a:ln>
            <a:effectLst>
              <a:outerShdw blurRad="57150" dist="19050" dir="5400000" algn="ctr" rotWithShape="0">
                <a:srgbClr val="000000">
                  <a:alpha val="63000"/>
                </a:srgbClr>
              </a:outerShdw>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8"/>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34925" cap="rnd">
            <a:solidFill>
              <a:schemeClr val="accent1"/>
            </a:solidFill>
            <a:round/>
          </a:ln>
          <a:effectLst>
            <a:outerShdw blurRad="57150" dist="19050" dir="5400000" algn="ctr" rotWithShape="0">
              <a:srgbClr val="000000">
                <a:alpha val="63000"/>
              </a:srgbClr>
            </a:outerShdw>
          </a:effectLst>
        </c:spPr>
        <c:marker>
          <c:symbol val="circle"/>
          <c:size val="6"/>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9525">
              <a:solidFill>
                <a:schemeClr val="accent1"/>
              </a:solidFill>
              <a:round/>
            </a:ln>
            <a:effectLst>
              <a:outerShdw blurRad="57150" dist="19050" dir="5400000" algn="ctr" rotWithShape="0">
                <a:srgbClr val="000000">
                  <a:alpha val="63000"/>
                </a:srgbClr>
              </a:outerShdw>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9"/>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34925" cap="rnd">
            <a:solidFill>
              <a:schemeClr val="accent1"/>
            </a:solidFill>
            <a:round/>
          </a:ln>
          <a:effectLst>
            <a:outerShdw blurRad="57150" dist="19050" dir="5400000" algn="ctr" rotWithShape="0">
              <a:srgbClr val="000000">
                <a:alpha val="63000"/>
              </a:srgbClr>
            </a:outerShdw>
          </a:effectLst>
        </c:spPr>
        <c:marker>
          <c:symbol val="circle"/>
          <c:size val="6"/>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w="9525">
              <a:solidFill>
                <a:schemeClr val="accent2"/>
              </a:solidFill>
              <a:round/>
            </a:ln>
            <a:effectLst>
              <a:outerShdw blurRad="57150" dist="19050" dir="5400000" algn="ctr" rotWithShape="0">
                <a:srgbClr val="000000">
                  <a:alpha val="63000"/>
                </a:srgbClr>
              </a:outerShdw>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34925" cap="rnd">
            <a:solidFill>
              <a:schemeClr val="accent1"/>
            </a:solidFill>
            <a:round/>
          </a:ln>
          <a:effectLst>
            <a:outerShdw blurRad="57150" dist="19050" dir="5400000" algn="ctr" rotWithShape="0">
              <a:srgbClr val="000000">
                <a:alpha val="63000"/>
              </a:srgbClr>
            </a:outerShdw>
          </a:effectLst>
        </c:spPr>
        <c:marker>
          <c:symbol val="circle"/>
          <c:size val="6"/>
          <c:spPr>
            <a:gradFill rotWithShape="1">
              <a:gsLst>
                <a:gs pos="0">
                  <a:schemeClr val="accent3">
                    <a:satMod val="103000"/>
                    <a:lumMod val="102000"/>
                    <a:tint val="94000"/>
                  </a:schemeClr>
                </a:gs>
                <a:gs pos="50000">
                  <a:schemeClr val="accent3">
                    <a:satMod val="110000"/>
                    <a:lumMod val="100000"/>
                    <a:shade val="100000"/>
                  </a:schemeClr>
                </a:gs>
                <a:gs pos="100000">
                  <a:schemeClr val="accent3">
                    <a:lumMod val="99000"/>
                    <a:satMod val="120000"/>
                    <a:shade val="78000"/>
                  </a:schemeClr>
                </a:gs>
              </a:gsLst>
              <a:lin ang="5400000" scaled="0"/>
            </a:gradFill>
            <a:ln w="9525">
              <a:solidFill>
                <a:schemeClr val="accent3"/>
              </a:solidFill>
              <a:round/>
            </a:ln>
            <a:effectLst>
              <a:outerShdw blurRad="57150" dist="19050" dir="5400000" algn="ctr" rotWithShape="0">
                <a:srgbClr val="000000">
                  <a:alpha val="63000"/>
                </a:srgbClr>
              </a:outerShdw>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1"/>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34925" cap="rnd">
            <a:solidFill>
              <a:schemeClr val="accent1"/>
            </a:solidFill>
            <a:round/>
          </a:ln>
          <a:effectLst>
            <a:outerShdw blurRad="57150" dist="19050" dir="5400000" algn="ctr" rotWithShape="0">
              <a:srgbClr val="000000">
                <a:alpha val="63000"/>
              </a:srgbClr>
            </a:outerShdw>
          </a:effectLst>
        </c:spPr>
        <c:marker>
          <c:symbol val="circle"/>
          <c:size val="6"/>
          <c:spPr>
            <a:gradFill rotWithShape="1">
              <a:gsLst>
                <a:gs pos="0">
                  <a:schemeClr val="accent4">
                    <a:satMod val="103000"/>
                    <a:lumMod val="102000"/>
                    <a:tint val="94000"/>
                  </a:schemeClr>
                </a:gs>
                <a:gs pos="50000">
                  <a:schemeClr val="accent4">
                    <a:satMod val="110000"/>
                    <a:lumMod val="100000"/>
                    <a:shade val="100000"/>
                  </a:schemeClr>
                </a:gs>
                <a:gs pos="100000">
                  <a:schemeClr val="accent4">
                    <a:lumMod val="99000"/>
                    <a:satMod val="120000"/>
                    <a:shade val="78000"/>
                  </a:schemeClr>
                </a:gs>
              </a:gsLst>
              <a:lin ang="5400000" scaled="0"/>
            </a:gradFill>
            <a:ln w="9525">
              <a:solidFill>
                <a:schemeClr val="accent4"/>
              </a:solidFill>
              <a:round/>
            </a:ln>
            <a:effectLst>
              <a:outerShdw blurRad="57150" dist="19050" dir="5400000" algn="ctr" rotWithShape="0">
                <a:srgbClr val="000000">
                  <a:alpha val="63000"/>
                </a:srgbClr>
              </a:outerShdw>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2"/>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34925" cap="rnd">
            <a:solidFill>
              <a:schemeClr val="accent1"/>
            </a:solidFill>
            <a:round/>
          </a:ln>
          <a:effectLst>
            <a:outerShdw blurRad="57150" dist="19050" dir="5400000" algn="ctr" rotWithShape="0">
              <a:srgbClr val="000000">
                <a:alpha val="63000"/>
              </a:srgbClr>
            </a:outerShdw>
          </a:effectLst>
        </c:spPr>
        <c:marker>
          <c:symbol val="circle"/>
          <c:size val="6"/>
          <c:spPr>
            <a:gradFill rotWithShape="1">
              <a:gsLst>
                <a:gs pos="0">
                  <a:schemeClr val="accent5">
                    <a:satMod val="103000"/>
                    <a:lumMod val="102000"/>
                    <a:tint val="94000"/>
                  </a:schemeClr>
                </a:gs>
                <a:gs pos="50000">
                  <a:schemeClr val="accent5">
                    <a:satMod val="110000"/>
                    <a:lumMod val="100000"/>
                    <a:shade val="100000"/>
                  </a:schemeClr>
                </a:gs>
                <a:gs pos="100000">
                  <a:schemeClr val="accent5">
                    <a:lumMod val="99000"/>
                    <a:satMod val="120000"/>
                    <a:shade val="78000"/>
                  </a:schemeClr>
                </a:gs>
              </a:gsLst>
              <a:lin ang="5400000" scaled="0"/>
            </a:gradFill>
            <a:ln w="9525">
              <a:solidFill>
                <a:schemeClr val="accent5"/>
              </a:solidFill>
              <a:round/>
            </a:ln>
            <a:effectLst>
              <a:outerShdw blurRad="57150" dist="19050" dir="5400000" algn="ctr" rotWithShape="0">
                <a:srgbClr val="000000">
                  <a:alpha val="63000"/>
                </a:srgbClr>
              </a:outerShdw>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3"/>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34925" cap="rnd">
            <a:solidFill>
              <a:schemeClr val="accent1"/>
            </a:solidFill>
            <a:round/>
          </a:ln>
          <a:effectLst>
            <a:outerShdw blurRad="57150" dist="19050" dir="5400000" algn="ctr" rotWithShape="0">
              <a:srgbClr val="000000">
                <a:alpha val="63000"/>
              </a:srgbClr>
            </a:outerShdw>
          </a:effectLst>
        </c:spPr>
        <c:marker>
          <c:symbol val="circle"/>
          <c:size val="6"/>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9525">
              <a:solidFill>
                <a:schemeClr val="accent1"/>
              </a:solidFill>
              <a:round/>
            </a:ln>
            <a:effectLst>
              <a:outerShdw blurRad="57150" dist="19050" dir="5400000" algn="ctr" rotWithShape="0">
                <a:srgbClr val="000000">
                  <a:alpha val="63000"/>
                </a:srgbClr>
              </a:outerShdw>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4"/>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34925" cap="rnd">
            <a:solidFill>
              <a:schemeClr val="accent1"/>
            </a:solidFill>
            <a:round/>
          </a:ln>
          <a:effectLst>
            <a:outerShdw blurRad="57150" dist="19050" dir="5400000" algn="ctr" rotWithShape="0">
              <a:srgbClr val="000000">
                <a:alpha val="63000"/>
              </a:srgbClr>
            </a:outerShdw>
          </a:effectLst>
        </c:spPr>
        <c:marker>
          <c:symbol val="circle"/>
          <c:size val="6"/>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w="9525">
              <a:solidFill>
                <a:schemeClr val="accent2"/>
              </a:solidFill>
              <a:round/>
            </a:ln>
            <a:effectLst>
              <a:outerShdw blurRad="57150" dist="19050" dir="5400000" algn="ctr" rotWithShape="0">
                <a:srgbClr val="000000">
                  <a:alpha val="63000"/>
                </a:srgbClr>
              </a:outerShdw>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5"/>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34925" cap="rnd">
            <a:solidFill>
              <a:schemeClr val="accent1"/>
            </a:solidFill>
            <a:round/>
          </a:ln>
          <a:effectLst>
            <a:outerShdw blurRad="57150" dist="19050" dir="5400000" algn="ctr" rotWithShape="0">
              <a:srgbClr val="000000">
                <a:alpha val="63000"/>
              </a:srgbClr>
            </a:outerShdw>
          </a:effectLst>
        </c:spPr>
        <c:marker>
          <c:symbol val="circle"/>
          <c:size val="6"/>
          <c:spPr>
            <a:gradFill rotWithShape="1">
              <a:gsLst>
                <a:gs pos="0">
                  <a:schemeClr val="accent3">
                    <a:satMod val="103000"/>
                    <a:lumMod val="102000"/>
                    <a:tint val="94000"/>
                  </a:schemeClr>
                </a:gs>
                <a:gs pos="50000">
                  <a:schemeClr val="accent3">
                    <a:satMod val="110000"/>
                    <a:lumMod val="100000"/>
                    <a:shade val="100000"/>
                  </a:schemeClr>
                </a:gs>
                <a:gs pos="100000">
                  <a:schemeClr val="accent3">
                    <a:lumMod val="99000"/>
                    <a:satMod val="120000"/>
                    <a:shade val="78000"/>
                  </a:schemeClr>
                </a:gs>
              </a:gsLst>
              <a:lin ang="5400000" scaled="0"/>
            </a:gradFill>
            <a:ln w="9525">
              <a:solidFill>
                <a:schemeClr val="accent3"/>
              </a:solidFill>
              <a:round/>
            </a:ln>
            <a:effectLst>
              <a:outerShdw blurRad="57150" dist="19050" dir="5400000" algn="ctr" rotWithShape="0">
                <a:srgbClr val="000000">
                  <a:alpha val="63000"/>
                </a:srgbClr>
              </a:outerShdw>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6"/>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34925" cap="rnd">
            <a:solidFill>
              <a:schemeClr val="accent1"/>
            </a:solidFill>
            <a:round/>
          </a:ln>
          <a:effectLst>
            <a:outerShdw blurRad="57150" dist="19050" dir="5400000" algn="ctr" rotWithShape="0">
              <a:srgbClr val="000000">
                <a:alpha val="63000"/>
              </a:srgbClr>
            </a:outerShdw>
          </a:effectLst>
        </c:spPr>
        <c:marker>
          <c:symbol val="circle"/>
          <c:size val="6"/>
          <c:spPr>
            <a:gradFill rotWithShape="1">
              <a:gsLst>
                <a:gs pos="0">
                  <a:schemeClr val="accent4">
                    <a:satMod val="103000"/>
                    <a:lumMod val="102000"/>
                    <a:tint val="94000"/>
                  </a:schemeClr>
                </a:gs>
                <a:gs pos="50000">
                  <a:schemeClr val="accent4">
                    <a:satMod val="110000"/>
                    <a:lumMod val="100000"/>
                    <a:shade val="100000"/>
                  </a:schemeClr>
                </a:gs>
                <a:gs pos="100000">
                  <a:schemeClr val="accent4">
                    <a:lumMod val="99000"/>
                    <a:satMod val="120000"/>
                    <a:shade val="78000"/>
                  </a:schemeClr>
                </a:gs>
              </a:gsLst>
              <a:lin ang="5400000" scaled="0"/>
            </a:gradFill>
            <a:ln w="9525">
              <a:solidFill>
                <a:schemeClr val="accent4"/>
              </a:solidFill>
              <a:round/>
            </a:ln>
            <a:effectLst>
              <a:outerShdw blurRad="57150" dist="19050" dir="5400000" algn="ctr" rotWithShape="0">
                <a:srgbClr val="000000">
                  <a:alpha val="63000"/>
                </a:srgbClr>
              </a:outerShdw>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7"/>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34925" cap="rnd">
            <a:solidFill>
              <a:schemeClr val="accent1"/>
            </a:solidFill>
            <a:round/>
          </a:ln>
          <a:effectLst>
            <a:outerShdw blurRad="57150" dist="19050" dir="5400000" algn="ctr" rotWithShape="0">
              <a:srgbClr val="000000">
                <a:alpha val="63000"/>
              </a:srgbClr>
            </a:outerShdw>
          </a:effectLst>
        </c:spPr>
        <c:marker>
          <c:symbol val="circle"/>
          <c:size val="6"/>
          <c:spPr>
            <a:gradFill rotWithShape="1">
              <a:gsLst>
                <a:gs pos="0">
                  <a:schemeClr val="accent5">
                    <a:satMod val="103000"/>
                    <a:lumMod val="102000"/>
                    <a:tint val="94000"/>
                  </a:schemeClr>
                </a:gs>
                <a:gs pos="50000">
                  <a:schemeClr val="accent5">
                    <a:satMod val="110000"/>
                    <a:lumMod val="100000"/>
                    <a:shade val="100000"/>
                  </a:schemeClr>
                </a:gs>
                <a:gs pos="100000">
                  <a:schemeClr val="accent5">
                    <a:lumMod val="99000"/>
                    <a:satMod val="120000"/>
                    <a:shade val="78000"/>
                  </a:schemeClr>
                </a:gs>
              </a:gsLst>
              <a:lin ang="5400000" scaled="0"/>
            </a:gradFill>
            <a:ln w="9525">
              <a:solidFill>
                <a:schemeClr val="accent5"/>
              </a:solidFill>
              <a:round/>
            </a:ln>
            <a:effectLst>
              <a:outerShdw blurRad="57150" dist="19050" dir="5400000" algn="ctr" rotWithShape="0">
                <a:srgbClr val="000000">
                  <a:alpha val="63000"/>
                </a:srgbClr>
              </a:outerShdw>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lineChart>
        <c:grouping val="stacked"/>
        <c:varyColors val="0"/>
        <c:ser>
          <c:idx val="0"/>
          <c:order val="0"/>
          <c:tx>
            <c:strRef>
              <c:f>SALES!$B$38:$B$39</c:f>
              <c:strCache>
                <c:ptCount val="1"/>
                <c:pt idx="0">
                  <c:v>Mon</c:v>
                </c:pt>
              </c:strCache>
            </c:strRef>
          </c:tx>
          <c:spPr>
            <a:ln w="34925" cap="rnd">
              <a:solidFill>
                <a:schemeClr val="accent1"/>
              </a:solidFill>
              <a:round/>
            </a:ln>
            <a:effectLst>
              <a:outerShdw blurRad="57150" dist="19050" dir="5400000" algn="ctr" rotWithShape="0">
                <a:srgbClr val="000000">
                  <a:alpha val="63000"/>
                </a:srgbClr>
              </a:outerShdw>
            </a:effectLst>
          </c:spPr>
          <c:marker>
            <c:symbol val="circle"/>
            <c:size val="6"/>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9525">
                <a:solidFill>
                  <a:schemeClr val="accent1"/>
                </a:solidFill>
                <a:round/>
              </a:ln>
              <a:effectLst>
                <a:outerShdw blurRad="57150" dist="19050" dir="5400000" algn="ctr" rotWithShape="0">
                  <a:srgbClr val="000000">
                    <a:alpha val="63000"/>
                  </a:srgbClr>
                </a:outerShdw>
              </a:effectLst>
            </c:spPr>
          </c:marker>
          <c:cat>
            <c:strRef>
              <c:f>SALES!$A$40:$A$70</c:f>
              <c:strCache>
                <c:ptCount val="30"/>
                <c:pt idx="0">
                  <c:v>Acura</c:v>
                </c:pt>
                <c:pt idx="1">
                  <c:v>Audi</c:v>
                </c:pt>
                <c:pt idx="2">
                  <c:v>BMW</c:v>
                </c:pt>
                <c:pt idx="3">
                  <c:v>Buick</c:v>
                </c:pt>
                <c:pt idx="4">
                  <c:v>Cadillac</c:v>
                </c:pt>
                <c:pt idx="5">
                  <c:v>Chevrolet</c:v>
                </c:pt>
                <c:pt idx="6">
                  <c:v>Chrysler</c:v>
                </c:pt>
                <c:pt idx="7">
                  <c:v>Dodge</c:v>
                </c:pt>
                <c:pt idx="8">
                  <c:v>Ford</c:v>
                </c:pt>
                <c:pt idx="9">
                  <c:v>GMC</c:v>
                </c:pt>
                <c:pt idx="10">
                  <c:v>Honda</c:v>
                </c:pt>
                <c:pt idx="11">
                  <c:v>HUMMER</c:v>
                </c:pt>
                <c:pt idx="12">
                  <c:v>Hyundai</c:v>
                </c:pt>
                <c:pt idx="13">
                  <c:v>Infiniti</c:v>
                </c:pt>
                <c:pt idx="14">
                  <c:v>Jeep</c:v>
                </c:pt>
                <c:pt idx="15">
                  <c:v>Kia</c:v>
                </c:pt>
                <c:pt idx="16">
                  <c:v>Land Rover</c:v>
                </c:pt>
                <c:pt idx="17">
                  <c:v>Lexus</c:v>
                </c:pt>
                <c:pt idx="18">
                  <c:v>Lincoln</c:v>
                </c:pt>
                <c:pt idx="19">
                  <c:v>Maserati</c:v>
                </c:pt>
                <c:pt idx="20">
                  <c:v>Mazda</c:v>
                </c:pt>
                <c:pt idx="21">
                  <c:v>Mercedes-Benz</c:v>
                </c:pt>
                <c:pt idx="22">
                  <c:v>MINI</c:v>
                </c:pt>
                <c:pt idx="23">
                  <c:v>Mitsubishi</c:v>
                </c:pt>
                <c:pt idx="24">
                  <c:v>Nissan</c:v>
                </c:pt>
                <c:pt idx="25">
                  <c:v>Pontiac</c:v>
                </c:pt>
                <c:pt idx="26">
                  <c:v>Porsche</c:v>
                </c:pt>
                <c:pt idx="27">
                  <c:v>Subaru</c:v>
                </c:pt>
                <c:pt idx="28">
                  <c:v>Toyota</c:v>
                </c:pt>
                <c:pt idx="29">
                  <c:v>Volkswagen</c:v>
                </c:pt>
              </c:strCache>
            </c:strRef>
          </c:cat>
          <c:val>
            <c:numRef>
              <c:f>SALES!$B$40:$B$70</c:f>
              <c:numCache>
                <c:formatCode>General</c:formatCode>
                <c:ptCount val="30"/>
                <c:pt idx="3">
                  <c:v>2600</c:v>
                </c:pt>
                <c:pt idx="4">
                  <c:v>37800</c:v>
                </c:pt>
                <c:pt idx="5">
                  <c:v>104800</c:v>
                </c:pt>
                <c:pt idx="6">
                  <c:v>5700</c:v>
                </c:pt>
                <c:pt idx="7">
                  <c:v>21500</c:v>
                </c:pt>
                <c:pt idx="12">
                  <c:v>8800</c:v>
                </c:pt>
                <c:pt idx="13">
                  <c:v>23000</c:v>
                </c:pt>
                <c:pt idx="14">
                  <c:v>52600</c:v>
                </c:pt>
                <c:pt idx="16">
                  <c:v>53500</c:v>
                </c:pt>
                <c:pt idx="20">
                  <c:v>21000</c:v>
                </c:pt>
                <c:pt idx="21">
                  <c:v>12000</c:v>
                </c:pt>
                <c:pt idx="23">
                  <c:v>600</c:v>
                </c:pt>
                <c:pt idx="24">
                  <c:v>6700</c:v>
                </c:pt>
                <c:pt idx="28">
                  <c:v>8400</c:v>
                </c:pt>
              </c:numCache>
            </c:numRef>
          </c:val>
          <c:smooth val="0"/>
          <c:extLst>
            <c:ext xmlns:c16="http://schemas.microsoft.com/office/drawing/2014/chart" uri="{C3380CC4-5D6E-409C-BE32-E72D297353CC}">
              <c16:uniqueId val="{00000000-3244-4D43-AF08-434B7271EF7E}"/>
            </c:ext>
          </c:extLst>
        </c:ser>
        <c:ser>
          <c:idx val="1"/>
          <c:order val="1"/>
          <c:tx>
            <c:strRef>
              <c:f>SALES!$C$38:$C$39</c:f>
              <c:strCache>
                <c:ptCount val="1"/>
                <c:pt idx="0">
                  <c:v>Tue</c:v>
                </c:pt>
              </c:strCache>
            </c:strRef>
          </c:tx>
          <c:spPr>
            <a:ln w="34925" cap="rnd">
              <a:solidFill>
                <a:schemeClr val="accent2"/>
              </a:solidFill>
              <a:round/>
            </a:ln>
            <a:effectLst>
              <a:outerShdw blurRad="57150" dist="19050" dir="5400000" algn="ctr" rotWithShape="0">
                <a:srgbClr val="000000">
                  <a:alpha val="63000"/>
                </a:srgbClr>
              </a:outerShdw>
            </a:effectLst>
          </c:spPr>
          <c:marker>
            <c:symbol val="circle"/>
            <c:size val="6"/>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w="9525">
                <a:solidFill>
                  <a:schemeClr val="accent2"/>
                </a:solidFill>
                <a:round/>
              </a:ln>
              <a:effectLst>
                <a:outerShdw blurRad="57150" dist="19050" dir="5400000" algn="ctr" rotWithShape="0">
                  <a:srgbClr val="000000">
                    <a:alpha val="63000"/>
                  </a:srgbClr>
                </a:outerShdw>
              </a:effectLst>
            </c:spPr>
          </c:marker>
          <c:cat>
            <c:strRef>
              <c:f>SALES!$A$40:$A$70</c:f>
              <c:strCache>
                <c:ptCount val="30"/>
                <c:pt idx="0">
                  <c:v>Acura</c:v>
                </c:pt>
                <c:pt idx="1">
                  <c:v>Audi</c:v>
                </c:pt>
                <c:pt idx="2">
                  <c:v>BMW</c:v>
                </c:pt>
                <c:pt idx="3">
                  <c:v>Buick</c:v>
                </c:pt>
                <c:pt idx="4">
                  <c:v>Cadillac</c:v>
                </c:pt>
                <c:pt idx="5">
                  <c:v>Chevrolet</c:v>
                </c:pt>
                <c:pt idx="6">
                  <c:v>Chrysler</c:v>
                </c:pt>
                <c:pt idx="7">
                  <c:v>Dodge</c:v>
                </c:pt>
                <c:pt idx="8">
                  <c:v>Ford</c:v>
                </c:pt>
                <c:pt idx="9">
                  <c:v>GMC</c:v>
                </c:pt>
                <c:pt idx="10">
                  <c:v>Honda</c:v>
                </c:pt>
                <c:pt idx="11">
                  <c:v>HUMMER</c:v>
                </c:pt>
                <c:pt idx="12">
                  <c:v>Hyundai</c:v>
                </c:pt>
                <c:pt idx="13">
                  <c:v>Infiniti</c:v>
                </c:pt>
                <c:pt idx="14">
                  <c:v>Jeep</c:v>
                </c:pt>
                <c:pt idx="15">
                  <c:v>Kia</c:v>
                </c:pt>
                <c:pt idx="16">
                  <c:v>Land Rover</c:v>
                </c:pt>
                <c:pt idx="17">
                  <c:v>Lexus</c:v>
                </c:pt>
                <c:pt idx="18">
                  <c:v>Lincoln</c:v>
                </c:pt>
                <c:pt idx="19">
                  <c:v>Maserati</c:v>
                </c:pt>
                <c:pt idx="20">
                  <c:v>Mazda</c:v>
                </c:pt>
                <c:pt idx="21">
                  <c:v>Mercedes-Benz</c:v>
                </c:pt>
                <c:pt idx="22">
                  <c:v>MINI</c:v>
                </c:pt>
                <c:pt idx="23">
                  <c:v>Mitsubishi</c:v>
                </c:pt>
                <c:pt idx="24">
                  <c:v>Nissan</c:v>
                </c:pt>
                <c:pt idx="25">
                  <c:v>Pontiac</c:v>
                </c:pt>
                <c:pt idx="26">
                  <c:v>Porsche</c:v>
                </c:pt>
                <c:pt idx="27">
                  <c:v>Subaru</c:v>
                </c:pt>
                <c:pt idx="28">
                  <c:v>Toyota</c:v>
                </c:pt>
                <c:pt idx="29">
                  <c:v>Volkswagen</c:v>
                </c:pt>
              </c:strCache>
            </c:strRef>
          </c:cat>
          <c:val>
            <c:numRef>
              <c:f>SALES!$C$40:$C$70</c:f>
              <c:numCache>
                <c:formatCode>General</c:formatCode>
                <c:ptCount val="30"/>
                <c:pt idx="0">
                  <c:v>6900</c:v>
                </c:pt>
                <c:pt idx="1">
                  <c:v>18700</c:v>
                </c:pt>
                <c:pt idx="2">
                  <c:v>11300</c:v>
                </c:pt>
                <c:pt idx="3">
                  <c:v>37400</c:v>
                </c:pt>
                <c:pt idx="4">
                  <c:v>50850</c:v>
                </c:pt>
                <c:pt idx="5">
                  <c:v>350900</c:v>
                </c:pt>
                <c:pt idx="6">
                  <c:v>38650</c:v>
                </c:pt>
                <c:pt idx="7">
                  <c:v>120501</c:v>
                </c:pt>
                <c:pt idx="8">
                  <c:v>511351</c:v>
                </c:pt>
                <c:pt idx="9">
                  <c:v>19100</c:v>
                </c:pt>
                <c:pt idx="10">
                  <c:v>15700</c:v>
                </c:pt>
                <c:pt idx="12">
                  <c:v>213000</c:v>
                </c:pt>
                <c:pt idx="13">
                  <c:v>66800</c:v>
                </c:pt>
                <c:pt idx="14">
                  <c:v>79400</c:v>
                </c:pt>
                <c:pt idx="15">
                  <c:v>140950</c:v>
                </c:pt>
                <c:pt idx="17">
                  <c:v>98700</c:v>
                </c:pt>
                <c:pt idx="18">
                  <c:v>26200</c:v>
                </c:pt>
                <c:pt idx="20">
                  <c:v>64900</c:v>
                </c:pt>
                <c:pt idx="21">
                  <c:v>155400</c:v>
                </c:pt>
                <c:pt idx="22">
                  <c:v>43150</c:v>
                </c:pt>
                <c:pt idx="23">
                  <c:v>12600</c:v>
                </c:pt>
                <c:pt idx="24">
                  <c:v>210900</c:v>
                </c:pt>
                <c:pt idx="25">
                  <c:v>8700</c:v>
                </c:pt>
                <c:pt idx="28">
                  <c:v>340950</c:v>
                </c:pt>
                <c:pt idx="29">
                  <c:v>70300</c:v>
                </c:pt>
              </c:numCache>
            </c:numRef>
          </c:val>
          <c:smooth val="0"/>
          <c:extLst>
            <c:ext xmlns:c16="http://schemas.microsoft.com/office/drawing/2014/chart" uri="{C3380CC4-5D6E-409C-BE32-E72D297353CC}">
              <c16:uniqueId val="{00000001-3244-4D43-AF08-434B7271EF7E}"/>
            </c:ext>
          </c:extLst>
        </c:ser>
        <c:ser>
          <c:idx val="2"/>
          <c:order val="2"/>
          <c:tx>
            <c:strRef>
              <c:f>SALES!$D$38:$D$39</c:f>
              <c:strCache>
                <c:ptCount val="1"/>
                <c:pt idx="0">
                  <c:v>Wed</c:v>
                </c:pt>
              </c:strCache>
            </c:strRef>
          </c:tx>
          <c:spPr>
            <a:ln w="34925" cap="rnd">
              <a:solidFill>
                <a:schemeClr val="accent3"/>
              </a:solidFill>
              <a:round/>
            </a:ln>
            <a:effectLst>
              <a:outerShdw blurRad="57150" dist="19050" dir="5400000" algn="ctr" rotWithShape="0">
                <a:srgbClr val="000000">
                  <a:alpha val="63000"/>
                </a:srgbClr>
              </a:outerShdw>
            </a:effectLst>
          </c:spPr>
          <c:marker>
            <c:symbol val="circle"/>
            <c:size val="6"/>
            <c:spPr>
              <a:gradFill rotWithShape="1">
                <a:gsLst>
                  <a:gs pos="0">
                    <a:schemeClr val="accent3">
                      <a:satMod val="103000"/>
                      <a:lumMod val="102000"/>
                      <a:tint val="94000"/>
                    </a:schemeClr>
                  </a:gs>
                  <a:gs pos="50000">
                    <a:schemeClr val="accent3">
                      <a:satMod val="110000"/>
                      <a:lumMod val="100000"/>
                      <a:shade val="100000"/>
                    </a:schemeClr>
                  </a:gs>
                  <a:gs pos="100000">
                    <a:schemeClr val="accent3">
                      <a:lumMod val="99000"/>
                      <a:satMod val="120000"/>
                      <a:shade val="78000"/>
                    </a:schemeClr>
                  </a:gs>
                </a:gsLst>
                <a:lin ang="5400000" scaled="0"/>
              </a:gradFill>
              <a:ln w="9525">
                <a:solidFill>
                  <a:schemeClr val="accent3"/>
                </a:solidFill>
                <a:round/>
              </a:ln>
              <a:effectLst>
                <a:outerShdw blurRad="57150" dist="19050" dir="5400000" algn="ctr" rotWithShape="0">
                  <a:srgbClr val="000000">
                    <a:alpha val="63000"/>
                  </a:srgbClr>
                </a:outerShdw>
              </a:effectLst>
            </c:spPr>
          </c:marker>
          <c:cat>
            <c:strRef>
              <c:f>SALES!$A$40:$A$70</c:f>
              <c:strCache>
                <c:ptCount val="30"/>
                <c:pt idx="0">
                  <c:v>Acura</c:v>
                </c:pt>
                <c:pt idx="1">
                  <c:v>Audi</c:v>
                </c:pt>
                <c:pt idx="2">
                  <c:v>BMW</c:v>
                </c:pt>
                <c:pt idx="3">
                  <c:v>Buick</c:v>
                </c:pt>
                <c:pt idx="4">
                  <c:v>Cadillac</c:v>
                </c:pt>
                <c:pt idx="5">
                  <c:v>Chevrolet</c:v>
                </c:pt>
                <c:pt idx="6">
                  <c:v>Chrysler</c:v>
                </c:pt>
                <c:pt idx="7">
                  <c:v>Dodge</c:v>
                </c:pt>
                <c:pt idx="8">
                  <c:v>Ford</c:v>
                </c:pt>
                <c:pt idx="9">
                  <c:v>GMC</c:v>
                </c:pt>
                <c:pt idx="10">
                  <c:v>Honda</c:v>
                </c:pt>
                <c:pt idx="11">
                  <c:v>HUMMER</c:v>
                </c:pt>
                <c:pt idx="12">
                  <c:v>Hyundai</c:v>
                </c:pt>
                <c:pt idx="13">
                  <c:v>Infiniti</c:v>
                </c:pt>
                <c:pt idx="14">
                  <c:v>Jeep</c:v>
                </c:pt>
                <c:pt idx="15">
                  <c:v>Kia</c:v>
                </c:pt>
                <c:pt idx="16">
                  <c:v>Land Rover</c:v>
                </c:pt>
                <c:pt idx="17">
                  <c:v>Lexus</c:v>
                </c:pt>
                <c:pt idx="18">
                  <c:v>Lincoln</c:v>
                </c:pt>
                <c:pt idx="19">
                  <c:v>Maserati</c:v>
                </c:pt>
                <c:pt idx="20">
                  <c:v>Mazda</c:v>
                </c:pt>
                <c:pt idx="21">
                  <c:v>Mercedes-Benz</c:v>
                </c:pt>
                <c:pt idx="22">
                  <c:v>MINI</c:v>
                </c:pt>
                <c:pt idx="23">
                  <c:v>Mitsubishi</c:v>
                </c:pt>
                <c:pt idx="24">
                  <c:v>Nissan</c:v>
                </c:pt>
                <c:pt idx="25">
                  <c:v>Pontiac</c:v>
                </c:pt>
                <c:pt idx="26">
                  <c:v>Porsche</c:v>
                </c:pt>
                <c:pt idx="27">
                  <c:v>Subaru</c:v>
                </c:pt>
                <c:pt idx="28">
                  <c:v>Toyota</c:v>
                </c:pt>
                <c:pt idx="29">
                  <c:v>Volkswagen</c:v>
                </c:pt>
              </c:strCache>
            </c:strRef>
          </c:cat>
          <c:val>
            <c:numRef>
              <c:f>SALES!$D$40:$D$70</c:f>
              <c:numCache>
                <c:formatCode>General</c:formatCode>
                <c:ptCount val="30"/>
                <c:pt idx="0">
                  <c:v>84050</c:v>
                </c:pt>
                <c:pt idx="1">
                  <c:v>140650</c:v>
                </c:pt>
                <c:pt idx="2">
                  <c:v>141700</c:v>
                </c:pt>
                <c:pt idx="3">
                  <c:v>14500</c:v>
                </c:pt>
                <c:pt idx="4">
                  <c:v>77100</c:v>
                </c:pt>
                <c:pt idx="5">
                  <c:v>346100</c:v>
                </c:pt>
                <c:pt idx="6">
                  <c:v>14750</c:v>
                </c:pt>
                <c:pt idx="7">
                  <c:v>189050</c:v>
                </c:pt>
                <c:pt idx="8">
                  <c:v>592700</c:v>
                </c:pt>
                <c:pt idx="9">
                  <c:v>75500</c:v>
                </c:pt>
                <c:pt idx="10">
                  <c:v>148800</c:v>
                </c:pt>
                <c:pt idx="11">
                  <c:v>27500</c:v>
                </c:pt>
                <c:pt idx="12">
                  <c:v>72800</c:v>
                </c:pt>
                <c:pt idx="13">
                  <c:v>136200</c:v>
                </c:pt>
                <c:pt idx="14">
                  <c:v>69200</c:v>
                </c:pt>
                <c:pt idx="15">
                  <c:v>163400</c:v>
                </c:pt>
                <c:pt idx="16">
                  <c:v>54600</c:v>
                </c:pt>
                <c:pt idx="17">
                  <c:v>13000</c:v>
                </c:pt>
                <c:pt idx="18">
                  <c:v>95500</c:v>
                </c:pt>
                <c:pt idx="20">
                  <c:v>32400</c:v>
                </c:pt>
                <c:pt idx="21">
                  <c:v>149150</c:v>
                </c:pt>
                <c:pt idx="24">
                  <c:v>322200</c:v>
                </c:pt>
                <c:pt idx="25">
                  <c:v>17400</c:v>
                </c:pt>
                <c:pt idx="27">
                  <c:v>31100</c:v>
                </c:pt>
                <c:pt idx="28">
                  <c:v>370050</c:v>
                </c:pt>
                <c:pt idx="29">
                  <c:v>97100</c:v>
                </c:pt>
              </c:numCache>
            </c:numRef>
          </c:val>
          <c:smooth val="0"/>
          <c:extLst>
            <c:ext xmlns:c16="http://schemas.microsoft.com/office/drawing/2014/chart" uri="{C3380CC4-5D6E-409C-BE32-E72D297353CC}">
              <c16:uniqueId val="{00000002-3244-4D43-AF08-434B7271EF7E}"/>
            </c:ext>
          </c:extLst>
        </c:ser>
        <c:ser>
          <c:idx val="3"/>
          <c:order val="3"/>
          <c:tx>
            <c:strRef>
              <c:f>SALES!$E$38:$E$39</c:f>
              <c:strCache>
                <c:ptCount val="1"/>
                <c:pt idx="0">
                  <c:v>Thu</c:v>
                </c:pt>
              </c:strCache>
            </c:strRef>
          </c:tx>
          <c:spPr>
            <a:ln w="34925" cap="rnd">
              <a:solidFill>
                <a:schemeClr val="accent4"/>
              </a:solidFill>
              <a:round/>
            </a:ln>
            <a:effectLst>
              <a:outerShdw blurRad="57150" dist="19050" dir="5400000" algn="ctr" rotWithShape="0">
                <a:srgbClr val="000000">
                  <a:alpha val="63000"/>
                </a:srgbClr>
              </a:outerShdw>
            </a:effectLst>
          </c:spPr>
          <c:marker>
            <c:symbol val="circle"/>
            <c:size val="6"/>
            <c:spPr>
              <a:gradFill rotWithShape="1">
                <a:gsLst>
                  <a:gs pos="0">
                    <a:schemeClr val="accent4">
                      <a:satMod val="103000"/>
                      <a:lumMod val="102000"/>
                      <a:tint val="94000"/>
                    </a:schemeClr>
                  </a:gs>
                  <a:gs pos="50000">
                    <a:schemeClr val="accent4">
                      <a:satMod val="110000"/>
                      <a:lumMod val="100000"/>
                      <a:shade val="100000"/>
                    </a:schemeClr>
                  </a:gs>
                  <a:gs pos="100000">
                    <a:schemeClr val="accent4">
                      <a:lumMod val="99000"/>
                      <a:satMod val="120000"/>
                      <a:shade val="78000"/>
                    </a:schemeClr>
                  </a:gs>
                </a:gsLst>
                <a:lin ang="5400000" scaled="0"/>
              </a:gradFill>
              <a:ln w="9525">
                <a:solidFill>
                  <a:schemeClr val="accent4"/>
                </a:solidFill>
                <a:round/>
              </a:ln>
              <a:effectLst>
                <a:outerShdw blurRad="57150" dist="19050" dir="5400000" algn="ctr" rotWithShape="0">
                  <a:srgbClr val="000000">
                    <a:alpha val="63000"/>
                  </a:srgbClr>
                </a:outerShdw>
              </a:effectLst>
            </c:spPr>
          </c:marker>
          <c:cat>
            <c:strRef>
              <c:f>SALES!$A$40:$A$70</c:f>
              <c:strCache>
                <c:ptCount val="30"/>
                <c:pt idx="0">
                  <c:v>Acura</c:v>
                </c:pt>
                <c:pt idx="1">
                  <c:v>Audi</c:v>
                </c:pt>
                <c:pt idx="2">
                  <c:v>BMW</c:v>
                </c:pt>
                <c:pt idx="3">
                  <c:v>Buick</c:v>
                </c:pt>
                <c:pt idx="4">
                  <c:v>Cadillac</c:v>
                </c:pt>
                <c:pt idx="5">
                  <c:v>Chevrolet</c:v>
                </c:pt>
                <c:pt idx="6">
                  <c:v>Chrysler</c:v>
                </c:pt>
                <c:pt idx="7">
                  <c:v>Dodge</c:v>
                </c:pt>
                <c:pt idx="8">
                  <c:v>Ford</c:v>
                </c:pt>
                <c:pt idx="9">
                  <c:v>GMC</c:v>
                </c:pt>
                <c:pt idx="10">
                  <c:v>Honda</c:v>
                </c:pt>
                <c:pt idx="11">
                  <c:v>HUMMER</c:v>
                </c:pt>
                <c:pt idx="12">
                  <c:v>Hyundai</c:v>
                </c:pt>
                <c:pt idx="13">
                  <c:v>Infiniti</c:v>
                </c:pt>
                <c:pt idx="14">
                  <c:v>Jeep</c:v>
                </c:pt>
                <c:pt idx="15">
                  <c:v>Kia</c:v>
                </c:pt>
                <c:pt idx="16">
                  <c:v>Land Rover</c:v>
                </c:pt>
                <c:pt idx="17">
                  <c:v>Lexus</c:v>
                </c:pt>
                <c:pt idx="18">
                  <c:v>Lincoln</c:v>
                </c:pt>
                <c:pt idx="19">
                  <c:v>Maserati</c:v>
                </c:pt>
                <c:pt idx="20">
                  <c:v>Mazda</c:v>
                </c:pt>
                <c:pt idx="21">
                  <c:v>Mercedes-Benz</c:v>
                </c:pt>
                <c:pt idx="22">
                  <c:v>MINI</c:v>
                </c:pt>
                <c:pt idx="23">
                  <c:v>Mitsubishi</c:v>
                </c:pt>
                <c:pt idx="24">
                  <c:v>Nissan</c:v>
                </c:pt>
                <c:pt idx="25">
                  <c:v>Pontiac</c:v>
                </c:pt>
                <c:pt idx="26">
                  <c:v>Porsche</c:v>
                </c:pt>
                <c:pt idx="27">
                  <c:v>Subaru</c:v>
                </c:pt>
                <c:pt idx="28">
                  <c:v>Toyota</c:v>
                </c:pt>
                <c:pt idx="29">
                  <c:v>Volkswagen</c:v>
                </c:pt>
              </c:strCache>
            </c:strRef>
          </c:cat>
          <c:val>
            <c:numRef>
              <c:f>SALES!$E$40:$E$70</c:f>
              <c:numCache>
                <c:formatCode>General</c:formatCode>
                <c:ptCount val="30"/>
                <c:pt idx="0">
                  <c:v>46750</c:v>
                </c:pt>
                <c:pt idx="1">
                  <c:v>57050</c:v>
                </c:pt>
                <c:pt idx="2">
                  <c:v>146800</c:v>
                </c:pt>
                <c:pt idx="3">
                  <c:v>23600</c:v>
                </c:pt>
                <c:pt idx="4">
                  <c:v>55200</c:v>
                </c:pt>
                <c:pt idx="5">
                  <c:v>333850</c:v>
                </c:pt>
                <c:pt idx="6">
                  <c:v>41050</c:v>
                </c:pt>
                <c:pt idx="7">
                  <c:v>100100</c:v>
                </c:pt>
                <c:pt idx="8">
                  <c:v>508100</c:v>
                </c:pt>
                <c:pt idx="9">
                  <c:v>54800</c:v>
                </c:pt>
                <c:pt idx="10">
                  <c:v>137900</c:v>
                </c:pt>
                <c:pt idx="12">
                  <c:v>88600</c:v>
                </c:pt>
                <c:pt idx="13">
                  <c:v>202150</c:v>
                </c:pt>
                <c:pt idx="14">
                  <c:v>71400</c:v>
                </c:pt>
                <c:pt idx="15">
                  <c:v>60300</c:v>
                </c:pt>
                <c:pt idx="16">
                  <c:v>102300</c:v>
                </c:pt>
                <c:pt idx="17">
                  <c:v>5200</c:v>
                </c:pt>
                <c:pt idx="18">
                  <c:v>49500</c:v>
                </c:pt>
                <c:pt idx="19">
                  <c:v>49500</c:v>
                </c:pt>
                <c:pt idx="20">
                  <c:v>12900</c:v>
                </c:pt>
                <c:pt idx="21">
                  <c:v>217750</c:v>
                </c:pt>
                <c:pt idx="22">
                  <c:v>52700</c:v>
                </c:pt>
                <c:pt idx="23">
                  <c:v>24300</c:v>
                </c:pt>
                <c:pt idx="24">
                  <c:v>151400</c:v>
                </c:pt>
                <c:pt idx="25">
                  <c:v>15200</c:v>
                </c:pt>
                <c:pt idx="27">
                  <c:v>67400</c:v>
                </c:pt>
                <c:pt idx="28">
                  <c:v>162500</c:v>
                </c:pt>
                <c:pt idx="29">
                  <c:v>26700</c:v>
                </c:pt>
              </c:numCache>
            </c:numRef>
          </c:val>
          <c:smooth val="0"/>
          <c:extLst>
            <c:ext xmlns:c16="http://schemas.microsoft.com/office/drawing/2014/chart" uri="{C3380CC4-5D6E-409C-BE32-E72D297353CC}">
              <c16:uniqueId val="{00000003-3244-4D43-AF08-434B7271EF7E}"/>
            </c:ext>
          </c:extLst>
        </c:ser>
        <c:ser>
          <c:idx val="4"/>
          <c:order val="4"/>
          <c:tx>
            <c:strRef>
              <c:f>SALES!$F$38:$F$39</c:f>
              <c:strCache>
                <c:ptCount val="1"/>
                <c:pt idx="0">
                  <c:v>Fri</c:v>
                </c:pt>
              </c:strCache>
            </c:strRef>
          </c:tx>
          <c:spPr>
            <a:ln w="34925" cap="rnd">
              <a:solidFill>
                <a:schemeClr val="accent5"/>
              </a:solidFill>
              <a:round/>
            </a:ln>
            <a:effectLst>
              <a:outerShdw blurRad="57150" dist="19050" dir="5400000" algn="ctr" rotWithShape="0">
                <a:srgbClr val="000000">
                  <a:alpha val="63000"/>
                </a:srgbClr>
              </a:outerShdw>
            </a:effectLst>
          </c:spPr>
          <c:marker>
            <c:symbol val="circle"/>
            <c:size val="6"/>
            <c:spPr>
              <a:gradFill rotWithShape="1">
                <a:gsLst>
                  <a:gs pos="0">
                    <a:schemeClr val="accent5">
                      <a:satMod val="103000"/>
                      <a:lumMod val="102000"/>
                      <a:tint val="94000"/>
                    </a:schemeClr>
                  </a:gs>
                  <a:gs pos="50000">
                    <a:schemeClr val="accent5">
                      <a:satMod val="110000"/>
                      <a:lumMod val="100000"/>
                      <a:shade val="100000"/>
                    </a:schemeClr>
                  </a:gs>
                  <a:gs pos="100000">
                    <a:schemeClr val="accent5">
                      <a:lumMod val="99000"/>
                      <a:satMod val="120000"/>
                      <a:shade val="78000"/>
                    </a:schemeClr>
                  </a:gs>
                </a:gsLst>
                <a:lin ang="5400000" scaled="0"/>
              </a:gradFill>
              <a:ln w="9525">
                <a:solidFill>
                  <a:schemeClr val="accent5"/>
                </a:solidFill>
                <a:round/>
              </a:ln>
              <a:effectLst>
                <a:outerShdw blurRad="57150" dist="19050" dir="5400000" algn="ctr" rotWithShape="0">
                  <a:srgbClr val="000000">
                    <a:alpha val="63000"/>
                  </a:srgbClr>
                </a:outerShdw>
              </a:effectLst>
            </c:spPr>
          </c:marker>
          <c:cat>
            <c:strRef>
              <c:f>SALES!$A$40:$A$70</c:f>
              <c:strCache>
                <c:ptCount val="30"/>
                <c:pt idx="0">
                  <c:v>Acura</c:v>
                </c:pt>
                <c:pt idx="1">
                  <c:v>Audi</c:v>
                </c:pt>
                <c:pt idx="2">
                  <c:v>BMW</c:v>
                </c:pt>
                <c:pt idx="3">
                  <c:v>Buick</c:v>
                </c:pt>
                <c:pt idx="4">
                  <c:v>Cadillac</c:v>
                </c:pt>
                <c:pt idx="5">
                  <c:v>Chevrolet</c:v>
                </c:pt>
                <c:pt idx="6">
                  <c:v>Chrysler</c:v>
                </c:pt>
                <c:pt idx="7">
                  <c:v>Dodge</c:v>
                </c:pt>
                <c:pt idx="8">
                  <c:v>Ford</c:v>
                </c:pt>
                <c:pt idx="9">
                  <c:v>GMC</c:v>
                </c:pt>
                <c:pt idx="10">
                  <c:v>Honda</c:v>
                </c:pt>
                <c:pt idx="11">
                  <c:v>HUMMER</c:v>
                </c:pt>
                <c:pt idx="12">
                  <c:v>Hyundai</c:v>
                </c:pt>
                <c:pt idx="13">
                  <c:v>Infiniti</c:v>
                </c:pt>
                <c:pt idx="14">
                  <c:v>Jeep</c:v>
                </c:pt>
                <c:pt idx="15">
                  <c:v>Kia</c:v>
                </c:pt>
                <c:pt idx="16">
                  <c:v>Land Rover</c:v>
                </c:pt>
                <c:pt idx="17">
                  <c:v>Lexus</c:v>
                </c:pt>
                <c:pt idx="18">
                  <c:v>Lincoln</c:v>
                </c:pt>
                <c:pt idx="19">
                  <c:v>Maserati</c:v>
                </c:pt>
                <c:pt idx="20">
                  <c:v>Mazda</c:v>
                </c:pt>
                <c:pt idx="21">
                  <c:v>Mercedes-Benz</c:v>
                </c:pt>
                <c:pt idx="22">
                  <c:v>MINI</c:v>
                </c:pt>
                <c:pt idx="23">
                  <c:v>Mitsubishi</c:v>
                </c:pt>
                <c:pt idx="24">
                  <c:v>Nissan</c:v>
                </c:pt>
                <c:pt idx="25">
                  <c:v>Pontiac</c:v>
                </c:pt>
                <c:pt idx="26">
                  <c:v>Porsche</c:v>
                </c:pt>
                <c:pt idx="27">
                  <c:v>Subaru</c:v>
                </c:pt>
                <c:pt idx="28">
                  <c:v>Toyota</c:v>
                </c:pt>
                <c:pt idx="29">
                  <c:v>Volkswagen</c:v>
                </c:pt>
              </c:strCache>
            </c:strRef>
          </c:cat>
          <c:val>
            <c:numRef>
              <c:f>SALES!$F$40:$F$70</c:f>
              <c:numCache>
                <c:formatCode>General</c:formatCode>
                <c:ptCount val="30"/>
                <c:pt idx="0">
                  <c:v>23150</c:v>
                </c:pt>
                <c:pt idx="2">
                  <c:v>4600</c:v>
                </c:pt>
                <c:pt idx="5">
                  <c:v>44900</c:v>
                </c:pt>
                <c:pt idx="6">
                  <c:v>15400</c:v>
                </c:pt>
                <c:pt idx="7">
                  <c:v>28200</c:v>
                </c:pt>
                <c:pt idx="8">
                  <c:v>104200</c:v>
                </c:pt>
                <c:pt idx="10">
                  <c:v>93050</c:v>
                </c:pt>
                <c:pt idx="12">
                  <c:v>43800</c:v>
                </c:pt>
                <c:pt idx="14">
                  <c:v>25750</c:v>
                </c:pt>
                <c:pt idx="15">
                  <c:v>43000</c:v>
                </c:pt>
                <c:pt idx="18">
                  <c:v>14800</c:v>
                </c:pt>
                <c:pt idx="20">
                  <c:v>26000</c:v>
                </c:pt>
                <c:pt idx="21">
                  <c:v>29400</c:v>
                </c:pt>
                <c:pt idx="22">
                  <c:v>7800</c:v>
                </c:pt>
                <c:pt idx="23">
                  <c:v>35900</c:v>
                </c:pt>
                <c:pt idx="24">
                  <c:v>60950</c:v>
                </c:pt>
                <c:pt idx="26">
                  <c:v>36000</c:v>
                </c:pt>
                <c:pt idx="27">
                  <c:v>2100</c:v>
                </c:pt>
                <c:pt idx="28">
                  <c:v>29200</c:v>
                </c:pt>
                <c:pt idx="29">
                  <c:v>8700</c:v>
                </c:pt>
              </c:numCache>
            </c:numRef>
          </c:val>
          <c:smooth val="0"/>
          <c:extLst>
            <c:ext xmlns:c16="http://schemas.microsoft.com/office/drawing/2014/chart" uri="{C3380CC4-5D6E-409C-BE32-E72D297353CC}">
              <c16:uniqueId val="{00000004-3244-4D43-AF08-434B7271EF7E}"/>
            </c:ext>
          </c:extLst>
        </c:ser>
        <c:dLbls>
          <c:showLegendKey val="0"/>
          <c:showVal val="0"/>
          <c:showCatName val="0"/>
          <c:showSerName val="0"/>
          <c:showPercent val="0"/>
          <c:showBubbleSize val="0"/>
        </c:dLbls>
        <c:marker val="1"/>
        <c:smooth val="0"/>
        <c:axId val="1283661087"/>
        <c:axId val="1283666367"/>
      </c:lineChart>
      <c:catAx>
        <c:axId val="1283661087"/>
        <c:scaling>
          <c:orientation val="minMax"/>
        </c:scaling>
        <c:delete val="0"/>
        <c:axPos val="b"/>
        <c:numFmt formatCode="General" sourceLinked="1"/>
        <c:majorTickMark val="none"/>
        <c:minorTickMark val="none"/>
        <c:tickLblPos val="nextTo"/>
        <c:spPr>
          <a:noFill/>
          <a:ln w="9525" cap="flat" cmpd="sng" algn="ctr">
            <a:solidFill>
              <a:schemeClr val="lt1">
                <a:lumMod val="95000"/>
                <a:alpha val="10000"/>
              </a:schemeClr>
            </a:solidFill>
            <a:round/>
          </a:ln>
          <a:effectLst/>
        </c:spPr>
        <c:txPr>
          <a:bodyPr rot="-60000000" spcFirstLastPara="1" vertOverflow="ellipsis" vert="horz" wrap="square" anchor="ctr" anchorCtr="1"/>
          <a:lstStyle/>
          <a:p>
            <a:pPr>
              <a:defRPr sz="1200" b="0" i="0" u="none" strike="noStrike" kern="1200" baseline="0">
                <a:solidFill>
                  <a:schemeClr val="lt1">
                    <a:lumMod val="85000"/>
                  </a:schemeClr>
                </a:solidFill>
                <a:latin typeface="+mn-lt"/>
                <a:ea typeface="+mn-ea"/>
                <a:cs typeface="+mn-cs"/>
              </a:defRPr>
            </a:pPr>
            <a:endParaRPr lang="en-US"/>
          </a:p>
        </c:txPr>
        <c:crossAx val="1283666367"/>
        <c:crosses val="autoZero"/>
        <c:auto val="1"/>
        <c:lblAlgn val="ctr"/>
        <c:lblOffset val="100"/>
        <c:noMultiLvlLbl val="0"/>
      </c:catAx>
      <c:valAx>
        <c:axId val="1283666367"/>
        <c:scaling>
          <c:orientation val="minMax"/>
        </c:scaling>
        <c:delete val="0"/>
        <c:axPos val="l"/>
        <c:majorGridlines>
          <c:spPr>
            <a:ln w="9525" cap="flat" cmpd="sng" algn="ctr">
              <a:solidFill>
                <a:schemeClr val="lt1">
                  <a:lumMod val="95000"/>
                  <a:alpha val="10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crossAx val="1283661087"/>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1400" b="0" i="0" u="none" strike="noStrike" kern="1200" baseline="0">
              <a:solidFill>
                <a:schemeClr val="lt1">
                  <a:lumMod val="8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[Case Study 2 Visuals.xlsb]SALES!PivotTable3</c:name>
    <c:fmtId val="42"/>
  </c:pivotSource>
  <c:chart>
    <c:title>
      <c:tx>
        <c:rich>
          <a:bodyPr rot="0" spcFirstLastPara="1" vertOverflow="ellipsis" vert="horz" wrap="square" anchor="ctr" anchorCtr="1"/>
          <a:lstStyle/>
          <a:p>
            <a:pPr>
              <a:defRPr sz="2000" b="1" i="0" u="none" strike="noStrike" kern="1200" cap="none" baseline="0">
                <a:solidFill>
                  <a:schemeClr val="lt1">
                    <a:lumMod val="85000"/>
                  </a:schemeClr>
                </a:solidFill>
                <a:latin typeface="+mn-lt"/>
                <a:ea typeface="+mn-ea"/>
                <a:cs typeface="+mn-cs"/>
              </a:defRPr>
            </a:pPr>
            <a:r>
              <a:rPr lang="en-US" sz="2000"/>
              <a:t>SALES BY TIME OF THE WEEK</a:t>
            </a:r>
          </a:p>
        </c:rich>
      </c:tx>
      <c:overlay val="0"/>
      <c:spPr>
        <a:noFill/>
        <a:ln>
          <a:noFill/>
        </a:ln>
        <a:effectLst/>
      </c:spPr>
      <c:txPr>
        <a:bodyPr rot="0" spcFirstLastPara="1" vertOverflow="ellipsis" vert="horz" wrap="square" anchor="ctr" anchorCtr="1"/>
        <a:lstStyle/>
        <a:p>
          <a:pPr>
            <a:defRPr sz="2000" b="1" i="0" u="none" strike="noStrike" kern="1200" cap="none" baseline="0">
              <a:solidFill>
                <a:schemeClr val="lt1">
                  <a:lumMod val="85000"/>
                </a:schemeClr>
              </a:solidFill>
              <a:latin typeface="+mn-lt"/>
              <a:ea typeface="+mn-ea"/>
              <a:cs typeface="+mn-cs"/>
            </a:defRPr>
          </a:pPr>
          <a:endParaRPr lang="en-US"/>
        </a:p>
      </c:txPr>
    </c:title>
    <c:autoTitleDeleted val="0"/>
    <c:pivotFmts>
      <c:pivotFmt>
        <c:idx val="0"/>
        <c:spPr>
          <a:noFill/>
          <a:ln w="22225" cap="rnd" cmpd="sng" algn="ctr">
            <a:solidFill>
              <a:schemeClr val="accent1"/>
            </a:solidFill>
            <a:miter lim="800000"/>
          </a:ln>
          <a:effectLst>
            <a:glow rad="139700">
              <a:schemeClr val="accent1">
                <a:satMod val="175000"/>
                <a:alpha val="14000"/>
              </a:schemeClr>
            </a:glow>
          </a:effectLst>
        </c:spPr>
        <c:marker>
          <c:symbol val="circle"/>
          <c:size val="4"/>
          <c:spPr>
            <a:solidFill>
              <a:schemeClr val="accent1">
                <a:lumMod val="60000"/>
                <a:lumOff val="40000"/>
              </a:schemeClr>
            </a:solidFill>
            <a:ln>
              <a:noFill/>
            </a:ln>
            <a:effectLst>
              <a:glow rad="63500">
                <a:schemeClr val="accent1">
                  <a:satMod val="175000"/>
                  <a:alpha val="25000"/>
                </a:schemeClr>
              </a:glow>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7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noFill/>
          <a:ln w="22225" cap="rnd" cmpd="sng" algn="ctr">
            <a:solidFill>
              <a:schemeClr val="accent1"/>
            </a:solidFill>
            <a:miter lim="800000"/>
          </a:ln>
          <a:effectLst>
            <a:glow rad="139700">
              <a:schemeClr val="accent1">
                <a:satMod val="175000"/>
                <a:alpha val="14000"/>
              </a:schemeClr>
            </a:glow>
          </a:effectLst>
        </c:spPr>
        <c:marker>
          <c:symbol val="circle"/>
          <c:size val="4"/>
          <c:spPr>
            <a:solidFill>
              <a:schemeClr val="accent1">
                <a:lumMod val="60000"/>
                <a:lumOff val="40000"/>
              </a:schemeClr>
            </a:solidFill>
            <a:ln>
              <a:noFill/>
            </a:ln>
            <a:effectLst>
              <a:glow rad="63500">
                <a:schemeClr val="accent1">
                  <a:satMod val="175000"/>
                  <a:alpha val="25000"/>
                </a:schemeClr>
              </a:glow>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7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noFill/>
          <a:ln w="22225" cap="rnd" cmpd="sng" algn="ctr">
            <a:solidFill>
              <a:schemeClr val="accent1"/>
            </a:solidFill>
            <a:miter lim="800000"/>
          </a:ln>
          <a:effectLst>
            <a:glow rad="139700">
              <a:schemeClr val="accent1">
                <a:satMod val="175000"/>
                <a:alpha val="14000"/>
              </a:schemeClr>
            </a:glow>
          </a:effectLst>
        </c:spPr>
        <c:marker>
          <c:spPr>
            <a:solidFill>
              <a:schemeClr val="accent1">
                <a:lumMod val="60000"/>
                <a:lumOff val="40000"/>
              </a:schemeClr>
            </a:solidFill>
            <a:ln>
              <a:noFill/>
            </a:ln>
            <a:effectLst>
              <a:glow rad="63500">
                <a:schemeClr val="accent1">
                  <a:satMod val="175000"/>
                  <a:alpha val="25000"/>
                </a:schemeClr>
              </a:glow>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7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noFill/>
          <a:ln w="22225" cap="rnd" cmpd="sng" algn="ctr">
            <a:solidFill>
              <a:schemeClr val="accent1"/>
            </a:solidFill>
            <a:miter lim="800000"/>
          </a:ln>
          <a:effectLst>
            <a:glow rad="139700">
              <a:schemeClr val="accent1">
                <a:satMod val="175000"/>
                <a:alpha val="14000"/>
              </a:schemeClr>
            </a:glow>
          </a:effectLst>
        </c:spPr>
        <c:marker>
          <c:symbol val="circle"/>
          <c:size val="4"/>
          <c:spPr>
            <a:solidFill>
              <a:schemeClr val="accent1">
                <a:lumMod val="60000"/>
                <a:lumOff val="40000"/>
              </a:schemeClr>
            </a:solidFill>
            <a:ln>
              <a:noFill/>
            </a:ln>
            <a:effectLst>
              <a:glow rad="63500">
                <a:schemeClr val="accent1">
                  <a:satMod val="175000"/>
                  <a:alpha val="25000"/>
                </a:schemeClr>
              </a:glow>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7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noFill/>
          <a:ln w="22225" cap="rnd" cmpd="sng" algn="ctr">
            <a:solidFill>
              <a:schemeClr val="accent1"/>
            </a:solidFill>
            <a:miter lim="800000"/>
          </a:ln>
          <a:effectLst>
            <a:glow rad="139700">
              <a:schemeClr val="accent1">
                <a:satMod val="175000"/>
                <a:alpha val="14000"/>
              </a:schemeClr>
            </a:glow>
          </a:effectLst>
        </c:spPr>
        <c:marker>
          <c:symbol val="circle"/>
          <c:size val="4"/>
          <c:spPr>
            <a:solidFill>
              <a:schemeClr val="accent1">
                <a:lumMod val="60000"/>
                <a:lumOff val="40000"/>
              </a:schemeClr>
            </a:solidFill>
            <a:ln>
              <a:noFill/>
            </a:ln>
            <a:effectLst>
              <a:glow rad="63500">
                <a:schemeClr val="accent1">
                  <a:satMod val="175000"/>
                  <a:alpha val="25000"/>
                </a:schemeClr>
              </a:glow>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7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lineChart>
        <c:grouping val="standard"/>
        <c:varyColors val="0"/>
        <c:ser>
          <c:idx val="0"/>
          <c:order val="0"/>
          <c:tx>
            <c:strRef>
              <c:f>SALES!$B$73:$B$74</c:f>
              <c:strCache>
                <c:ptCount val="1"/>
                <c:pt idx="0">
                  <c:v>Weekday</c:v>
                </c:pt>
              </c:strCache>
            </c:strRef>
          </c:tx>
          <c:spPr>
            <a:ln w="22225" cap="rnd">
              <a:solidFill>
                <a:schemeClr val="accent1"/>
              </a:solidFill>
            </a:ln>
            <a:effectLst>
              <a:glow rad="139700">
                <a:schemeClr val="accent1">
                  <a:satMod val="175000"/>
                  <a:alpha val="14000"/>
                </a:schemeClr>
              </a:glow>
            </a:effectLst>
          </c:spPr>
          <c:marker>
            <c:symbol val="circle"/>
            <c:size val="4"/>
            <c:spPr>
              <a:solidFill>
                <a:schemeClr val="accent1">
                  <a:lumMod val="60000"/>
                  <a:lumOff val="40000"/>
                </a:schemeClr>
              </a:solidFill>
              <a:ln>
                <a:noFill/>
              </a:ln>
              <a:effectLst>
                <a:glow rad="63500">
                  <a:schemeClr val="accent1">
                    <a:satMod val="175000"/>
                    <a:alpha val="25000"/>
                  </a:schemeClr>
                </a:glow>
              </a:effectLst>
            </c:spPr>
          </c:marker>
          <c:cat>
            <c:strRef>
              <c:f>SALES!$A$75:$A$105</c:f>
              <c:strCache>
                <c:ptCount val="30"/>
                <c:pt idx="0">
                  <c:v>Acura</c:v>
                </c:pt>
                <c:pt idx="1">
                  <c:v>Audi</c:v>
                </c:pt>
                <c:pt idx="2">
                  <c:v>BMW</c:v>
                </c:pt>
                <c:pt idx="3">
                  <c:v>Buick</c:v>
                </c:pt>
                <c:pt idx="4">
                  <c:v>Cadillac</c:v>
                </c:pt>
                <c:pt idx="5">
                  <c:v>Chevrolet</c:v>
                </c:pt>
                <c:pt idx="6">
                  <c:v>Chrysler</c:v>
                </c:pt>
                <c:pt idx="7">
                  <c:v>Dodge</c:v>
                </c:pt>
                <c:pt idx="8">
                  <c:v>Ford</c:v>
                </c:pt>
                <c:pt idx="9">
                  <c:v>GMC</c:v>
                </c:pt>
                <c:pt idx="10">
                  <c:v>Honda</c:v>
                </c:pt>
                <c:pt idx="11">
                  <c:v>HUMMER</c:v>
                </c:pt>
                <c:pt idx="12">
                  <c:v>Hyundai</c:v>
                </c:pt>
                <c:pt idx="13">
                  <c:v>Infiniti</c:v>
                </c:pt>
                <c:pt idx="14">
                  <c:v>Jeep</c:v>
                </c:pt>
                <c:pt idx="15">
                  <c:v>Kia</c:v>
                </c:pt>
                <c:pt idx="16">
                  <c:v>Land Rover</c:v>
                </c:pt>
                <c:pt idx="17">
                  <c:v>Lexus</c:v>
                </c:pt>
                <c:pt idx="18">
                  <c:v>Lincoln</c:v>
                </c:pt>
                <c:pt idx="19">
                  <c:v>Maserati</c:v>
                </c:pt>
                <c:pt idx="20">
                  <c:v>Mazda</c:v>
                </c:pt>
                <c:pt idx="21">
                  <c:v>Mercedes-Benz</c:v>
                </c:pt>
                <c:pt idx="22">
                  <c:v>MINI</c:v>
                </c:pt>
                <c:pt idx="23">
                  <c:v>Mitsubishi</c:v>
                </c:pt>
                <c:pt idx="24">
                  <c:v>Nissan</c:v>
                </c:pt>
                <c:pt idx="25">
                  <c:v>Pontiac</c:v>
                </c:pt>
                <c:pt idx="26">
                  <c:v>Porsche</c:v>
                </c:pt>
                <c:pt idx="27">
                  <c:v>Subaru</c:v>
                </c:pt>
                <c:pt idx="28">
                  <c:v>Toyota</c:v>
                </c:pt>
                <c:pt idx="29">
                  <c:v>Volkswagen</c:v>
                </c:pt>
              </c:strCache>
            </c:strRef>
          </c:cat>
          <c:val>
            <c:numRef>
              <c:f>SALES!$B$75:$B$105</c:f>
              <c:numCache>
                <c:formatCode>General</c:formatCode>
                <c:ptCount val="30"/>
                <c:pt idx="0">
                  <c:v>160850</c:v>
                </c:pt>
                <c:pt idx="1">
                  <c:v>216400</c:v>
                </c:pt>
                <c:pt idx="2">
                  <c:v>304400</c:v>
                </c:pt>
                <c:pt idx="3">
                  <c:v>78100</c:v>
                </c:pt>
                <c:pt idx="4">
                  <c:v>220950</c:v>
                </c:pt>
                <c:pt idx="5">
                  <c:v>1180550</c:v>
                </c:pt>
                <c:pt idx="6">
                  <c:v>115550</c:v>
                </c:pt>
                <c:pt idx="7">
                  <c:v>459351</c:v>
                </c:pt>
                <c:pt idx="8">
                  <c:v>1716351</c:v>
                </c:pt>
                <c:pt idx="9">
                  <c:v>149400</c:v>
                </c:pt>
                <c:pt idx="10">
                  <c:v>395450</c:v>
                </c:pt>
                <c:pt idx="11">
                  <c:v>27500</c:v>
                </c:pt>
                <c:pt idx="12">
                  <c:v>427000</c:v>
                </c:pt>
                <c:pt idx="13">
                  <c:v>428150</c:v>
                </c:pt>
                <c:pt idx="14">
                  <c:v>298350</c:v>
                </c:pt>
                <c:pt idx="15">
                  <c:v>407650</c:v>
                </c:pt>
                <c:pt idx="16">
                  <c:v>210400</c:v>
                </c:pt>
                <c:pt idx="17">
                  <c:v>116900</c:v>
                </c:pt>
                <c:pt idx="18">
                  <c:v>186000</c:v>
                </c:pt>
                <c:pt idx="19">
                  <c:v>49500</c:v>
                </c:pt>
                <c:pt idx="20">
                  <c:v>157200</c:v>
                </c:pt>
                <c:pt idx="21">
                  <c:v>563700</c:v>
                </c:pt>
                <c:pt idx="22">
                  <c:v>103650</c:v>
                </c:pt>
                <c:pt idx="23">
                  <c:v>73400</c:v>
                </c:pt>
                <c:pt idx="24">
                  <c:v>752150</c:v>
                </c:pt>
                <c:pt idx="25">
                  <c:v>41300</c:v>
                </c:pt>
                <c:pt idx="26">
                  <c:v>36000</c:v>
                </c:pt>
                <c:pt idx="27">
                  <c:v>100600</c:v>
                </c:pt>
                <c:pt idx="28">
                  <c:v>911100</c:v>
                </c:pt>
                <c:pt idx="29">
                  <c:v>202800</c:v>
                </c:pt>
              </c:numCache>
            </c:numRef>
          </c:val>
          <c:smooth val="0"/>
          <c:extLst>
            <c:ext xmlns:c16="http://schemas.microsoft.com/office/drawing/2014/chart" uri="{C3380CC4-5D6E-409C-BE32-E72D297353CC}">
              <c16:uniqueId val="{00000000-7C19-4F9C-B641-918EA9FFC6E6}"/>
            </c:ext>
          </c:extLst>
        </c:ser>
        <c:dLbls>
          <c:showLegendKey val="0"/>
          <c:showVal val="0"/>
          <c:showCatName val="0"/>
          <c:showSerName val="0"/>
          <c:showPercent val="0"/>
          <c:showBubbleSize val="0"/>
        </c:dLbls>
        <c:marker val="1"/>
        <c:smooth val="0"/>
        <c:axId val="1283807487"/>
        <c:axId val="1283783007"/>
      </c:lineChart>
      <c:catAx>
        <c:axId val="1283807487"/>
        <c:scaling>
          <c:orientation val="minMax"/>
        </c:scaling>
        <c:delete val="0"/>
        <c:axPos val="b"/>
        <c:majorGridlines>
          <c:spPr>
            <a:ln w="9525" cap="flat" cmpd="sng" algn="ctr">
              <a:gradFill>
                <a:gsLst>
                  <a:gs pos="100000">
                    <a:schemeClr val="dk1">
                      <a:lumMod val="75000"/>
                      <a:lumOff val="25000"/>
                    </a:schemeClr>
                  </a:gs>
                  <a:gs pos="0">
                    <a:schemeClr val="dk1">
                      <a:lumMod val="65000"/>
                      <a:lumOff val="35000"/>
                    </a:schemeClr>
                  </a:gs>
                </a:gsLst>
                <a:lin ang="5400000" scaled="0"/>
              </a:gra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200" b="0" i="0" u="none" strike="noStrike" kern="1200" baseline="0">
                <a:solidFill>
                  <a:schemeClr val="lt1">
                    <a:lumMod val="75000"/>
                  </a:schemeClr>
                </a:solidFill>
                <a:latin typeface="+mn-lt"/>
                <a:ea typeface="+mn-ea"/>
                <a:cs typeface="+mn-cs"/>
              </a:defRPr>
            </a:pPr>
            <a:endParaRPr lang="en-US"/>
          </a:p>
        </c:txPr>
        <c:crossAx val="1283783007"/>
        <c:crosses val="autoZero"/>
        <c:auto val="1"/>
        <c:lblAlgn val="ctr"/>
        <c:lblOffset val="100"/>
        <c:noMultiLvlLbl val="0"/>
      </c:catAx>
      <c:valAx>
        <c:axId val="1283783007"/>
        <c:scaling>
          <c:orientation val="minMax"/>
        </c:scaling>
        <c:delete val="0"/>
        <c:axPos val="l"/>
        <c:majorGridlines>
          <c:spPr>
            <a:ln w="9525" cap="flat" cmpd="sng" algn="ctr">
              <a:gradFill>
                <a:gsLst>
                  <a:gs pos="100000">
                    <a:schemeClr val="dk1">
                      <a:lumMod val="75000"/>
                      <a:lumOff val="25000"/>
                    </a:schemeClr>
                  </a:gs>
                  <a:gs pos="0">
                    <a:schemeClr val="dk1">
                      <a:lumMod val="65000"/>
                      <a:lumOff val="35000"/>
                    </a:schemeClr>
                  </a:gs>
                </a:gsLst>
                <a:lin ang="5400000" scaled="0"/>
              </a:gra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lt1">
                    <a:lumMod val="75000"/>
                  </a:schemeClr>
                </a:solidFill>
                <a:latin typeface="+mn-lt"/>
                <a:ea typeface="+mn-ea"/>
                <a:cs typeface="+mn-cs"/>
              </a:defRPr>
            </a:pPr>
            <a:endParaRPr lang="en-US"/>
          </a:p>
        </c:txPr>
        <c:crossAx val="1283807487"/>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1400" b="0" i="0" u="none" strike="noStrike" kern="1200" baseline="0">
              <a:solidFill>
                <a:schemeClr val="lt1">
                  <a:lumMod val="75000"/>
                </a:schemeClr>
              </a:solidFill>
              <a:latin typeface="+mn-lt"/>
              <a:ea typeface="+mn-ea"/>
              <a:cs typeface="+mn-cs"/>
            </a:defRPr>
          </a:pPr>
          <a:endParaRPr lang="en-US"/>
        </a:p>
      </c:txPr>
    </c:legend>
    <c:plotVisOnly val="1"/>
    <c:dispBlanksAs val="zero"/>
    <c:showDLblsOverMax val="0"/>
    <c:extLst>
      <c:ext xmlns:c16r3="http://schemas.microsoft.com/office/drawing/2017/03/chart" uri="{56B9EC1D-385E-4148-901F-78D8002777C0}">
        <c16r3:dataDisplayOptions16>
          <c16r3:dispNaAsBlank val="1"/>
        </c16r3:dataDisplayOptions16>
      </c:ext>
    </c:extLst>
  </c:chart>
  <c:spPr>
    <a:solidFill>
      <a:schemeClr val="dk1">
        <a:lumMod val="75000"/>
        <a:lumOff val="25000"/>
      </a:schemeClr>
    </a:solidFill>
    <a:ln w="9525" cap="flat" cmpd="sng" algn="ctr">
      <a:solidFill>
        <a:schemeClr val="dk1">
          <a:lumMod val="15000"/>
          <a:lumOff val="85000"/>
        </a:schemeClr>
      </a:solid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[Case Study 2 Visuals.xlsb]SALES!PivotTable4</c:name>
    <c:fmtId val="46"/>
  </c:pivotSource>
  <c:chart>
    <c:title>
      <c:tx>
        <c:rich>
          <a:bodyPr rot="0" spcFirstLastPara="1" vertOverflow="ellipsis" vert="horz" wrap="square" anchor="ctr" anchorCtr="1"/>
          <a:lstStyle/>
          <a:p>
            <a:pPr algn="ctr" rtl="0">
              <a:defRPr lang="en-US" sz="2000" b="1" i="0" u="none" strike="noStrike" kern="1200" cap="none" spc="100" baseline="0">
                <a:solidFill>
                  <a:sysClr val="window" lastClr="FFFFFF">
                    <a:lumMod val="85000"/>
                  </a:sysClr>
                </a:solidFill>
                <a:effectLst>
                  <a:outerShdw blurRad="50800" dist="38100" dir="5400000" algn="t" rotWithShape="0">
                    <a:prstClr val="black">
                      <a:alpha val="40000"/>
                    </a:prstClr>
                  </a:outerShdw>
                </a:effectLst>
                <a:latin typeface="+mn-lt"/>
                <a:ea typeface="+mn-ea"/>
                <a:cs typeface="+mn-cs"/>
              </a:defRPr>
            </a:pPr>
            <a:r>
              <a:rPr lang="en-US" sz="2000" b="1" i="0" u="none" strike="noStrike" kern="1200" cap="none" baseline="0">
                <a:solidFill>
                  <a:sysClr val="window" lastClr="FFFFFF">
                    <a:lumMod val="85000"/>
                  </a:sysClr>
                </a:solidFill>
                <a:latin typeface="+mn-lt"/>
                <a:ea typeface="+mn-ea"/>
                <a:cs typeface="+mn-cs"/>
              </a:rPr>
              <a:t>SALES BY TIME OF DAY</a:t>
            </a:r>
          </a:p>
        </c:rich>
      </c:tx>
      <c:overlay val="0"/>
      <c:spPr>
        <a:noFill/>
        <a:ln>
          <a:noFill/>
        </a:ln>
        <a:effectLst/>
      </c:spPr>
      <c:txPr>
        <a:bodyPr rot="0" spcFirstLastPara="1" vertOverflow="ellipsis" vert="horz" wrap="square" anchor="ctr" anchorCtr="1"/>
        <a:lstStyle/>
        <a:p>
          <a:pPr algn="ctr" rtl="0">
            <a:defRPr lang="en-US" sz="2000" b="1" i="0" u="none" strike="noStrike" kern="1200" cap="none" spc="100" baseline="0">
              <a:solidFill>
                <a:sysClr val="window" lastClr="FFFFFF">
                  <a:lumMod val="85000"/>
                </a:sysClr>
              </a:solidFill>
              <a:effectLst>
                <a:outerShdw blurRad="50800" dist="38100" dir="5400000" algn="t" rotWithShape="0">
                  <a:prstClr val="black">
                    <a:alpha val="40000"/>
                  </a:prstClr>
                </a:outerShdw>
              </a:effectLst>
              <a:latin typeface="+mn-lt"/>
              <a:ea typeface="+mn-ea"/>
              <a:cs typeface="+mn-cs"/>
            </a:defRPr>
          </a:pPr>
          <a:endParaRPr lang="en-US"/>
        </a:p>
      </c:txPr>
    </c:title>
    <c:autoTitleDeleted val="0"/>
    <c:pivotFmts>
      <c:pivotFmt>
        <c:idx val="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stacked"/>
        <c:varyColors val="0"/>
        <c:ser>
          <c:idx val="0"/>
          <c:order val="0"/>
          <c:tx>
            <c:strRef>
              <c:f>SALES!$B$108:$B$109</c:f>
              <c:strCache>
                <c:ptCount val="1"/>
                <c:pt idx="0">
                  <c:v>Afternoon</c:v>
                </c:pt>
              </c:strCache>
            </c:strRef>
          </c:tx>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cat>
            <c:strRef>
              <c:f>SALES!$A$110:$A$140</c:f>
              <c:strCache>
                <c:ptCount val="30"/>
                <c:pt idx="0">
                  <c:v>Acura</c:v>
                </c:pt>
                <c:pt idx="1">
                  <c:v>Audi</c:v>
                </c:pt>
                <c:pt idx="2">
                  <c:v>BMW</c:v>
                </c:pt>
                <c:pt idx="3">
                  <c:v>Buick</c:v>
                </c:pt>
                <c:pt idx="4">
                  <c:v>Cadillac</c:v>
                </c:pt>
                <c:pt idx="5">
                  <c:v>Chevrolet</c:v>
                </c:pt>
                <c:pt idx="6">
                  <c:v>Chrysler</c:v>
                </c:pt>
                <c:pt idx="7">
                  <c:v>Dodge</c:v>
                </c:pt>
                <c:pt idx="8">
                  <c:v>Ford</c:v>
                </c:pt>
                <c:pt idx="9">
                  <c:v>GMC</c:v>
                </c:pt>
                <c:pt idx="10">
                  <c:v>Honda</c:v>
                </c:pt>
                <c:pt idx="11">
                  <c:v>HUMMER</c:v>
                </c:pt>
                <c:pt idx="12">
                  <c:v>Hyundai</c:v>
                </c:pt>
                <c:pt idx="13">
                  <c:v>Infiniti</c:v>
                </c:pt>
                <c:pt idx="14">
                  <c:v>Jeep</c:v>
                </c:pt>
                <c:pt idx="15">
                  <c:v>Kia</c:v>
                </c:pt>
                <c:pt idx="16">
                  <c:v>Land Rover</c:v>
                </c:pt>
                <c:pt idx="17">
                  <c:v>Lexus</c:v>
                </c:pt>
                <c:pt idx="18">
                  <c:v>Lincoln</c:v>
                </c:pt>
                <c:pt idx="19">
                  <c:v>Maserati</c:v>
                </c:pt>
                <c:pt idx="20">
                  <c:v>Mazda</c:v>
                </c:pt>
                <c:pt idx="21">
                  <c:v>Mercedes-Benz</c:v>
                </c:pt>
                <c:pt idx="22">
                  <c:v>MINI</c:v>
                </c:pt>
                <c:pt idx="23">
                  <c:v>Mitsubishi</c:v>
                </c:pt>
                <c:pt idx="24">
                  <c:v>Nissan</c:v>
                </c:pt>
                <c:pt idx="25">
                  <c:v>Pontiac</c:v>
                </c:pt>
                <c:pt idx="26">
                  <c:v>Porsche</c:v>
                </c:pt>
                <c:pt idx="27">
                  <c:v>Subaru</c:v>
                </c:pt>
                <c:pt idx="28">
                  <c:v>Toyota</c:v>
                </c:pt>
                <c:pt idx="29">
                  <c:v>Volkswagen</c:v>
                </c:pt>
              </c:strCache>
            </c:strRef>
          </c:cat>
          <c:val>
            <c:numRef>
              <c:f>SALES!$B$110:$B$140</c:f>
              <c:numCache>
                <c:formatCode>General</c:formatCode>
                <c:ptCount val="30"/>
                <c:pt idx="0">
                  <c:v>21250</c:v>
                </c:pt>
                <c:pt idx="1">
                  <c:v>50000</c:v>
                </c:pt>
                <c:pt idx="2">
                  <c:v>63050</c:v>
                </c:pt>
                <c:pt idx="4">
                  <c:v>54250</c:v>
                </c:pt>
                <c:pt idx="5">
                  <c:v>47000</c:v>
                </c:pt>
                <c:pt idx="7">
                  <c:v>58800</c:v>
                </c:pt>
                <c:pt idx="8">
                  <c:v>85550</c:v>
                </c:pt>
                <c:pt idx="9">
                  <c:v>16300</c:v>
                </c:pt>
                <c:pt idx="10">
                  <c:v>21300</c:v>
                </c:pt>
                <c:pt idx="12">
                  <c:v>47600</c:v>
                </c:pt>
                <c:pt idx="13">
                  <c:v>156000</c:v>
                </c:pt>
                <c:pt idx="15">
                  <c:v>51200</c:v>
                </c:pt>
                <c:pt idx="16">
                  <c:v>99500</c:v>
                </c:pt>
                <c:pt idx="20">
                  <c:v>34500</c:v>
                </c:pt>
                <c:pt idx="21">
                  <c:v>23500</c:v>
                </c:pt>
                <c:pt idx="24">
                  <c:v>15000</c:v>
                </c:pt>
                <c:pt idx="28">
                  <c:v>77000</c:v>
                </c:pt>
                <c:pt idx="29">
                  <c:v>18200</c:v>
                </c:pt>
              </c:numCache>
            </c:numRef>
          </c:val>
          <c:extLst>
            <c:ext xmlns:c16="http://schemas.microsoft.com/office/drawing/2014/chart" uri="{C3380CC4-5D6E-409C-BE32-E72D297353CC}">
              <c16:uniqueId val="{00000000-BF69-42AF-B473-48761521248D}"/>
            </c:ext>
          </c:extLst>
        </c:ser>
        <c:ser>
          <c:idx val="1"/>
          <c:order val="1"/>
          <c:tx>
            <c:strRef>
              <c:f>SALES!$C$108:$C$109</c:f>
              <c:strCache>
                <c:ptCount val="1"/>
                <c:pt idx="0">
                  <c:v>Morning</c:v>
                </c:pt>
              </c:strCache>
            </c:strRef>
          </c:tx>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cat>
            <c:strRef>
              <c:f>SALES!$A$110:$A$140</c:f>
              <c:strCache>
                <c:ptCount val="30"/>
                <c:pt idx="0">
                  <c:v>Acura</c:v>
                </c:pt>
                <c:pt idx="1">
                  <c:v>Audi</c:v>
                </c:pt>
                <c:pt idx="2">
                  <c:v>BMW</c:v>
                </c:pt>
                <c:pt idx="3">
                  <c:v>Buick</c:v>
                </c:pt>
                <c:pt idx="4">
                  <c:v>Cadillac</c:v>
                </c:pt>
                <c:pt idx="5">
                  <c:v>Chevrolet</c:v>
                </c:pt>
                <c:pt idx="6">
                  <c:v>Chrysler</c:v>
                </c:pt>
                <c:pt idx="7">
                  <c:v>Dodge</c:v>
                </c:pt>
                <c:pt idx="8">
                  <c:v>Ford</c:v>
                </c:pt>
                <c:pt idx="9">
                  <c:v>GMC</c:v>
                </c:pt>
                <c:pt idx="10">
                  <c:v>Honda</c:v>
                </c:pt>
                <c:pt idx="11">
                  <c:v>HUMMER</c:v>
                </c:pt>
                <c:pt idx="12">
                  <c:v>Hyundai</c:v>
                </c:pt>
                <c:pt idx="13">
                  <c:v>Infiniti</c:v>
                </c:pt>
                <c:pt idx="14">
                  <c:v>Jeep</c:v>
                </c:pt>
                <c:pt idx="15">
                  <c:v>Kia</c:v>
                </c:pt>
                <c:pt idx="16">
                  <c:v>Land Rover</c:v>
                </c:pt>
                <c:pt idx="17">
                  <c:v>Lexus</c:v>
                </c:pt>
                <c:pt idx="18">
                  <c:v>Lincoln</c:v>
                </c:pt>
                <c:pt idx="19">
                  <c:v>Maserati</c:v>
                </c:pt>
                <c:pt idx="20">
                  <c:v>Mazda</c:v>
                </c:pt>
                <c:pt idx="21">
                  <c:v>Mercedes-Benz</c:v>
                </c:pt>
                <c:pt idx="22">
                  <c:v>MINI</c:v>
                </c:pt>
                <c:pt idx="23">
                  <c:v>Mitsubishi</c:v>
                </c:pt>
                <c:pt idx="24">
                  <c:v>Nissan</c:v>
                </c:pt>
                <c:pt idx="25">
                  <c:v>Pontiac</c:v>
                </c:pt>
                <c:pt idx="26">
                  <c:v>Porsche</c:v>
                </c:pt>
                <c:pt idx="27">
                  <c:v>Subaru</c:v>
                </c:pt>
                <c:pt idx="28">
                  <c:v>Toyota</c:v>
                </c:pt>
                <c:pt idx="29">
                  <c:v>Volkswagen</c:v>
                </c:pt>
              </c:strCache>
            </c:strRef>
          </c:cat>
          <c:val>
            <c:numRef>
              <c:f>SALES!$C$110:$C$140</c:f>
              <c:numCache>
                <c:formatCode>General</c:formatCode>
                <c:ptCount val="30"/>
                <c:pt idx="0">
                  <c:v>139600</c:v>
                </c:pt>
                <c:pt idx="1">
                  <c:v>166400</c:v>
                </c:pt>
                <c:pt idx="2">
                  <c:v>241350</c:v>
                </c:pt>
                <c:pt idx="3">
                  <c:v>78100</c:v>
                </c:pt>
                <c:pt idx="4">
                  <c:v>166700</c:v>
                </c:pt>
                <c:pt idx="5">
                  <c:v>1133550</c:v>
                </c:pt>
                <c:pt idx="6">
                  <c:v>115550</c:v>
                </c:pt>
                <c:pt idx="7">
                  <c:v>400551</c:v>
                </c:pt>
                <c:pt idx="8">
                  <c:v>1630801</c:v>
                </c:pt>
                <c:pt idx="9">
                  <c:v>133100</c:v>
                </c:pt>
                <c:pt idx="10">
                  <c:v>374150</c:v>
                </c:pt>
                <c:pt idx="11">
                  <c:v>27500</c:v>
                </c:pt>
                <c:pt idx="12">
                  <c:v>379400</c:v>
                </c:pt>
                <c:pt idx="13">
                  <c:v>272150</c:v>
                </c:pt>
                <c:pt idx="14">
                  <c:v>298350</c:v>
                </c:pt>
                <c:pt idx="15">
                  <c:v>356450</c:v>
                </c:pt>
                <c:pt idx="16">
                  <c:v>110900</c:v>
                </c:pt>
                <c:pt idx="17">
                  <c:v>116900</c:v>
                </c:pt>
                <c:pt idx="18">
                  <c:v>186000</c:v>
                </c:pt>
                <c:pt idx="19">
                  <c:v>49500</c:v>
                </c:pt>
                <c:pt idx="20">
                  <c:v>122700</c:v>
                </c:pt>
                <c:pt idx="21">
                  <c:v>540200</c:v>
                </c:pt>
                <c:pt idx="22">
                  <c:v>103650</c:v>
                </c:pt>
                <c:pt idx="23">
                  <c:v>73400</c:v>
                </c:pt>
                <c:pt idx="24">
                  <c:v>737150</c:v>
                </c:pt>
                <c:pt idx="25">
                  <c:v>41300</c:v>
                </c:pt>
                <c:pt idx="26">
                  <c:v>36000</c:v>
                </c:pt>
                <c:pt idx="27">
                  <c:v>100600</c:v>
                </c:pt>
                <c:pt idx="28">
                  <c:v>834100</c:v>
                </c:pt>
                <c:pt idx="29">
                  <c:v>184600</c:v>
                </c:pt>
              </c:numCache>
            </c:numRef>
          </c:val>
          <c:extLst>
            <c:ext xmlns:c16="http://schemas.microsoft.com/office/drawing/2014/chart" uri="{C3380CC4-5D6E-409C-BE32-E72D297353CC}">
              <c16:uniqueId val="{00000001-BF69-42AF-B473-48761521248D}"/>
            </c:ext>
          </c:extLst>
        </c:ser>
        <c:dLbls>
          <c:showLegendKey val="0"/>
          <c:showVal val="0"/>
          <c:showCatName val="0"/>
          <c:showSerName val="0"/>
          <c:showPercent val="0"/>
          <c:showBubbleSize val="0"/>
        </c:dLbls>
        <c:gapWidth val="150"/>
        <c:overlap val="100"/>
        <c:axId val="1283623167"/>
        <c:axId val="1283600607"/>
      </c:barChart>
      <c:catAx>
        <c:axId val="1283623167"/>
        <c:scaling>
          <c:orientation val="minMax"/>
        </c:scaling>
        <c:delete val="0"/>
        <c:axPos val="b"/>
        <c:numFmt formatCode="General" sourceLinked="1"/>
        <c:majorTickMark val="none"/>
        <c:minorTickMark val="none"/>
        <c:tickLblPos val="nextTo"/>
        <c:spPr>
          <a:noFill/>
          <a:ln w="12700" cap="flat" cmpd="sng" algn="ctr">
            <a:solidFill>
              <a:schemeClr val="lt1">
                <a:lumMod val="95000"/>
                <a:alpha val="54000"/>
              </a:schemeClr>
            </a:solidFill>
            <a:round/>
          </a:ln>
          <a:effectLst/>
        </c:spPr>
        <c:txPr>
          <a:bodyPr rot="-60000000" spcFirstLastPara="1" vertOverflow="ellipsis" vert="horz" wrap="square" anchor="ctr" anchorCtr="1"/>
          <a:lstStyle/>
          <a:p>
            <a:pPr>
              <a:defRPr sz="1200" b="0" i="0" u="none" strike="noStrike" kern="1200" baseline="0">
                <a:solidFill>
                  <a:schemeClr val="lt1">
                    <a:lumMod val="85000"/>
                  </a:schemeClr>
                </a:solidFill>
                <a:latin typeface="+mn-lt"/>
                <a:ea typeface="+mn-ea"/>
                <a:cs typeface="+mn-cs"/>
              </a:defRPr>
            </a:pPr>
            <a:endParaRPr lang="en-US"/>
          </a:p>
        </c:txPr>
        <c:crossAx val="1283600607"/>
        <c:crosses val="autoZero"/>
        <c:auto val="1"/>
        <c:lblAlgn val="ctr"/>
        <c:lblOffset val="100"/>
        <c:noMultiLvlLbl val="0"/>
      </c:catAx>
      <c:valAx>
        <c:axId val="1283600607"/>
        <c:scaling>
          <c:orientation val="minMax"/>
        </c:scaling>
        <c:delete val="0"/>
        <c:axPos val="l"/>
        <c:majorGridlines>
          <c:spPr>
            <a:ln w="9525" cap="flat" cmpd="sng" algn="ctr">
              <a:solidFill>
                <a:schemeClr val="lt1">
                  <a:lumMod val="95000"/>
                  <a:alpha val="10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crossAx val="1283623167"/>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1400" b="0" i="0" u="none" strike="noStrike" kern="1200" baseline="0">
              <a:solidFill>
                <a:schemeClr val="lt1">
                  <a:lumMod val="8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302">
  <cs:axisTitle>
    <cs:lnRef idx="0"/>
    <cs:fillRef idx="0"/>
    <cs:effectRef idx="0"/>
    <cs:fontRef idx="minor">
      <a:schemeClr val="tx2"/>
    </cs:fontRef>
    <cs:defRPr sz="900" b="1" kern="1200"/>
  </cs:axisTitle>
  <cs:categoryAxis>
    <cs:lnRef idx="0"/>
    <cs:fillRef idx="0"/>
    <cs:effectRef idx="0"/>
    <cs:fontRef idx="minor">
      <a:schemeClr val="tx2"/>
    </cs:fontRef>
    <cs:spPr>
      <a:ln w="9525" cap="flat" cmpd="sng" algn="ctr">
        <a:solidFill>
          <a:schemeClr val="tx2">
            <a:lumMod val="15000"/>
            <a:lumOff val="85000"/>
          </a:schemeClr>
        </a:solidFill>
        <a:round/>
      </a:ln>
    </cs:spPr>
    <cs:defRPr sz="900"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2">
            <a:lumMod val="15000"/>
            <a:lumOff val="85000"/>
          </a:schemeClr>
        </a:solidFill>
        <a:round/>
      </a:ln>
    </cs:spPr>
    <cs:defRPr sz="900" kern="1200"/>
  </cs:chartArea>
  <cs:dataLabel>
    <cs:lnRef idx="0"/>
    <cs:fillRef idx="0"/>
    <cs:effectRef idx="0"/>
    <cs:fontRef idx="minor">
      <a:schemeClr val="tx2"/>
    </cs:fontRef>
    <cs:defRPr sz="900" kern="1200"/>
  </cs:dataLabel>
  <cs:dataLabelCallout>
    <cs:lnRef idx="0"/>
    <cs:fillRef idx="0"/>
    <cs:effectRef idx="0"/>
    <cs:fontRef idx="minor">
      <a:schemeClr val="dk2">
        <a:lumMod val="7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2"/>
    <cs:fontRef idx="minor">
      <a:schemeClr val="tx2"/>
    </cs:fontRef>
  </cs:dataPoint>
  <cs:dataPoint3D>
    <cs:lnRef idx="0"/>
    <cs:fillRef idx="3">
      <cs:styleClr val="auto"/>
    </cs:fillRef>
    <cs:effectRef idx="2"/>
    <cs:fontRef idx="minor">
      <a:schemeClr val="tx2"/>
    </cs:fontRef>
  </cs:dataPoint3D>
  <cs:dataPointLine>
    <cs:lnRef idx="0">
      <cs:styleClr val="auto"/>
    </cs:lnRef>
    <cs:fillRef idx="3"/>
    <cs:effectRef idx="2"/>
    <cs:fontRef idx="minor">
      <a:schemeClr val="tx2"/>
    </cs:fontRef>
    <cs:spPr>
      <a:ln w="31750" cap="rnd">
        <a:solidFill>
          <a:schemeClr val="phClr"/>
        </a:solidFill>
        <a:round/>
      </a:ln>
    </cs:spPr>
  </cs:dataPointLine>
  <cs:dataPointMarker>
    <cs:lnRef idx="0"/>
    <cs:fillRef idx="3">
      <cs:styleClr val="auto"/>
    </cs:fillRef>
    <cs:effectRef idx="2"/>
    <cs:fontRef idx="minor">
      <a:schemeClr val="tx2"/>
    </cs:fontRef>
    <cs:spPr>
      <a:ln w="12700">
        <a:solidFill>
          <a:schemeClr val="lt2"/>
        </a:solidFill>
        <a:round/>
      </a:ln>
    </cs:spPr>
  </cs:dataPointMarker>
  <cs:dataPointMarkerLayout symbol="circle" size="6"/>
  <cs:dataPointWireframe>
    <cs:lnRef idx="0">
      <cs:styleClr val="auto"/>
    </cs:lnRef>
    <cs:fillRef idx="3"/>
    <cs:effectRef idx="2"/>
    <cs:fontRef idx="minor">
      <a:schemeClr val="tx2"/>
    </cs:fontRef>
    <cs:spPr>
      <a:ln w="9525" cap="rnd">
        <a:solidFill>
          <a:schemeClr val="phClr"/>
        </a:solidFill>
        <a:round/>
      </a:ln>
    </cs:spPr>
  </cs:dataPointWireframe>
  <cs:dataTable>
    <cs:lnRef idx="0"/>
    <cs:fillRef idx="0"/>
    <cs:effectRef idx="0"/>
    <cs:fontRef idx="minor">
      <a:schemeClr val="tx2"/>
    </cs:fontRef>
    <cs:spPr>
      <a:ln w="9525">
        <a:solidFill>
          <a:schemeClr val="tx2">
            <a:lumMod val="15000"/>
            <a:lumOff val="85000"/>
          </a:schemeClr>
        </a:solidFill>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2"/>
    </cs:fontRef>
    <cs:spPr>
      <a:ln w="9525">
        <a:solidFill>
          <a:schemeClr val="tx2">
            <a:lumMod val="60000"/>
            <a:lumOff val="40000"/>
          </a:schemeClr>
        </a:solidFill>
        <a:prstDash val="dash"/>
      </a:ln>
    </cs:spPr>
  </cs:dropLine>
  <cs:errorBar>
    <cs:lnRef idx="0"/>
    <cs:fillRef idx="0"/>
    <cs:effectRef idx="0"/>
    <cs:fontRef idx="minor">
      <a:schemeClr val="tx2"/>
    </cs:fontRef>
    <cs:spPr>
      <a:ln w="9525">
        <a:solidFill>
          <a:schemeClr val="tx2">
            <a:lumMod val="75000"/>
          </a:schemeClr>
        </a:solidFill>
        <a:round/>
      </a:ln>
    </cs:spPr>
  </cs:errorBar>
  <cs:floor>
    <cs:lnRef idx="0"/>
    <cs:fillRef idx="0"/>
    <cs:effectRef idx="0"/>
    <cs:fontRef idx="minor">
      <a:schemeClr val="tx2"/>
    </cs:fontRef>
  </cs:floor>
  <cs:gridlineMajor>
    <cs:lnRef idx="0"/>
    <cs:fillRef idx="0"/>
    <cs:effectRef idx="0"/>
    <cs:fontRef idx="minor">
      <a:schemeClr val="tx2"/>
    </cs:fontRef>
    <cs:spPr>
      <a:ln w="9525" cap="flat" cmpd="sng" algn="ctr">
        <a:solidFill>
          <a:schemeClr val="tx2">
            <a:lumMod val="15000"/>
            <a:lumOff val="85000"/>
          </a:schemeClr>
        </a:solidFill>
        <a:round/>
      </a:ln>
    </cs:spPr>
  </cs:gridlineMajor>
  <cs:gridlineMinor>
    <cs:lnRef idx="0"/>
    <cs:fillRef idx="0"/>
    <cs:effectRef idx="0"/>
    <cs:fontRef idx="minor">
      <a:schemeClr val="tx2"/>
    </cs:fontRef>
    <cs:spPr>
      <a:ln>
        <a:solidFill>
          <a:schemeClr val="tx2">
            <a:lumMod val="5000"/>
            <a:lumOff val="95000"/>
          </a:schemeClr>
        </a:solidFill>
      </a:ln>
    </cs:spPr>
  </cs:gridlineMinor>
  <cs:hiLoLine>
    <cs:lnRef idx="0"/>
    <cs:fillRef idx="0"/>
    <cs:effectRef idx="0"/>
    <cs:fontRef idx="minor">
      <a:schemeClr val="tx2"/>
    </cs:fontRef>
    <cs:spPr>
      <a:ln w="9525">
        <a:solidFill>
          <a:schemeClr val="tx2">
            <a:lumMod val="60000"/>
            <a:lumOff val="40000"/>
          </a:schemeClr>
        </a:solidFill>
        <a:prstDash val="dash"/>
      </a:ln>
    </cs:spPr>
  </cs:hiLoLine>
  <cs:leaderLine>
    <cs:lnRef idx="0"/>
    <cs:fillRef idx="0"/>
    <cs:effectRef idx="0"/>
    <cs:fontRef idx="minor">
      <a:schemeClr val="tx2"/>
    </cs:fontRef>
    <cs:spPr>
      <a:ln w="9525">
        <a:solidFill>
          <a:schemeClr val="tx2">
            <a:lumMod val="35000"/>
            <a:lumOff val="65000"/>
          </a:schemeClr>
        </a:solidFill>
      </a:ln>
    </cs:spPr>
  </cs:leaderLine>
  <cs:legend>
    <cs:lnRef idx="0"/>
    <cs:fillRef idx="0"/>
    <cs:effectRef idx="0"/>
    <cs:fontRef idx="minor">
      <a:schemeClr val="tx2"/>
    </cs:fontRef>
    <cs:defRPr sz="900" kern="1200"/>
  </cs:legend>
  <cs:plotArea>
    <cs:lnRef idx="0"/>
    <cs:fillRef idx="0"/>
    <cs:effectRef idx="0"/>
    <cs:fontRef idx="minor">
      <a:schemeClr val="tx2"/>
    </cs:fontRef>
  </cs:plotArea>
  <cs:plotArea3D>
    <cs:lnRef idx="0"/>
    <cs:fillRef idx="0"/>
    <cs:effectRef idx="0"/>
    <cs:fontRef idx="minor">
      <a:schemeClr val="tx2"/>
    </cs:fontRef>
  </cs:plotArea3D>
  <cs:seriesAxis>
    <cs:lnRef idx="0"/>
    <cs:fillRef idx="0"/>
    <cs:effectRef idx="0"/>
    <cs:fontRef idx="minor">
      <a:schemeClr val="tx2"/>
    </cs:fontRef>
    <cs:spPr>
      <a:ln w="9525" cap="flat" cmpd="sng" algn="ctr">
        <a:solidFill>
          <a:schemeClr val="tx2">
            <a:lumMod val="15000"/>
            <a:lumOff val="85000"/>
          </a:schemeClr>
        </a:solidFill>
        <a:round/>
      </a:ln>
    </cs:spPr>
    <cs:defRPr sz="900" kern="1200"/>
  </cs:seriesAxis>
  <cs:seriesLine>
    <cs:lnRef idx="0"/>
    <cs:fillRef idx="0"/>
    <cs:effectRef idx="0"/>
    <cs:fontRef idx="minor">
      <a:schemeClr val="tx2"/>
    </cs:fontRef>
    <cs:spPr>
      <a:ln w="9525">
        <a:solidFill>
          <a:schemeClr val="tx2">
            <a:lumMod val="60000"/>
            <a:lumOff val="40000"/>
          </a:schemeClr>
        </a:solidFill>
        <a:prstDash val="dash"/>
      </a:ln>
    </cs:spPr>
  </cs:seriesLine>
  <cs:title>
    <cs:lnRef idx="0"/>
    <cs:fillRef idx="0"/>
    <cs:effectRef idx="0"/>
    <cs:fontRef idx="minor">
      <a:schemeClr val="tx2"/>
    </cs:fontRef>
    <cs:defRPr sz="1600" b="1" kern="1200"/>
  </cs:title>
  <cs:trendline>
    <cs:lnRef idx="0">
      <cs:styleClr val="auto"/>
    </cs:lnRef>
    <cs:fillRef idx="0"/>
    <cs:effectRef idx="0"/>
    <cs:fontRef idx="minor">
      <a:schemeClr val="tx2"/>
    </cs:fontRef>
    <cs:spPr>
      <a:ln w="19050" cap="rnd">
        <a:solidFill>
          <a:schemeClr val="phClr"/>
        </a:solidFill>
        <a:prstDash val="sysDash"/>
      </a:ln>
    </cs:spPr>
  </cs:trendline>
  <cs:trendlineLabel>
    <cs:lnRef idx="0"/>
    <cs:fillRef idx="0"/>
    <cs:effectRef idx="0"/>
    <cs:fontRef idx="minor">
      <a:schemeClr val="tx2"/>
    </cs:fontRef>
    <cs:defRPr sz="900" kern="1200"/>
  </cs:trendlineLabel>
  <cs:upBar>
    <cs:lnRef idx="0"/>
    <cs:fillRef idx="0"/>
    <cs:effectRef idx="0"/>
    <cs:fontRef idx="minor">
      <a:schemeClr val="tx2"/>
    </cs:fontRef>
    <cs:spPr>
      <a:solidFill>
        <a:schemeClr val="lt1"/>
      </a:solidFill>
      <a:ln w="9525">
        <a:solidFill>
          <a:schemeClr val="tx1">
            <a:lumMod val="15000"/>
            <a:lumOff val="85000"/>
          </a:schemeClr>
        </a:solidFill>
      </a:ln>
    </cs:spPr>
  </cs:upBar>
  <cs:valueAxis>
    <cs:lnRef idx="0"/>
    <cs:fillRef idx="0"/>
    <cs:effectRef idx="0"/>
    <cs:fontRef idx="minor">
      <a:schemeClr val="tx2"/>
    </cs:fontRef>
    <cs:defRPr sz="900" kern="1200"/>
  </cs:valueAxis>
  <cs:wall>
    <cs:lnRef idx="0"/>
    <cs:fillRef idx="0"/>
    <cs:effectRef idx="0"/>
    <cs:fontRef idx="minor">
      <a:schemeClr val="tx2"/>
    </cs:fontRef>
  </cs:wall>
</cs:chartStyle>
</file>

<file path=ppt/charts/style3.xml><?xml version="1.0" encoding="utf-8"?>
<cs:chartStyle xmlns:cs="http://schemas.microsoft.com/office/drawing/2012/chartStyle" xmlns:a="http://schemas.openxmlformats.org/drawingml/2006/main" id="302">
  <cs:axisTitle>
    <cs:lnRef idx="0"/>
    <cs:fillRef idx="0"/>
    <cs:effectRef idx="0"/>
    <cs:fontRef idx="minor">
      <a:schemeClr val="tx2"/>
    </cs:fontRef>
    <cs:defRPr sz="900" b="1" kern="1200"/>
  </cs:axisTitle>
  <cs:categoryAxis>
    <cs:lnRef idx="0"/>
    <cs:fillRef idx="0"/>
    <cs:effectRef idx="0"/>
    <cs:fontRef idx="minor">
      <a:schemeClr val="tx2"/>
    </cs:fontRef>
    <cs:spPr>
      <a:ln w="9525" cap="flat" cmpd="sng" algn="ctr">
        <a:solidFill>
          <a:schemeClr val="tx2">
            <a:lumMod val="15000"/>
            <a:lumOff val="85000"/>
          </a:schemeClr>
        </a:solidFill>
        <a:round/>
      </a:ln>
    </cs:spPr>
    <cs:defRPr sz="900"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2">
            <a:lumMod val="15000"/>
            <a:lumOff val="85000"/>
          </a:schemeClr>
        </a:solidFill>
        <a:round/>
      </a:ln>
    </cs:spPr>
    <cs:defRPr sz="900" kern="1200"/>
  </cs:chartArea>
  <cs:dataLabel>
    <cs:lnRef idx="0"/>
    <cs:fillRef idx="0"/>
    <cs:effectRef idx="0"/>
    <cs:fontRef idx="minor">
      <a:schemeClr val="tx2"/>
    </cs:fontRef>
    <cs:defRPr sz="900" kern="1200"/>
  </cs:dataLabel>
  <cs:dataLabelCallout>
    <cs:lnRef idx="0"/>
    <cs:fillRef idx="0"/>
    <cs:effectRef idx="0"/>
    <cs:fontRef idx="minor">
      <a:schemeClr val="dk2">
        <a:lumMod val="7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2"/>
    <cs:fontRef idx="minor">
      <a:schemeClr val="tx2"/>
    </cs:fontRef>
  </cs:dataPoint>
  <cs:dataPoint3D>
    <cs:lnRef idx="0"/>
    <cs:fillRef idx="3">
      <cs:styleClr val="auto"/>
    </cs:fillRef>
    <cs:effectRef idx="2"/>
    <cs:fontRef idx="minor">
      <a:schemeClr val="tx2"/>
    </cs:fontRef>
  </cs:dataPoint3D>
  <cs:dataPointLine>
    <cs:lnRef idx="0">
      <cs:styleClr val="auto"/>
    </cs:lnRef>
    <cs:fillRef idx="3"/>
    <cs:effectRef idx="2"/>
    <cs:fontRef idx="minor">
      <a:schemeClr val="tx2"/>
    </cs:fontRef>
    <cs:spPr>
      <a:ln w="31750" cap="rnd">
        <a:solidFill>
          <a:schemeClr val="phClr"/>
        </a:solidFill>
        <a:round/>
      </a:ln>
    </cs:spPr>
  </cs:dataPointLine>
  <cs:dataPointMarker>
    <cs:lnRef idx="0"/>
    <cs:fillRef idx="3">
      <cs:styleClr val="auto"/>
    </cs:fillRef>
    <cs:effectRef idx="2"/>
    <cs:fontRef idx="minor">
      <a:schemeClr val="tx2"/>
    </cs:fontRef>
    <cs:spPr>
      <a:ln w="12700">
        <a:solidFill>
          <a:schemeClr val="lt2"/>
        </a:solidFill>
        <a:round/>
      </a:ln>
    </cs:spPr>
  </cs:dataPointMarker>
  <cs:dataPointMarkerLayout symbol="circle" size="6"/>
  <cs:dataPointWireframe>
    <cs:lnRef idx="0">
      <cs:styleClr val="auto"/>
    </cs:lnRef>
    <cs:fillRef idx="3"/>
    <cs:effectRef idx="2"/>
    <cs:fontRef idx="minor">
      <a:schemeClr val="tx2"/>
    </cs:fontRef>
    <cs:spPr>
      <a:ln w="9525" cap="rnd">
        <a:solidFill>
          <a:schemeClr val="phClr"/>
        </a:solidFill>
        <a:round/>
      </a:ln>
    </cs:spPr>
  </cs:dataPointWireframe>
  <cs:dataTable>
    <cs:lnRef idx="0"/>
    <cs:fillRef idx="0"/>
    <cs:effectRef idx="0"/>
    <cs:fontRef idx="minor">
      <a:schemeClr val="tx2"/>
    </cs:fontRef>
    <cs:spPr>
      <a:ln w="9525">
        <a:solidFill>
          <a:schemeClr val="tx2">
            <a:lumMod val="15000"/>
            <a:lumOff val="85000"/>
          </a:schemeClr>
        </a:solidFill>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2"/>
    </cs:fontRef>
    <cs:spPr>
      <a:ln w="9525">
        <a:solidFill>
          <a:schemeClr val="tx2">
            <a:lumMod val="60000"/>
            <a:lumOff val="40000"/>
          </a:schemeClr>
        </a:solidFill>
        <a:prstDash val="dash"/>
      </a:ln>
    </cs:spPr>
  </cs:dropLine>
  <cs:errorBar>
    <cs:lnRef idx="0"/>
    <cs:fillRef idx="0"/>
    <cs:effectRef idx="0"/>
    <cs:fontRef idx="minor">
      <a:schemeClr val="tx2"/>
    </cs:fontRef>
    <cs:spPr>
      <a:ln w="9525">
        <a:solidFill>
          <a:schemeClr val="tx2">
            <a:lumMod val="75000"/>
          </a:schemeClr>
        </a:solidFill>
        <a:round/>
      </a:ln>
    </cs:spPr>
  </cs:errorBar>
  <cs:floor>
    <cs:lnRef idx="0"/>
    <cs:fillRef idx="0"/>
    <cs:effectRef idx="0"/>
    <cs:fontRef idx="minor">
      <a:schemeClr val="tx2"/>
    </cs:fontRef>
  </cs:floor>
  <cs:gridlineMajor>
    <cs:lnRef idx="0"/>
    <cs:fillRef idx="0"/>
    <cs:effectRef idx="0"/>
    <cs:fontRef idx="minor">
      <a:schemeClr val="tx2"/>
    </cs:fontRef>
    <cs:spPr>
      <a:ln w="9525" cap="flat" cmpd="sng" algn="ctr">
        <a:solidFill>
          <a:schemeClr val="tx2">
            <a:lumMod val="15000"/>
            <a:lumOff val="85000"/>
          </a:schemeClr>
        </a:solidFill>
        <a:round/>
      </a:ln>
    </cs:spPr>
  </cs:gridlineMajor>
  <cs:gridlineMinor>
    <cs:lnRef idx="0"/>
    <cs:fillRef idx="0"/>
    <cs:effectRef idx="0"/>
    <cs:fontRef idx="minor">
      <a:schemeClr val="tx2"/>
    </cs:fontRef>
    <cs:spPr>
      <a:ln>
        <a:solidFill>
          <a:schemeClr val="tx2">
            <a:lumMod val="5000"/>
            <a:lumOff val="95000"/>
          </a:schemeClr>
        </a:solidFill>
      </a:ln>
    </cs:spPr>
  </cs:gridlineMinor>
  <cs:hiLoLine>
    <cs:lnRef idx="0"/>
    <cs:fillRef idx="0"/>
    <cs:effectRef idx="0"/>
    <cs:fontRef idx="minor">
      <a:schemeClr val="tx2"/>
    </cs:fontRef>
    <cs:spPr>
      <a:ln w="9525">
        <a:solidFill>
          <a:schemeClr val="tx2">
            <a:lumMod val="60000"/>
            <a:lumOff val="40000"/>
          </a:schemeClr>
        </a:solidFill>
        <a:prstDash val="dash"/>
      </a:ln>
    </cs:spPr>
  </cs:hiLoLine>
  <cs:leaderLine>
    <cs:lnRef idx="0"/>
    <cs:fillRef idx="0"/>
    <cs:effectRef idx="0"/>
    <cs:fontRef idx="minor">
      <a:schemeClr val="tx2"/>
    </cs:fontRef>
    <cs:spPr>
      <a:ln w="9525">
        <a:solidFill>
          <a:schemeClr val="tx2">
            <a:lumMod val="35000"/>
            <a:lumOff val="65000"/>
          </a:schemeClr>
        </a:solidFill>
      </a:ln>
    </cs:spPr>
  </cs:leaderLine>
  <cs:legend>
    <cs:lnRef idx="0"/>
    <cs:fillRef idx="0"/>
    <cs:effectRef idx="0"/>
    <cs:fontRef idx="minor">
      <a:schemeClr val="tx2"/>
    </cs:fontRef>
    <cs:defRPr sz="900" kern="1200"/>
  </cs:legend>
  <cs:plotArea>
    <cs:lnRef idx="0"/>
    <cs:fillRef idx="0"/>
    <cs:effectRef idx="0"/>
    <cs:fontRef idx="minor">
      <a:schemeClr val="tx2"/>
    </cs:fontRef>
  </cs:plotArea>
  <cs:plotArea3D>
    <cs:lnRef idx="0"/>
    <cs:fillRef idx="0"/>
    <cs:effectRef idx="0"/>
    <cs:fontRef idx="minor">
      <a:schemeClr val="tx2"/>
    </cs:fontRef>
  </cs:plotArea3D>
  <cs:seriesAxis>
    <cs:lnRef idx="0"/>
    <cs:fillRef idx="0"/>
    <cs:effectRef idx="0"/>
    <cs:fontRef idx="minor">
      <a:schemeClr val="tx2"/>
    </cs:fontRef>
    <cs:spPr>
      <a:ln w="9525" cap="flat" cmpd="sng" algn="ctr">
        <a:solidFill>
          <a:schemeClr val="tx2">
            <a:lumMod val="15000"/>
            <a:lumOff val="85000"/>
          </a:schemeClr>
        </a:solidFill>
        <a:round/>
      </a:ln>
    </cs:spPr>
    <cs:defRPr sz="900" kern="1200"/>
  </cs:seriesAxis>
  <cs:seriesLine>
    <cs:lnRef idx="0"/>
    <cs:fillRef idx="0"/>
    <cs:effectRef idx="0"/>
    <cs:fontRef idx="minor">
      <a:schemeClr val="tx2"/>
    </cs:fontRef>
    <cs:spPr>
      <a:ln w="9525">
        <a:solidFill>
          <a:schemeClr val="tx2">
            <a:lumMod val="60000"/>
            <a:lumOff val="40000"/>
          </a:schemeClr>
        </a:solidFill>
        <a:prstDash val="dash"/>
      </a:ln>
    </cs:spPr>
  </cs:seriesLine>
  <cs:title>
    <cs:lnRef idx="0"/>
    <cs:fillRef idx="0"/>
    <cs:effectRef idx="0"/>
    <cs:fontRef idx="minor">
      <a:schemeClr val="tx2"/>
    </cs:fontRef>
    <cs:defRPr sz="1600" b="1" kern="1200"/>
  </cs:title>
  <cs:trendline>
    <cs:lnRef idx="0">
      <cs:styleClr val="auto"/>
    </cs:lnRef>
    <cs:fillRef idx="0"/>
    <cs:effectRef idx="0"/>
    <cs:fontRef idx="minor">
      <a:schemeClr val="tx2"/>
    </cs:fontRef>
    <cs:spPr>
      <a:ln w="19050" cap="rnd">
        <a:solidFill>
          <a:schemeClr val="phClr"/>
        </a:solidFill>
        <a:prstDash val="sysDash"/>
      </a:ln>
    </cs:spPr>
  </cs:trendline>
  <cs:trendlineLabel>
    <cs:lnRef idx="0"/>
    <cs:fillRef idx="0"/>
    <cs:effectRef idx="0"/>
    <cs:fontRef idx="minor">
      <a:schemeClr val="tx2"/>
    </cs:fontRef>
    <cs:defRPr sz="900" kern="1200"/>
  </cs:trendlineLabel>
  <cs:upBar>
    <cs:lnRef idx="0"/>
    <cs:fillRef idx="0"/>
    <cs:effectRef idx="0"/>
    <cs:fontRef idx="minor">
      <a:schemeClr val="tx2"/>
    </cs:fontRef>
    <cs:spPr>
      <a:solidFill>
        <a:schemeClr val="lt1"/>
      </a:solidFill>
      <a:ln w="9525">
        <a:solidFill>
          <a:schemeClr val="tx1">
            <a:lumMod val="15000"/>
            <a:lumOff val="85000"/>
          </a:schemeClr>
        </a:solidFill>
      </a:ln>
    </cs:spPr>
  </cs:upBar>
  <cs:valueAxis>
    <cs:lnRef idx="0"/>
    <cs:fillRef idx="0"/>
    <cs:effectRef idx="0"/>
    <cs:fontRef idx="minor">
      <a:schemeClr val="tx2"/>
    </cs:fontRef>
    <cs:defRPr sz="900" kern="1200"/>
  </cs:valueAxis>
  <cs:wall>
    <cs:lnRef idx="0"/>
    <cs:fillRef idx="0"/>
    <cs:effectRef idx="0"/>
    <cs:fontRef idx="minor">
      <a:schemeClr val="tx2"/>
    </cs:fontRef>
  </cs:wall>
</cs:chartStyle>
</file>

<file path=ppt/charts/style4.xml><?xml version="1.0" encoding="utf-8"?>
<cs:chartStyle xmlns:cs="http://schemas.microsoft.com/office/drawing/2012/chartStyle" xmlns:a="http://schemas.openxmlformats.org/drawingml/2006/main" id="302">
  <cs:axisTitle>
    <cs:lnRef idx="0"/>
    <cs:fillRef idx="0"/>
    <cs:effectRef idx="0"/>
    <cs:fontRef idx="minor">
      <a:schemeClr val="tx2"/>
    </cs:fontRef>
    <cs:defRPr sz="900" b="1" kern="1200"/>
  </cs:axisTitle>
  <cs:categoryAxis>
    <cs:lnRef idx="0"/>
    <cs:fillRef idx="0"/>
    <cs:effectRef idx="0"/>
    <cs:fontRef idx="minor">
      <a:schemeClr val="tx2"/>
    </cs:fontRef>
    <cs:spPr>
      <a:ln w="9525" cap="flat" cmpd="sng" algn="ctr">
        <a:solidFill>
          <a:schemeClr val="tx2">
            <a:lumMod val="15000"/>
            <a:lumOff val="85000"/>
          </a:schemeClr>
        </a:solidFill>
        <a:round/>
      </a:ln>
    </cs:spPr>
    <cs:defRPr sz="900"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2">
            <a:lumMod val="15000"/>
            <a:lumOff val="85000"/>
          </a:schemeClr>
        </a:solidFill>
        <a:round/>
      </a:ln>
    </cs:spPr>
    <cs:defRPr sz="900" kern="1200"/>
  </cs:chartArea>
  <cs:dataLabel>
    <cs:lnRef idx="0"/>
    <cs:fillRef idx="0"/>
    <cs:effectRef idx="0"/>
    <cs:fontRef idx="minor">
      <a:schemeClr val="tx2"/>
    </cs:fontRef>
    <cs:defRPr sz="900" kern="1200"/>
  </cs:dataLabel>
  <cs:dataLabelCallout>
    <cs:lnRef idx="0"/>
    <cs:fillRef idx="0"/>
    <cs:effectRef idx="0"/>
    <cs:fontRef idx="minor">
      <a:schemeClr val="dk2">
        <a:lumMod val="7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2"/>
    <cs:fontRef idx="minor">
      <a:schemeClr val="tx2"/>
    </cs:fontRef>
  </cs:dataPoint>
  <cs:dataPoint3D>
    <cs:lnRef idx="0"/>
    <cs:fillRef idx="3">
      <cs:styleClr val="auto"/>
    </cs:fillRef>
    <cs:effectRef idx="2"/>
    <cs:fontRef idx="minor">
      <a:schemeClr val="tx2"/>
    </cs:fontRef>
  </cs:dataPoint3D>
  <cs:dataPointLine>
    <cs:lnRef idx="0">
      <cs:styleClr val="auto"/>
    </cs:lnRef>
    <cs:fillRef idx="3"/>
    <cs:effectRef idx="2"/>
    <cs:fontRef idx="minor">
      <a:schemeClr val="tx2"/>
    </cs:fontRef>
    <cs:spPr>
      <a:ln w="31750" cap="rnd">
        <a:solidFill>
          <a:schemeClr val="phClr"/>
        </a:solidFill>
        <a:round/>
      </a:ln>
    </cs:spPr>
  </cs:dataPointLine>
  <cs:dataPointMarker>
    <cs:lnRef idx="0"/>
    <cs:fillRef idx="3">
      <cs:styleClr val="auto"/>
    </cs:fillRef>
    <cs:effectRef idx="2"/>
    <cs:fontRef idx="minor">
      <a:schemeClr val="tx2"/>
    </cs:fontRef>
    <cs:spPr>
      <a:ln w="12700">
        <a:solidFill>
          <a:schemeClr val="lt2"/>
        </a:solidFill>
        <a:round/>
      </a:ln>
    </cs:spPr>
  </cs:dataPointMarker>
  <cs:dataPointMarkerLayout symbol="circle" size="6"/>
  <cs:dataPointWireframe>
    <cs:lnRef idx="0">
      <cs:styleClr val="auto"/>
    </cs:lnRef>
    <cs:fillRef idx="3"/>
    <cs:effectRef idx="2"/>
    <cs:fontRef idx="minor">
      <a:schemeClr val="tx2"/>
    </cs:fontRef>
    <cs:spPr>
      <a:ln w="9525" cap="rnd">
        <a:solidFill>
          <a:schemeClr val="phClr"/>
        </a:solidFill>
        <a:round/>
      </a:ln>
    </cs:spPr>
  </cs:dataPointWireframe>
  <cs:dataTable>
    <cs:lnRef idx="0"/>
    <cs:fillRef idx="0"/>
    <cs:effectRef idx="0"/>
    <cs:fontRef idx="minor">
      <a:schemeClr val="tx2"/>
    </cs:fontRef>
    <cs:spPr>
      <a:ln w="9525">
        <a:solidFill>
          <a:schemeClr val="tx2">
            <a:lumMod val="15000"/>
            <a:lumOff val="85000"/>
          </a:schemeClr>
        </a:solidFill>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2"/>
    </cs:fontRef>
    <cs:spPr>
      <a:ln w="9525">
        <a:solidFill>
          <a:schemeClr val="tx2">
            <a:lumMod val="60000"/>
            <a:lumOff val="40000"/>
          </a:schemeClr>
        </a:solidFill>
        <a:prstDash val="dash"/>
      </a:ln>
    </cs:spPr>
  </cs:dropLine>
  <cs:errorBar>
    <cs:lnRef idx="0"/>
    <cs:fillRef idx="0"/>
    <cs:effectRef idx="0"/>
    <cs:fontRef idx="minor">
      <a:schemeClr val="tx2"/>
    </cs:fontRef>
    <cs:spPr>
      <a:ln w="9525">
        <a:solidFill>
          <a:schemeClr val="tx2">
            <a:lumMod val="75000"/>
          </a:schemeClr>
        </a:solidFill>
        <a:round/>
      </a:ln>
    </cs:spPr>
  </cs:errorBar>
  <cs:floor>
    <cs:lnRef idx="0"/>
    <cs:fillRef idx="0"/>
    <cs:effectRef idx="0"/>
    <cs:fontRef idx="minor">
      <a:schemeClr val="tx2"/>
    </cs:fontRef>
  </cs:floor>
  <cs:gridlineMajor>
    <cs:lnRef idx="0"/>
    <cs:fillRef idx="0"/>
    <cs:effectRef idx="0"/>
    <cs:fontRef idx="minor">
      <a:schemeClr val="tx2"/>
    </cs:fontRef>
    <cs:spPr>
      <a:ln w="9525" cap="flat" cmpd="sng" algn="ctr">
        <a:solidFill>
          <a:schemeClr val="tx2">
            <a:lumMod val="15000"/>
            <a:lumOff val="85000"/>
          </a:schemeClr>
        </a:solidFill>
        <a:round/>
      </a:ln>
    </cs:spPr>
  </cs:gridlineMajor>
  <cs:gridlineMinor>
    <cs:lnRef idx="0"/>
    <cs:fillRef idx="0"/>
    <cs:effectRef idx="0"/>
    <cs:fontRef idx="minor">
      <a:schemeClr val="tx2"/>
    </cs:fontRef>
    <cs:spPr>
      <a:ln>
        <a:solidFill>
          <a:schemeClr val="tx2">
            <a:lumMod val="5000"/>
            <a:lumOff val="95000"/>
          </a:schemeClr>
        </a:solidFill>
      </a:ln>
    </cs:spPr>
  </cs:gridlineMinor>
  <cs:hiLoLine>
    <cs:lnRef idx="0"/>
    <cs:fillRef idx="0"/>
    <cs:effectRef idx="0"/>
    <cs:fontRef idx="minor">
      <a:schemeClr val="tx2"/>
    </cs:fontRef>
    <cs:spPr>
      <a:ln w="9525">
        <a:solidFill>
          <a:schemeClr val="tx2">
            <a:lumMod val="60000"/>
            <a:lumOff val="40000"/>
          </a:schemeClr>
        </a:solidFill>
        <a:prstDash val="dash"/>
      </a:ln>
    </cs:spPr>
  </cs:hiLoLine>
  <cs:leaderLine>
    <cs:lnRef idx="0"/>
    <cs:fillRef idx="0"/>
    <cs:effectRef idx="0"/>
    <cs:fontRef idx="minor">
      <a:schemeClr val="tx2"/>
    </cs:fontRef>
    <cs:spPr>
      <a:ln w="9525">
        <a:solidFill>
          <a:schemeClr val="tx2">
            <a:lumMod val="35000"/>
            <a:lumOff val="65000"/>
          </a:schemeClr>
        </a:solidFill>
      </a:ln>
    </cs:spPr>
  </cs:leaderLine>
  <cs:legend>
    <cs:lnRef idx="0"/>
    <cs:fillRef idx="0"/>
    <cs:effectRef idx="0"/>
    <cs:fontRef idx="minor">
      <a:schemeClr val="tx2"/>
    </cs:fontRef>
    <cs:defRPr sz="900" kern="1200"/>
  </cs:legend>
  <cs:plotArea>
    <cs:lnRef idx="0"/>
    <cs:fillRef idx="0"/>
    <cs:effectRef idx="0"/>
    <cs:fontRef idx="minor">
      <a:schemeClr val="tx2"/>
    </cs:fontRef>
  </cs:plotArea>
  <cs:plotArea3D>
    <cs:lnRef idx="0"/>
    <cs:fillRef idx="0"/>
    <cs:effectRef idx="0"/>
    <cs:fontRef idx="minor">
      <a:schemeClr val="tx2"/>
    </cs:fontRef>
  </cs:plotArea3D>
  <cs:seriesAxis>
    <cs:lnRef idx="0"/>
    <cs:fillRef idx="0"/>
    <cs:effectRef idx="0"/>
    <cs:fontRef idx="minor">
      <a:schemeClr val="tx2"/>
    </cs:fontRef>
    <cs:spPr>
      <a:ln w="9525" cap="flat" cmpd="sng" algn="ctr">
        <a:solidFill>
          <a:schemeClr val="tx2">
            <a:lumMod val="15000"/>
            <a:lumOff val="85000"/>
          </a:schemeClr>
        </a:solidFill>
        <a:round/>
      </a:ln>
    </cs:spPr>
    <cs:defRPr sz="900" kern="1200"/>
  </cs:seriesAxis>
  <cs:seriesLine>
    <cs:lnRef idx="0"/>
    <cs:fillRef idx="0"/>
    <cs:effectRef idx="0"/>
    <cs:fontRef idx="minor">
      <a:schemeClr val="tx2"/>
    </cs:fontRef>
    <cs:spPr>
      <a:ln w="9525">
        <a:solidFill>
          <a:schemeClr val="tx2">
            <a:lumMod val="60000"/>
            <a:lumOff val="40000"/>
          </a:schemeClr>
        </a:solidFill>
        <a:prstDash val="dash"/>
      </a:ln>
    </cs:spPr>
  </cs:seriesLine>
  <cs:title>
    <cs:lnRef idx="0"/>
    <cs:fillRef idx="0"/>
    <cs:effectRef idx="0"/>
    <cs:fontRef idx="minor">
      <a:schemeClr val="tx2"/>
    </cs:fontRef>
    <cs:defRPr sz="1600" b="1" kern="1200"/>
  </cs:title>
  <cs:trendline>
    <cs:lnRef idx="0">
      <cs:styleClr val="auto"/>
    </cs:lnRef>
    <cs:fillRef idx="0"/>
    <cs:effectRef idx="0"/>
    <cs:fontRef idx="minor">
      <a:schemeClr val="tx2"/>
    </cs:fontRef>
    <cs:spPr>
      <a:ln w="19050" cap="rnd">
        <a:solidFill>
          <a:schemeClr val="phClr"/>
        </a:solidFill>
        <a:prstDash val="sysDash"/>
      </a:ln>
    </cs:spPr>
  </cs:trendline>
  <cs:trendlineLabel>
    <cs:lnRef idx="0"/>
    <cs:fillRef idx="0"/>
    <cs:effectRef idx="0"/>
    <cs:fontRef idx="minor">
      <a:schemeClr val="tx2"/>
    </cs:fontRef>
    <cs:defRPr sz="900" kern="1200"/>
  </cs:trendlineLabel>
  <cs:upBar>
    <cs:lnRef idx="0"/>
    <cs:fillRef idx="0"/>
    <cs:effectRef idx="0"/>
    <cs:fontRef idx="minor">
      <a:schemeClr val="tx2"/>
    </cs:fontRef>
    <cs:spPr>
      <a:solidFill>
        <a:schemeClr val="lt1"/>
      </a:solidFill>
      <a:ln w="9525">
        <a:solidFill>
          <a:schemeClr val="tx1">
            <a:lumMod val="15000"/>
            <a:lumOff val="85000"/>
          </a:schemeClr>
        </a:solidFill>
      </a:ln>
    </cs:spPr>
  </cs:upBar>
  <cs:valueAxis>
    <cs:lnRef idx="0"/>
    <cs:fillRef idx="0"/>
    <cs:effectRef idx="0"/>
    <cs:fontRef idx="minor">
      <a:schemeClr val="tx2"/>
    </cs:fontRef>
    <cs:defRPr sz="900" kern="1200"/>
  </cs:valueAxis>
  <cs:wall>
    <cs:lnRef idx="0"/>
    <cs:fillRef idx="0"/>
    <cs:effectRef idx="0"/>
    <cs:fontRef idx="minor">
      <a:schemeClr val="tx2"/>
    </cs:fontRef>
  </cs:wall>
</cs:chartStyle>
</file>

<file path=ppt/charts/style5.xml><?xml version="1.0" encoding="utf-8"?>
<cs:chartStyle xmlns:cs="http://schemas.microsoft.com/office/drawing/2012/chartStyle" xmlns:a="http://schemas.openxmlformats.org/drawingml/2006/main" id="302">
  <cs:axisTitle>
    <cs:lnRef idx="0"/>
    <cs:fillRef idx="0"/>
    <cs:effectRef idx="0"/>
    <cs:fontRef idx="minor">
      <a:schemeClr val="tx2"/>
    </cs:fontRef>
    <cs:defRPr sz="900" b="1" kern="1200"/>
  </cs:axisTitle>
  <cs:categoryAxis>
    <cs:lnRef idx="0"/>
    <cs:fillRef idx="0"/>
    <cs:effectRef idx="0"/>
    <cs:fontRef idx="minor">
      <a:schemeClr val="tx2"/>
    </cs:fontRef>
    <cs:spPr>
      <a:ln w="9525" cap="flat" cmpd="sng" algn="ctr">
        <a:solidFill>
          <a:schemeClr val="tx2">
            <a:lumMod val="15000"/>
            <a:lumOff val="85000"/>
          </a:schemeClr>
        </a:solidFill>
        <a:round/>
      </a:ln>
    </cs:spPr>
    <cs:defRPr sz="900"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2">
            <a:lumMod val="15000"/>
            <a:lumOff val="85000"/>
          </a:schemeClr>
        </a:solidFill>
        <a:round/>
      </a:ln>
    </cs:spPr>
    <cs:defRPr sz="900" kern="1200"/>
  </cs:chartArea>
  <cs:dataLabel>
    <cs:lnRef idx="0"/>
    <cs:fillRef idx="0"/>
    <cs:effectRef idx="0"/>
    <cs:fontRef idx="minor">
      <a:schemeClr val="tx2"/>
    </cs:fontRef>
    <cs:defRPr sz="900" kern="1200"/>
  </cs:dataLabel>
  <cs:dataLabelCallout>
    <cs:lnRef idx="0"/>
    <cs:fillRef idx="0"/>
    <cs:effectRef idx="0"/>
    <cs:fontRef idx="minor">
      <a:schemeClr val="dk2">
        <a:lumMod val="7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2"/>
    <cs:fontRef idx="minor">
      <a:schemeClr val="tx2"/>
    </cs:fontRef>
  </cs:dataPoint>
  <cs:dataPoint3D>
    <cs:lnRef idx="0"/>
    <cs:fillRef idx="3">
      <cs:styleClr val="auto"/>
    </cs:fillRef>
    <cs:effectRef idx="2"/>
    <cs:fontRef idx="minor">
      <a:schemeClr val="tx2"/>
    </cs:fontRef>
  </cs:dataPoint3D>
  <cs:dataPointLine>
    <cs:lnRef idx="0">
      <cs:styleClr val="auto"/>
    </cs:lnRef>
    <cs:fillRef idx="3"/>
    <cs:effectRef idx="2"/>
    <cs:fontRef idx="minor">
      <a:schemeClr val="tx2"/>
    </cs:fontRef>
    <cs:spPr>
      <a:ln w="31750" cap="rnd">
        <a:solidFill>
          <a:schemeClr val="phClr"/>
        </a:solidFill>
        <a:round/>
      </a:ln>
    </cs:spPr>
  </cs:dataPointLine>
  <cs:dataPointMarker>
    <cs:lnRef idx="0"/>
    <cs:fillRef idx="3">
      <cs:styleClr val="auto"/>
    </cs:fillRef>
    <cs:effectRef idx="2"/>
    <cs:fontRef idx="minor">
      <a:schemeClr val="tx2"/>
    </cs:fontRef>
    <cs:spPr>
      <a:ln w="12700">
        <a:solidFill>
          <a:schemeClr val="lt2"/>
        </a:solidFill>
        <a:round/>
      </a:ln>
    </cs:spPr>
  </cs:dataPointMarker>
  <cs:dataPointMarkerLayout symbol="circle" size="6"/>
  <cs:dataPointWireframe>
    <cs:lnRef idx="0">
      <cs:styleClr val="auto"/>
    </cs:lnRef>
    <cs:fillRef idx="3"/>
    <cs:effectRef idx="2"/>
    <cs:fontRef idx="minor">
      <a:schemeClr val="tx2"/>
    </cs:fontRef>
    <cs:spPr>
      <a:ln w="9525" cap="rnd">
        <a:solidFill>
          <a:schemeClr val="phClr"/>
        </a:solidFill>
        <a:round/>
      </a:ln>
    </cs:spPr>
  </cs:dataPointWireframe>
  <cs:dataTable>
    <cs:lnRef idx="0"/>
    <cs:fillRef idx="0"/>
    <cs:effectRef idx="0"/>
    <cs:fontRef idx="minor">
      <a:schemeClr val="tx2"/>
    </cs:fontRef>
    <cs:spPr>
      <a:ln w="9525">
        <a:solidFill>
          <a:schemeClr val="tx2">
            <a:lumMod val="15000"/>
            <a:lumOff val="85000"/>
          </a:schemeClr>
        </a:solidFill>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2"/>
    </cs:fontRef>
    <cs:spPr>
      <a:ln w="9525">
        <a:solidFill>
          <a:schemeClr val="tx2">
            <a:lumMod val="60000"/>
            <a:lumOff val="40000"/>
          </a:schemeClr>
        </a:solidFill>
        <a:prstDash val="dash"/>
      </a:ln>
    </cs:spPr>
  </cs:dropLine>
  <cs:errorBar>
    <cs:lnRef idx="0"/>
    <cs:fillRef idx="0"/>
    <cs:effectRef idx="0"/>
    <cs:fontRef idx="minor">
      <a:schemeClr val="tx2"/>
    </cs:fontRef>
    <cs:spPr>
      <a:ln w="9525">
        <a:solidFill>
          <a:schemeClr val="tx2">
            <a:lumMod val="75000"/>
          </a:schemeClr>
        </a:solidFill>
        <a:round/>
      </a:ln>
    </cs:spPr>
  </cs:errorBar>
  <cs:floor>
    <cs:lnRef idx="0"/>
    <cs:fillRef idx="0"/>
    <cs:effectRef idx="0"/>
    <cs:fontRef idx="minor">
      <a:schemeClr val="tx2"/>
    </cs:fontRef>
  </cs:floor>
  <cs:gridlineMajor>
    <cs:lnRef idx="0"/>
    <cs:fillRef idx="0"/>
    <cs:effectRef idx="0"/>
    <cs:fontRef idx="minor">
      <a:schemeClr val="tx2"/>
    </cs:fontRef>
    <cs:spPr>
      <a:ln w="9525" cap="flat" cmpd="sng" algn="ctr">
        <a:solidFill>
          <a:schemeClr val="tx2">
            <a:lumMod val="15000"/>
            <a:lumOff val="85000"/>
          </a:schemeClr>
        </a:solidFill>
        <a:round/>
      </a:ln>
    </cs:spPr>
  </cs:gridlineMajor>
  <cs:gridlineMinor>
    <cs:lnRef idx="0"/>
    <cs:fillRef idx="0"/>
    <cs:effectRef idx="0"/>
    <cs:fontRef idx="minor">
      <a:schemeClr val="tx2"/>
    </cs:fontRef>
    <cs:spPr>
      <a:ln>
        <a:solidFill>
          <a:schemeClr val="tx2">
            <a:lumMod val="5000"/>
            <a:lumOff val="95000"/>
          </a:schemeClr>
        </a:solidFill>
      </a:ln>
    </cs:spPr>
  </cs:gridlineMinor>
  <cs:hiLoLine>
    <cs:lnRef idx="0"/>
    <cs:fillRef idx="0"/>
    <cs:effectRef idx="0"/>
    <cs:fontRef idx="minor">
      <a:schemeClr val="tx2"/>
    </cs:fontRef>
    <cs:spPr>
      <a:ln w="9525">
        <a:solidFill>
          <a:schemeClr val="tx2">
            <a:lumMod val="60000"/>
            <a:lumOff val="40000"/>
          </a:schemeClr>
        </a:solidFill>
        <a:prstDash val="dash"/>
      </a:ln>
    </cs:spPr>
  </cs:hiLoLine>
  <cs:leaderLine>
    <cs:lnRef idx="0"/>
    <cs:fillRef idx="0"/>
    <cs:effectRef idx="0"/>
    <cs:fontRef idx="minor">
      <a:schemeClr val="tx2"/>
    </cs:fontRef>
    <cs:spPr>
      <a:ln w="9525">
        <a:solidFill>
          <a:schemeClr val="tx2">
            <a:lumMod val="35000"/>
            <a:lumOff val="65000"/>
          </a:schemeClr>
        </a:solidFill>
      </a:ln>
    </cs:spPr>
  </cs:leaderLine>
  <cs:legend>
    <cs:lnRef idx="0"/>
    <cs:fillRef idx="0"/>
    <cs:effectRef idx="0"/>
    <cs:fontRef idx="minor">
      <a:schemeClr val="tx2"/>
    </cs:fontRef>
    <cs:defRPr sz="900" kern="1200"/>
  </cs:legend>
  <cs:plotArea>
    <cs:lnRef idx="0"/>
    <cs:fillRef idx="0"/>
    <cs:effectRef idx="0"/>
    <cs:fontRef idx="minor">
      <a:schemeClr val="tx2"/>
    </cs:fontRef>
  </cs:plotArea>
  <cs:plotArea3D>
    <cs:lnRef idx="0"/>
    <cs:fillRef idx="0"/>
    <cs:effectRef idx="0"/>
    <cs:fontRef idx="minor">
      <a:schemeClr val="tx2"/>
    </cs:fontRef>
  </cs:plotArea3D>
  <cs:seriesAxis>
    <cs:lnRef idx="0"/>
    <cs:fillRef idx="0"/>
    <cs:effectRef idx="0"/>
    <cs:fontRef idx="minor">
      <a:schemeClr val="tx2"/>
    </cs:fontRef>
    <cs:spPr>
      <a:ln w="9525" cap="flat" cmpd="sng" algn="ctr">
        <a:solidFill>
          <a:schemeClr val="tx2">
            <a:lumMod val="15000"/>
            <a:lumOff val="85000"/>
          </a:schemeClr>
        </a:solidFill>
        <a:round/>
      </a:ln>
    </cs:spPr>
    <cs:defRPr sz="900" kern="1200"/>
  </cs:seriesAxis>
  <cs:seriesLine>
    <cs:lnRef idx="0"/>
    <cs:fillRef idx="0"/>
    <cs:effectRef idx="0"/>
    <cs:fontRef idx="minor">
      <a:schemeClr val="tx2"/>
    </cs:fontRef>
    <cs:spPr>
      <a:ln w="9525">
        <a:solidFill>
          <a:schemeClr val="tx2">
            <a:lumMod val="60000"/>
            <a:lumOff val="40000"/>
          </a:schemeClr>
        </a:solidFill>
        <a:prstDash val="dash"/>
      </a:ln>
    </cs:spPr>
  </cs:seriesLine>
  <cs:title>
    <cs:lnRef idx="0"/>
    <cs:fillRef idx="0"/>
    <cs:effectRef idx="0"/>
    <cs:fontRef idx="minor">
      <a:schemeClr val="tx2"/>
    </cs:fontRef>
    <cs:defRPr sz="1600" b="1" kern="1200"/>
  </cs:title>
  <cs:trendline>
    <cs:lnRef idx="0">
      <cs:styleClr val="auto"/>
    </cs:lnRef>
    <cs:fillRef idx="0"/>
    <cs:effectRef idx="0"/>
    <cs:fontRef idx="minor">
      <a:schemeClr val="tx2"/>
    </cs:fontRef>
    <cs:spPr>
      <a:ln w="19050" cap="rnd">
        <a:solidFill>
          <a:schemeClr val="phClr"/>
        </a:solidFill>
        <a:prstDash val="sysDash"/>
      </a:ln>
    </cs:spPr>
  </cs:trendline>
  <cs:trendlineLabel>
    <cs:lnRef idx="0"/>
    <cs:fillRef idx="0"/>
    <cs:effectRef idx="0"/>
    <cs:fontRef idx="minor">
      <a:schemeClr val="tx2"/>
    </cs:fontRef>
    <cs:defRPr sz="900" kern="1200"/>
  </cs:trendlineLabel>
  <cs:upBar>
    <cs:lnRef idx="0"/>
    <cs:fillRef idx="0"/>
    <cs:effectRef idx="0"/>
    <cs:fontRef idx="minor">
      <a:schemeClr val="tx2"/>
    </cs:fontRef>
    <cs:spPr>
      <a:solidFill>
        <a:schemeClr val="lt1"/>
      </a:solidFill>
      <a:ln w="9525">
        <a:solidFill>
          <a:schemeClr val="tx1">
            <a:lumMod val="15000"/>
            <a:lumOff val="85000"/>
          </a:schemeClr>
        </a:solidFill>
      </a:ln>
    </cs:spPr>
  </cs:upBar>
  <cs:valueAxis>
    <cs:lnRef idx="0"/>
    <cs:fillRef idx="0"/>
    <cs:effectRef idx="0"/>
    <cs:fontRef idx="minor">
      <a:schemeClr val="tx2"/>
    </cs:fontRef>
    <cs:defRPr sz="900" kern="1200"/>
  </cs:valueAxis>
  <cs:wall>
    <cs:lnRef idx="0"/>
    <cs:fillRef idx="0"/>
    <cs:effectRef idx="0"/>
    <cs:fontRef idx="minor">
      <a:schemeClr val="tx2"/>
    </cs:fontRef>
  </cs:wall>
</cs:chartStyle>
</file>

<file path=ppt/charts/style6.xml><?xml version="1.0" encoding="utf-8"?>
<cs:chartStyle xmlns:cs="http://schemas.microsoft.com/office/drawing/2012/chartStyle" xmlns:a="http://schemas.openxmlformats.org/drawingml/2006/main" id="348">
  <cs:axisTitle>
    <cs:lnRef idx="0"/>
    <cs:fillRef idx="0"/>
    <cs:effectRef idx="0"/>
    <cs:fontRef idx="minor">
      <a:schemeClr val="tx1">
        <a:lumMod val="65000"/>
        <a:lumOff val="35000"/>
      </a:schemeClr>
    </cs:fontRef>
    <cs:defRPr sz="900" kern="1200"/>
  </cs:axisTitle>
  <cs:category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ymbol="circle" size="6"/>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lt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600" b="1" kern="1200" baseline="0"/>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lt1"/>
    </cs:fontRef>
  </cs:wall>
</cs:chartStyle>
</file>

<file path=ppt/charts/style7.xml><?xml version="1.0" encoding="utf-8"?>
<cs:chartStyle xmlns:cs="http://schemas.microsoft.com/office/drawing/2012/chartStyle" xmlns:a="http://schemas.openxmlformats.org/drawingml/2006/main" id="328">
  <cs:axisTitle>
    <cs:lnRef idx="0"/>
    <cs:fillRef idx="0"/>
    <cs:effectRef idx="0"/>
    <cs:fontRef idx="minor">
      <a:schemeClr val="lt1">
        <a:lumMod val="85000"/>
      </a:schemeClr>
    </cs:fontRef>
    <cs:defRPr sz="900" b="1" kern="1200" cap="all"/>
  </cs:axisTitle>
  <cs:category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000" kern="1200"/>
  </cs:chartArea>
  <cs:dataLabel>
    <cs:lnRef idx="0"/>
    <cs:fillRef idx="0"/>
    <cs:effectRef idx="0"/>
    <cs:fontRef idx="minor">
      <a:schemeClr val="lt1">
        <a:lumMod val="85000"/>
      </a:schemeClr>
    </cs:fontRef>
    <cs:defRPr sz="900" kern="1200"/>
  </cs:dataLabel>
  <cs:dataLabelCallout>
    <cs:lnRef idx="0"/>
    <cs:fillRef idx="0"/>
    <cs:effectRef idx="0"/>
    <cs:fontRef idx="minor">
      <a:schemeClr val="dk1">
        <a:lumMod val="65000"/>
        <a:lumOff val="35000"/>
      </a:schemeClr>
    </cs:fontRef>
    <cs:spPr>
      <a:solidFill>
        <a:schemeClr val="lt1"/>
      </a:solidFill>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ymbol="circle" size="6"/>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lt1">
        <a:lumMod val="85000"/>
      </a:schemeClr>
    </cs:fontRef>
    <cs:spPr>
      <a:ln w="9525">
        <a:solidFill>
          <a:schemeClr val="lt1">
            <a:lumMod val="95000"/>
            <a:alpha val="54000"/>
          </a:schemeClr>
        </a:solidFill>
      </a:ln>
    </cs:spPr>
    <cs:defRPr sz="900" kern="1200"/>
  </cs:dataTable>
  <cs:downBar>
    <cs:lnRef idx="0"/>
    <cs:fillRef idx="0"/>
    <cs:effectRef idx="0"/>
    <cs:fontRef idx="minor">
      <a:schemeClr val="tx1"/>
    </cs:fontRef>
    <cs:spPr>
      <a:gradFill>
        <a:gsLst>
          <a:gs pos="100000">
            <a:schemeClr val="dk1">
              <a:lumMod val="95000"/>
              <a:lumOff val="5000"/>
            </a:schemeClr>
          </a:gs>
          <a:gs pos="0">
            <a:schemeClr val="dk1">
              <a:lumMod val="75000"/>
              <a:lumOff val="25000"/>
            </a:schemeClr>
          </a:gs>
        </a:gsLst>
        <a:path path="circle">
          <a:fillToRect l="50000" t="50000" r="50000" b="50000"/>
        </a:path>
      </a:gradFill>
      <a:ln w="9525">
        <a:solidFill>
          <a:schemeClr val="dk1">
            <a:lumMod val="75000"/>
            <a:lumOff val="25000"/>
          </a:schemeClr>
        </a:solidFill>
      </a:ln>
    </cs:spPr>
  </cs:downBar>
  <cs:dropLine>
    <cs:lnRef idx="0"/>
    <cs:fillRef idx="0"/>
    <cs:effectRef idx="0"/>
    <cs:fontRef idx="minor">
      <a:schemeClr val="tx1"/>
    </cs:fontRef>
    <cs:spPr>
      <a:ln w="9525" cap="flat" cmpd="sng" algn="ctr">
        <a:solidFill>
          <a:schemeClr val="lt1"/>
        </a:solidFill>
        <a:round/>
      </a:ln>
    </cs:spPr>
  </cs:dropLine>
  <cs:errorBar>
    <cs:lnRef idx="0"/>
    <cs:fillRef idx="0"/>
    <cs:effectRef idx="0"/>
    <cs:fontRef idx="minor">
      <a:schemeClr val="tx1"/>
    </cs:fontRef>
    <cs:spPr>
      <a:ln w="9525" cap="flat" cmpd="sng" algn="ctr">
        <a:solidFill>
          <a:schemeClr val="lt1">
            <a:lumMod val="9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lt1">
            <a:lumMod val="95000"/>
            <a:alpha val="10000"/>
          </a:schemeClr>
        </a:solidFill>
        <a:round/>
      </a:ln>
    </cs:spPr>
  </cs:gridlineMajor>
  <cs:gridlineMinor>
    <cs:lnRef idx="0"/>
    <cs:fillRef idx="0"/>
    <cs:effectRef idx="0"/>
    <cs:fontRef idx="minor">
      <a:schemeClr val="tx1"/>
    </cs:fontRef>
    <cs:spPr>
      <a:ln>
        <a:solidFill>
          <a:schemeClr val="lt1">
            <a:lumMod val="95000"/>
            <a:alpha val="5000"/>
          </a:schemeClr>
        </a:solidFill>
      </a:ln>
    </cs:spPr>
  </cs:gridlineMinor>
  <cs:hiLoLine>
    <cs:lnRef idx="0"/>
    <cs:fillRef idx="0"/>
    <cs:effectRef idx="0"/>
    <cs:fontRef idx="minor">
      <a:schemeClr val="tx1"/>
    </cs:fontRef>
    <cs:spPr>
      <a:ln w="9525" cap="flat" cmpd="sng" algn="ctr">
        <a:solidFill>
          <a:schemeClr val="lt1"/>
        </a:solidFill>
        <a:round/>
      </a:ln>
    </cs:spPr>
  </cs:hiLoLine>
  <cs:leaderLine>
    <cs:lnRef idx="0"/>
    <cs:fillRef idx="0"/>
    <cs:effectRef idx="0"/>
    <cs:fontRef idx="minor">
      <a:schemeClr val="tx1"/>
    </cs:fontRef>
    <cs:spPr>
      <a:ln w="9525">
        <a:solidFill>
          <a:schemeClr val="lt1">
            <a:lumMod val="95000"/>
            <a:alpha val="54000"/>
          </a:schemeClr>
        </a:solidFill>
      </a:ln>
    </cs:spPr>
  </cs:leaderLine>
  <cs:legend>
    <cs:lnRef idx="0"/>
    <cs:fillRef idx="0"/>
    <cs:effectRef idx="0"/>
    <cs:fontRef idx="minor">
      <a:schemeClr val="lt1">
        <a:lumMod val="85000"/>
      </a:schemeClr>
    </cs:fontRef>
    <cs:defRPr sz="900" kern="1200"/>
  </cs:legend>
  <cs:plotArea>
    <cs:lnRef idx="0"/>
    <cs:fillRef idx="0"/>
    <cs:effectRef idx="0"/>
    <cs:fontRef idx="minor">
      <a:schemeClr val="tx1"/>
    </cs:fontRef>
  </cs:plotArea>
  <cs:plotArea3D>
    <cs:lnRef idx="0"/>
    <cs:fillRef idx="0"/>
    <cs:effectRef idx="0"/>
    <cs:fontRef idx="minor">
      <a:schemeClr val="tx1"/>
    </cs:fontRef>
  </cs:plotArea3D>
  <cs:series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1600"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tx1"/>
    </cs:fontRef>
    <cs:spPr>
      <a:ln w="19050" cap="rnd">
        <a:solidFill>
          <a:schemeClr val="phClr"/>
        </a:solidFill>
      </a:ln>
    </cs:spPr>
  </cs:trendline>
  <cs:trendlineLabel>
    <cs:lnRef idx="0"/>
    <cs:fillRef idx="0"/>
    <cs:effectRef idx="0"/>
    <cs:fontRef idx="minor">
      <a:schemeClr val="lt1">
        <a:lumMod val="85000"/>
      </a:schemeClr>
    </cs:fontRef>
    <cs:defRPr sz="900" kern="1200"/>
  </cs:trendlineLabel>
  <cs:upBar>
    <cs:lnRef idx="0"/>
    <cs:fillRef idx="0"/>
    <cs:effectRef idx="0"/>
    <cs:fontRef idx="minor">
      <a:schemeClr val="tx1"/>
    </cs:fontRef>
    <cs:spPr>
      <a:gradFill>
        <a:gsLst>
          <a:gs pos="100000">
            <a:schemeClr val="lt1">
              <a:lumMod val="85000"/>
            </a:schemeClr>
          </a:gs>
          <a:gs pos="0">
            <a:schemeClr val="lt1"/>
          </a:gs>
        </a:gsLst>
        <a:path path="circle">
          <a:fillToRect l="50000" t="50000" r="50000" b="50000"/>
        </a:path>
      </a:gradFill>
      <a:ln w="9525" cap="flat" cmpd="sng" algn="ctr">
        <a:solidFill>
          <a:schemeClr val="lt1"/>
        </a:solidFill>
        <a:round/>
      </a:ln>
    </cs:spPr>
  </cs:upBar>
  <cs:valueAxis>
    <cs:lnRef idx="0"/>
    <cs:fillRef idx="0"/>
    <cs:effectRef idx="0"/>
    <cs:fontRef idx="minor">
      <a:schemeClr val="lt1">
        <a:lumMod val="85000"/>
      </a:schemeClr>
    </cs:fontRef>
    <cs:defRPr sz="900" kern="1200"/>
  </cs:valueAxis>
  <cs:wall>
    <cs:lnRef idx="0"/>
    <cs:fillRef idx="0"/>
    <cs:effectRef idx="0"/>
    <cs:fontRef idx="minor">
      <a:schemeClr val="tx1"/>
    </cs:fontRef>
  </cs:wall>
</cs:chartStyle>
</file>

<file path=ppt/charts/style8.xml><?xml version="1.0" encoding="utf-8"?>
<cs:chartStyle xmlns:cs="http://schemas.microsoft.com/office/drawing/2012/chartStyle" xmlns:a="http://schemas.openxmlformats.org/drawingml/2006/main" id="233">
  <cs:axisTitle>
    <cs:lnRef idx="0"/>
    <cs:fillRef idx="0"/>
    <cs:effectRef idx="0"/>
    <cs:fontRef idx="minor">
      <a:schemeClr val="lt1">
        <a:lumMod val="85000"/>
      </a:schemeClr>
    </cs:fontRef>
    <cs:defRPr sz="900" b="1" kern="1200" cap="all"/>
  </cs:axisTitle>
  <cs:categoryAxis>
    <cs:lnRef idx="0"/>
    <cs:fillRef idx="0"/>
    <cs:effectRef idx="0"/>
    <cs:fontRef idx="minor">
      <a:schemeClr val="lt1">
        <a:lumMod val="85000"/>
      </a:schemeClr>
    </cs:fontRef>
    <cs:spPr>
      <a:ln w="9525" cap="flat" cmpd="sng" algn="ctr">
        <a:solidFill>
          <a:schemeClr val="lt1">
            <a:lumMod val="95000"/>
            <a:alpha val="10000"/>
          </a:schemeClr>
        </a:solidFill>
        <a:round/>
      </a:ln>
    </cs:spPr>
    <cs:defRPr sz="900"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000" kern="1200"/>
  </cs:chartArea>
  <cs:dataLabel>
    <cs:lnRef idx="0"/>
    <cs:fillRef idx="0"/>
    <cs:effectRef idx="0"/>
    <cs:fontRef idx="minor">
      <a:schemeClr val="lt1">
        <a:lumMod val="85000"/>
      </a:schemeClr>
    </cs:fontRef>
    <cs:defRPr sz="900" kern="1200"/>
  </cs:dataLabel>
  <cs:dataLabelCallout>
    <cs:lnRef idx="0"/>
    <cs:fillRef idx="0"/>
    <cs:effectRef idx="0"/>
    <cs:fontRef idx="minor">
      <a:schemeClr val="dk1">
        <a:lumMod val="65000"/>
        <a:lumOff val="35000"/>
      </a:schemeClr>
    </cs:fontRef>
    <cs:spPr>
      <a:solidFill>
        <a:schemeClr val="lt1"/>
      </a:solidFill>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ymbol="circle" size="6"/>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lt1">
        <a:lumMod val="85000"/>
      </a:schemeClr>
    </cs:fontRef>
    <cs:spPr>
      <a:ln w="9525">
        <a:solidFill>
          <a:schemeClr val="lt1">
            <a:lumMod val="95000"/>
            <a:alpha val="54000"/>
          </a:schemeClr>
        </a:solidFill>
      </a:ln>
    </cs:spPr>
    <cs:defRPr sz="900" kern="1200"/>
  </cs:dataTable>
  <cs:downBar>
    <cs:lnRef idx="0"/>
    <cs:fillRef idx="0"/>
    <cs:effectRef idx="0"/>
    <cs:fontRef idx="minor">
      <a:schemeClr val="tx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tx1"/>
    </cs:fontRef>
    <cs:spPr>
      <a:ln w="9525">
        <a:solidFill>
          <a:schemeClr val="lt1">
            <a:lumMod val="95000"/>
            <a:alpha val="54000"/>
          </a:schemeClr>
        </a:solidFill>
        <a:prstDash val="dash"/>
      </a:ln>
    </cs:spPr>
  </cs:dropLine>
  <cs:errorBar>
    <cs:lnRef idx="0"/>
    <cs:fillRef idx="0"/>
    <cs:effectRef idx="0"/>
    <cs:fontRef idx="minor">
      <a:schemeClr val="tx1"/>
    </cs:fontRef>
    <cs:spPr>
      <a:ln w="9525" cap="flat" cmpd="sng" algn="ctr">
        <a:solidFill>
          <a:schemeClr val="lt1">
            <a:lumMod val="9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lt1">
            <a:lumMod val="95000"/>
            <a:alpha val="10000"/>
          </a:schemeClr>
        </a:solidFill>
        <a:round/>
      </a:ln>
    </cs:spPr>
  </cs:gridlineMajor>
  <cs:gridlineMinor>
    <cs:lnRef idx="0"/>
    <cs:fillRef idx="0"/>
    <cs:effectRef idx="0"/>
    <cs:fontRef idx="minor">
      <a:schemeClr val="tx1"/>
    </cs:fontRef>
    <cs:spPr>
      <a:ln>
        <a:solidFill>
          <a:schemeClr val="lt1">
            <a:lumMod val="95000"/>
            <a:alpha val="5000"/>
          </a:schemeClr>
        </a:solidFill>
      </a:ln>
    </cs:spPr>
  </cs:gridlineMinor>
  <cs:hiLoLine>
    <cs:lnRef idx="0"/>
    <cs:fillRef idx="0"/>
    <cs:effectRef idx="0"/>
    <cs:fontRef idx="minor">
      <a:schemeClr val="tx1"/>
    </cs:fontRef>
    <cs:spPr>
      <a:ln w="9525">
        <a:solidFill>
          <a:schemeClr val="lt1">
            <a:lumMod val="95000"/>
            <a:alpha val="54000"/>
          </a:schemeClr>
        </a:solidFill>
        <a:prstDash val="dash"/>
      </a:ln>
    </cs:spPr>
  </cs:hiLoLine>
  <cs:leaderLine>
    <cs:lnRef idx="0"/>
    <cs:fillRef idx="0"/>
    <cs:effectRef idx="0"/>
    <cs:fontRef idx="minor">
      <a:schemeClr val="tx1"/>
    </cs:fontRef>
    <cs:spPr>
      <a:ln w="9525">
        <a:solidFill>
          <a:schemeClr val="lt1">
            <a:lumMod val="95000"/>
            <a:alpha val="54000"/>
          </a:schemeClr>
        </a:solidFill>
      </a:ln>
    </cs:spPr>
  </cs:leaderLine>
  <cs:legend>
    <cs:lnRef idx="0"/>
    <cs:fillRef idx="0"/>
    <cs:effectRef idx="0"/>
    <cs:fontRef idx="minor">
      <a:schemeClr val="lt1">
        <a:lumMod val="85000"/>
      </a:schemeClr>
    </cs:fontRef>
    <cs:defRPr sz="900" kern="1200"/>
  </cs:legend>
  <cs:plotArea>
    <cs:lnRef idx="0"/>
    <cs:fillRef idx="0"/>
    <cs:effectRef idx="0"/>
    <cs:fontRef idx="minor">
      <a:schemeClr val="tx1"/>
    </cs:fontRef>
  </cs:plotArea>
  <cs:plotArea3D>
    <cs:lnRef idx="0"/>
    <cs:fillRef idx="0"/>
    <cs:effectRef idx="0"/>
    <cs:fontRef idx="minor">
      <a:schemeClr val="tx1"/>
    </cs:fontRef>
  </cs:plotArea3D>
  <cs:series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1600"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tx1"/>
    </cs:fontRef>
    <cs:spPr>
      <a:ln w="19050" cap="rnd">
        <a:solidFill>
          <a:schemeClr val="phClr"/>
        </a:solidFill>
      </a:ln>
    </cs:spPr>
  </cs:trendline>
  <cs:trendlineLabel>
    <cs:lnRef idx="0"/>
    <cs:fillRef idx="0"/>
    <cs:effectRef idx="0"/>
    <cs:fontRef idx="minor">
      <a:schemeClr val="lt1">
        <a:lumMod val="85000"/>
      </a:schemeClr>
    </cs:fontRef>
    <cs:defRPr sz="900" kern="1200"/>
  </cs:trendlineLabel>
  <cs:upBar>
    <cs:lnRef idx="0"/>
    <cs:fillRef idx="0"/>
    <cs:effectRef idx="0"/>
    <cs:fontRef idx="minor">
      <a:schemeClr val="tx1"/>
    </cs:fontRef>
    <cs:spPr>
      <a:solidFill>
        <a:schemeClr val="lt1"/>
      </a:solidFill>
      <a:ln w="9525">
        <a:solidFill>
          <a:schemeClr val="lt1">
            <a:lumMod val="95000"/>
            <a:alpha val="54000"/>
          </a:schemeClr>
        </a:solidFill>
      </a:ln>
    </cs:spPr>
  </cs:upBar>
  <cs:valueAxis>
    <cs:lnRef idx="0"/>
    <cs:fillRef idx="0"/>
    <cs:effectRef idx="0"/>
    <cs:fontRef idx="minor">
      <a:schemeClr val="lt1">
        <a:lumMod val="85000"/>
      </a:schemeClr>
    </cs:fontRef>
    <cs:defRPr sz="900" kern="1200"/>
  </cs:valueAxis>
  <cs:wall>
    <cs:lnRef idx="0"/>
    <cs:fillRef idx="0"/>
    <cs:effectRef idx="0"/>
    <cs:fontRef idx="minor">
      <a:schemeClr val="tx1"/>
    </cs:fontRef>
  </cs:wall>
</cs:chartStyle>
</file>

<file path=ppt/charts/style9.xml><?xml version="1.0" encoding="utf-8"?>
<cs:chartStyle xmlns:cs="http://schemas.microsoft.com/office/drawing/2012/chartStyle" xmlns:a="http://schemas.openxmlformats.org/drawingml/2006/main" id="236">
  <cs:axisTitle>
    <cs:lnRef idx="0"/>
    <cs:fillRef idx="0"/>
    <cs:effectRef idx="0"/>
    <cs:fontRef idx="minor">
      <a:schemeClr val="lt1">
        <a:lumMod val="75000"/>
      </a:schemeClr>
    </cs:fontRef>
    <cs:defRPr sz="900" b="1" kern="1200"/>
  </cs:axisTitle>
  <cs:categoryAxis>
    <cs:lnRef idx="0"/>
    <cs:fillRef idx="0"/>
    <cs:effectRef idx="0"/>
    <cs:fontRef idx="minor">
      <a:schemeClr val="lt1">
        <a:lumMod val="75000"/>
      </a:schemeClr>
    </cs:fontRef>
    <cs:defRPr sz="900" kern="1200"/>
  </cs:categoryAxis>
  <cs:chartArea>
    <cs:lnRef idx="0"/>
    <cs:fillRef idx="0"/>
    <cs:effectRef idx="0"/>
    <cs:fontRef idx="minor">
      <a:schemeClr val="dk1"/>
    </cs:fontRef>
    <cs:spPr>
      <a:solidFill>
        <a:schemeClr val="dk1">
          <a:lumMod val="75000"/>
          <a:lumOff val="25000"/>
        </a:schemeClr>
      </a:solidFill>
      <a:ln w="9525" cap="flat" cmpd="sng" algn="ctr">
        <a:solidFill>
          <a:schemeClr val="dk1">
            <a:lumMod val="15000"/>
            <a:lumOff val="85000"/>
          </a:schemeClr>
        </a:solidFill>
        <a:round/>
      </a:ln>
    </cs:spPr>
    <cs:defRPr sz="900" kern="1200"/>
  </cs:chartArea>
  <cs:dataLabel>
    <cs:lnRef idx="0"/>
    <cs:fillRef idx="0"/>
    <cs:effectRef idx="0"/>
    <cs:fontRef idx="minor">
      <a:schemeClr val="lt1">
        <a:lumMod val="75000"/>
      </a:schemeClr>
    </cs:fontRef>
    <cs:defRPr sz="900" kern="1200"/>
  </cs:dataLabel>
  <cs:dataLabelCallout>
    <cs:lnRef idx="0"/>
    <cs:fillRef idx="0"/>
    <cs:effectRef idx="0"/>
    <cs:fontRef idx="minor">
      <a:schemeClr val="lt1">
        <a:lumMod val="15000"/>
        <a:lumOff val="85000"/>
      </a:schemeClr>
    </cs:fontRef>
    <cs:spPr>
      <a:solidFill>
        <a:schemeClr val="dk1">
          <a:lumMod val="65000"/>
          <a:lumOff val="35000"/>
        </a:schemeClr>
      </a:solidFill>
    </cs:spPr>
    <cs:defRPr sz="900" kern="1200"/>
    <cs:bodyPr rot="0" spcFirstLastPara="1" vertOverflow="clip" horzOverflow="clip" vert="horz" wrap="square" lIns="36576" tIns="18288" rIns="36576" bIns="18288" anchor="ctr" anchorCtr="1">
      <a:spAutoFit/>
    </cs:bodyPr>
  </cs:dataLabelCallout>
  <cs:dataPoint>
    <cs:lnRef idx="0">
      <cs:styleClr val="auto"/>
    </cs:lnRef>
    <cs:fillRef idx="0"/>
    <cs:effectRef idx="0">
      <cs:styleClr val="auto"/>
    </cs:effectRef>
    <cs:fontRef idx="minor">
      <a:schemeClr val="dk1"/>
    </cs:fontRef>
    <cs:spPr>
      <a:ln w="9525" cap="flat" cmpd="sng" algn="ctr">
        <a:solidFill>
          <a:schemeClr val="phClr"/>
        </a:solidFill>
        <a:miter lim="800000"/>
      </a:ln>
      <a:effectLst>
        <a:glow rad="63500">
          <a:schemeClr val="phClr">
            <a:satMod val="175000"/>
            <a:alpha val="25000"/>
          </a:schemeClr>
        </a:glow>
      </a:effectLst>
    </cs:spPr>
  </cs:dataPoint>
  <cs:dataPoint3D>
    <cs:lnRef idx="0">
      <cs:styleClr val="auto"/>
    </cs:lnRef>
    <cs:fillRef idx="0">
      <cs:styleClr val="auto"/>
    </cs:fillRef>
    <cs:effectRef idx="0">
      <cs:styleClr val="auto"/>
    </cs:effectRef>
    <cs:fontRef idx="minor">
      <a:schemeClr val="dk1"/>
    </cs:fontRef>
    <cs:spPr>
      <a:ln w="9525" cap="flat" cmpd="sng" algn="ctr">
        <a:solidFill>
          <a:schemeClr val="phClr"/>
        </a:solidFill>
        <a:miter lim="800000"/>
      </a:ln>
      <a:effectLst>
        <a:glow rad="63500">
          <a:schemeClr val="phClr">
            <a:satMod val="175000"/>
            <a:alpha val="25000"/>
          </a:schemeClr>
        </a:glow>
      </a:effectLst>
    </cs:spPr>
  </cs:dataPoint3D>
  <cs:dataPointLine>
    <cs:lnRef idx="0">
      <cs:styleClr val="auto"/>
    </cs:lnRef>
    <cs:fillRef idx="0">
      <cs:styleClr val="auto"/>
    </cs:fillRef>
    <cs:effectRef idx="0">
      <cs:styleClr val="auto"/>
    </cs:effectRef>
    <cs:fontRef idx="minor">
      <a:schemeClr val="dk1"/>
    </cs:fontRef>
    <cs:spPr>
      <a:ln w="22225" cap="rnd">
        <a:solidFill>
          <a:schemeClr val="phClr"/>
        </a:solidFill>
      </a:ln>
      <a:effectLst>
        <a:glow rad="139700">
          <a:schemeClr val="phClr">
            <a:satMod val="175000"/>
            <a:alpha val="14000"/>
          </a:schemeClr>
        </a:glow>
      </a:effectLst>
    </cs:spPr>
  </cs:dataPointLine>
  <cs:dataPointMarker>
    <cs:lnRef idx="0">
      <cs:styleClr val="auto"/>
    </cs:lnRef>
    <cs:fillRef idx="0">
      <cs:styleClr val="auto"/>
    </cs:fillRef>
    <cs:effectRef idx="0">
      <cs:styleClr val="auto"/>
    </cs:effectRef>
    <cs:fontRef idx="minor">
      <a:schemeClr val="dk1"/>
    </cs:fontRef>
    <cs:spPr>
      <a:solidFill>
        <a:schemeClr val="phClr">
          <a:lumMod val="60000"/>
          <a:lumOff val="40000"/>
        </a:schemeClr>
      </a:solidFill>
      <a:effectLst>
        <a:glow rad="63500">
          <a:schemeClr val="phClr">
            <a:satMod val="175000"/>
            <a:alpha val="25000"/>
          </a:schemeClr>
        </a:glow>
      </a:effectLst>
    </cs:spPr>
  </cs:dataPointMarker>
  <cs:dataPointMarkerLayout symbol="circle" size="4"/>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lt1">
        <a:lumMod val="75000"/>
      </a:schemeClr>
    </cs:fontRef>
    <cs:spPr>
      <a:ln w="9525">
        <a:solidFill>
          <a:schemeClr val="dk1">
            <a:lumMod val="50000"/>
            <a:lumOff val="50000"/>
          </a:schemeClr>
        </a:solidFill>
      </a:ln>
    </cs:spPr>
    <cs:defRPr sz="900" kern="1200"/>
  </cs:dataTable>
  <cs:downBar>
    <cs:lnRef idx="0"/>
    <cs:fillRef idx="0"/>
    <cs:effectRef idx="0"/>
    <cs:fontRef idx="minor">
      <a:schemeClr val="lt1"/>
    </cs:fontRef>
    <cs:spPr>
      <a:solidFill>
        <a:schemeClr val="dk1">
          <a:lumMod val="50000"/>
          <a:lumOff val="50000"/>
        </a:schemeClr>
      </a:solidFill>
      <a:ln w="9525">
        <a:solidFill>
          <a:schemeClr val="dk1">
            <a:lumMod val="75000"/>
          </a:schemeClr>
        </a:solidFill>
        <a:round/>
      </a:ln>
    </cs:spPr>
  </cs:downBar>
  <cs:dropLine>
    <cs:lnRef idx="0"/>
    <cs:fillRef idx="0"/>
    <cs:effectRef idx="0"/>
    <cs:fontRef idx="minor">
      <a:schemeClr val="dk1"/>
    </cs:fontRef>
    <cs:spPr>
      <a:ln w="9525">
        <a:solidFill>
          <a:schemeClr val="lt1">
            <a:lumMod val="50000"/>
          </a:schemeClr>
        </a:solidFill>
        <a:round/>
      </a:ln>
    </cs:spPr>
  </cs:dropLine>
  <cs:errorBar>
    <cs:lnRef idx="0"/>
    <cs:fillRef idx="0"/>
    <cs:effectRef idx="0"/>
    <cs:fontRef idx="minor">
      <a:schemeClr val="dk1"/>
    </cs:fontRef>
    <cs:spPr>
      <a:ln w="9525">
        <a:solidFill>
          <a:schemeClr val="lt1">
            <a:lumMod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75000"/>
                <a:lumOff val="25000"/>
              </a:schemeClr>
            </a:gs>
            <a:gs pos="0">
              <a:schemeClr val="dk1">
                <a:lumMod val="65000"/>
                <a:lumOff val="35000"/>
              </a:schemeClr>
            </a:gs>
          </a:gsLst>
          <a:lin ang="5400000" scaled="0"/>
        </a:gradFill>
        <a:round/>
      </a:ln>
    </cs:spPr>
  </cs:gridlineMajor>
  <cs:gridlineMinor>
    <cs:lnRef idx="0"/>
    <cs:fillRef idx="0"/>
    <cs:effectRef idx="0"/>
    <cs:fontRef idx="minor">
      <a:schemeClr val="dk1"/>
    </cs:fontRef>
    <cs:spPr>
      <a:ln w="9525" cap="flat" cmpd="sng" algn="ctr">
        <a:gradFill>
          <a:gsLst>
            <a:gs pos="100000">
              <a:schemeClr val="dk1">
                <a:lumMod val="75000"/>
                <a:lumOff val="25000"/>
                <a:alpha val="25000"/>
              </a:schemeClr>
            </a:gs>
            <a:gs pos="0">
              <a:schemeClr val="dk1">
                <a:lumMod val="65000"/>
                <a:lumOff val="35000"/>
                <a:alpha val="25000"/>
              </a:schemeClr>
            </a:gs>
          </a:gsLst>
          <a:lin ang="5400000" scaled="0"/>
        </a:gradFill>
        <a:round/>
      </a:ln>
    </cs:spPr>
  </cs:gridlineMinor>
  <cs:hiLoLine>
    <cs:lnRef idx="0"/>
    <cs:fillRef idx="0"/>
    <cs:effectRef idx="0"/>
    <cs:fontRef idx="minor">
      <a:schemeClr val="dk1"/>
    </cs:fontRef>
    <cs:spPr>
      <a:ln w="9525">
        <a:solidFill>
          <a:schemeClr val="lt1">
            <a:lumMod val="50000"/>
          </a:schemeClr>
        </a:solidFill>
        <a:round/>
      </a:ln>
    </cs:spPr>
  </cs:hiLoLine>
  <cs:leaderLine>
    <cs:lnRef idx="0"/>
    <cs:fillRef idx="0"/>
    <cs:effectRef idx="0"/>
    <cs:fontRef idx="minor">
      <a:schemeClr val="dk1"/>
    </cs:fontRef>
    <cs:spPr>
      <a:ln w="9525">
        <a:solidFill>
          <a:schemeClr val="lt1">
            <a:lumMod val="50000"/>
          </a:schemeClr>
        </a:solidFill>
        <a:round/>
      </a:ln>
    </cs:spPr>
  </cs:leaderLine>
  <cs:legend>
    <cs:lnRef idx="0"/>
    <cs:fillRef idx="0"/>
    <cs:effectRef idx="0"/>
    <cs:fontRef idx="minor">
      <a:schemeClr val="lt1">
        <a:lumMod val="75000"/>
      </a:schemeClr>
    </cs:fontRef>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lt1">
        <a:lumMod val="75000"/>
      </a:schemeClr>
    </cs:fontRef>
    <cs:defRPr sz="900" kern="1200"/>
  </cs:seriesAxis>
  <cs:seriesLine>
    <cs:lnRef idx="0"/>
    <cs:fillRef idx="0"/>
    <cs:effectRef idx="0"/>
    <cs:fontRef idx="minor">
      <a:schemeClr val="dk1"/>
    </cs:fontRef>
    <cs:spPr>
      <a:ln w="9525">
        <a:solidFill>
          <a:schemeClr val="lt1">
            <a:lumMod val="50000"/>
          </a:schemeClr>
        </a:solidFill>
        <a:round/>
      </a:ln>
    </cs:spPr>
  </cs:seriesLine>
  <cs:title>
    <cs:lnRef idx="0"/>
    <cs:fillRef idx="0"/>
    <cs:effectRef idx="0"/>
    <cs:fontRef idx="minor">
      <a:schemeClr val="lt1">
        <a:lumMod val="85000"/>
      </a:schemeClr>
    </cs:fontRef>
    <cs:defRPr sz="1400" b="1" kern="1200" cap="none" baseline="0"/>
  </cs:title>
  <cs:trendline>
    <cs:lnRef idx="0">
      <cs:styleClr val="auto"/>
    </cs:lnRef>
    <cs:fillRef idx="0"/>
    <cs:effectRef idx="0"/>
    <cs:fontRef idx="minor">
      <a:schemeClr val="lt1"/>
    </cs:fontRef>
    <cs:spPr>
      <a:ln w="25400" cap="rnd">
        <a:solidFill>
          <a:schemeClr val="phClr">
            <a:alpha val="50000"/>
          </a:schemeClr>
        </a:solidFill>
      </a:ln>
    </cs:spPr>
  </cs:trendline>
  <cs:trendlineLabel>
    <cs:lnRef idx="0"/>
    <cs:fillRef idx="0"/>
    <cs:effectRef idx="0"/>
    <cs:fontRef idx="minor">
      <a:schemeClr val="lt1">
        <a:lumMod val="75000"/>
      </a:schemeClr>
    </cs:fontRef>
    <cs:defRPr sz="900" kern="1200"/>
  </cs:trendlineLabel>
  <cs:upBar>
    <cs:lnRef idx="0"/>
    <cs:fillRef idx="0"/>
    <cs:effectRef idx="0"/>
    <cs:fontRef idx="minor">
      <a:schemeClr val="dk1"/>
    </cs:fontRef>
    <cs:spPr>
      <a:solidFill>
        <a:schemeClr val="lt1">
          <a:lumMod val="85000"/>
        </a:schemeClr>
      </a:solidFill>
      <a:ln w="9525">
        <a:solidFill>
          <a:schemeClr val="dk1">
            <a:lumMod val="50000"/>
          </a:schemeClr>
        </a:solidFill>
        <a:round/>
      </a:ln>
    </cs:spPr>
  </cs:upBar>
  <cs:valueAxis>
    <cs:lnRef idx="0"/>
    <cs:fillRef idx="0"/>
    <cs:effectRef idx="0"/>
    <cs:fontRef idx="minor">
      <a:schemeClr val="lt1">
        <a:lumMod val="75000"/>
      </a:schemeClr>
    </cs:fontRef>
    <cs:defRPr sz="900" kern="1200"/>
  </cs:valueAxis>
  <cs:wall>
    <cs:lnRef idx="0"/>
    <cs:fillRef idx="0"/>
    <cs:effectRef idx="0"/>
    <cs:fontRef idx="minor">
      <a:schemeClr val="dk1"/>
    </cs:fontRef>
  </cs:wall>
</cs:chartStyle>
</file>

<file path=ppt/charts/style10.xml><?xml version="1.0" encoding="utf-8"?>
<cs:chartStyle xmlns:cs="http://schemas.microsoft.com/office/drawing/2012/chartStyle" xmlns:a="http://schemas.openxmlformats.org/drawingml/2006/main" id="304">
  <cs:axisTitle>
    <cs:lnRef idx="0"/>
    <cs:fillRef idx="0"/>
    <cs:effectRef idx="0"/>
    <cs:fontRef idx="minor">
      <a:schemeClr val="lt1">
        <a:lumMod val="85000"/>
      </a:schemeClr>
    </cs:fontRef>
    <cs:defRPr sz="900" b="1" kern="1200" cap="all"/>
  </cs:axisTitle>
  <cs:category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000" kern="1200"/>
  </cs:chartArea>
  <cs:dataLabel>
    <cs:lnRef idx="0"/>
    <cs:fillRef idx="0"/>
    <cs:effectRef idx="0"/>
    <cs:fontRef idx="minor">
      <a:schemeClr val="lt1">
        <a:lumMod val="85000"/>
      </a:schemeClr>
    </cs:fontRef>
    <cs:defRPr sz="900" kern="1200"/>
  </cs:dataLabel>
  <cs:dataLabelCallout>
    <cs:lnRef idx="0"/>
    <cs:fillRef idx="0"/>
    <cs:effectRef idx="0"/>
    <cs:fontRef idx="minor">
      <a:schemeClr val="dk1">
        <a:lumMod val="65000"/>
        <a:lumOff val="35000"/>
      </a:schemeClr>
    </cs:fontRef>
    <cs:spPr>
      <a:solidFill>
        <a:schemeClr val="lt1"/>
      </a:solidFill>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ymbol="circle" size="6"/>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lt1">
        <a:lumMod val="85000"/>
      </a:schemeClr>
    </cs:fontRef>
    <cs:spPr>
      <a:ln w="9525">
        <a:solidFill>
          <a:schemeClr val="lt1">
            <a:lumMod val="95000"/>
            <a:alpha val="54000"/>
          </a:schemeClr>
        </a:solidFill>
      </a:ln>
    </cs:spPr>
    <cs:defRPr sz="900" kern="1200"/>
  </cs:dataTable>
  <cs:downBar>
    <cs:lnRef idx="0"/>
    <cs:fillRef idx="0"/>
    <cs:effectRef idx="0"/>
    <cs:fontRef idx="minor">
      <a:schemeClr val="tx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tx1"/>
    </cs:fontRef>
    <cs:spPr>
      <a:ln w="9525">
        <a:solidFill>
          <a:schemeClr val="lt1">
            <a:lumMod val="95000"/>
            <a:alpha val="54000"/>
          </a:schemeClr>
        </a:solidFill>
        <a:prstDash val="dash"/>
      </a:ln>
    </cs:spPr>
  </cs:dropLine>
  <cs:errorBar>
    <cs:lnRef idx="0"/>
    <cs:fillRef idx="0"/>
    <cs:effectRef idx="0"/>
    <cs:fontRef idx="minor">
      <a:schemeClr val="tx1"/>
    </cs:fontRef>
    <cs:spPr>
      <a:ln w="9525" cap="flat" cmpd="sng" algn="ctr">
        <a:solidFill>
          <a:schemeClr val="lt1">
            <a:lumMod val="9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lt1">
            <a:lumMod val="95000"/>
            <a:alpha val="10000"/>
          </a:schemeClr>
        </a:solidFill>
        <a:round/>
      </a:ln>
    </cs:spPr>
  </cs:gridlineMajor>
  <cs:gridlineMinor>
    <cs:lnRef idx="0"/>
    <cs:fillRef idx="0"/>
    <cs:effectRef idx="0"/>
    <cs:fontRef idx="minor">
      <a:schemeClr val="tx1"/>
    </cs:fontRef>
    <cs:spPr>
      <a:ln>
        <a:solidFill>
          <a:schemeClr val="lt1">
            <a:lumMod val="95000"/>
            <a:alpha val="5000"/>
          </a:schemeClr>
        </a:solidFill>
      </a:ln>
    </cs:spPr>
  </cs:gridlineMinor>
  <cs:hiLoLine>
    <cs:lnRef idx="0"/>
    <cs:fillRef idx="0"/>
    <cs:effectRef idx="0"/>
    <cs:fontRef idx="minor">
      <a:schemeClr val="tx1"/>
    </cs:fontRef>
    <cs:spPr>
      <a:ln w="9525">
        <a:solidFill>
          <a:schemeClr val="lt1">
            <a:lumMod val="95000"/>
            <a:alpha val="54000"/>
          </a:schemeClr>
        </a:solidFill>
        <a:prstDash val="dash"/>
      </a:ln>
    </cs:spPr>
  </cs:hiLoLine>
  <cs:leaderLine>
    <cs:lnRef idx="0"/>
    <cs:fillRef idx="0"/>
    <cs:effectRef idx="0"/>
    <cs:fontRef idx="minor">
      <a:schemeClr val="tx1"/>
    </cs:fontRef>
    <cs:spPr>
      <a:ln w="9525">
        <a:solidFill>
          <a:schemeClr val="lt1">
            <a:lumMod val="95000"/>
            <a:alpha val="54000"/>
          </a:schemeClr>
        </a:solidFill>
      </a:ln>
    </cs:spPr>
  </cs:leaderLine>
  <cs:legend>
    <cs:lnRef idx="0"/>
    <cs:fillRef idx="0"/>
    <cs:effectRef idx="0"/>
    <cs:fontRef idx="minor">
      <a:schemeClr val="lt1">
        <a:lumMod val="85000"/>
      </a:schemeClr>
    </cs:fontRef>
    <cs:defRPr sz="900" kern="1200"/>
  </cs:legend>
  <cs:plotArea>
    <cs:lnRef idx="0"/>
    <cs:fillRef idx="0"/>
    <cs:effectRef idx="0"/>
    <cs:fontRef idx="minor">
      <a:schemeClr val="tx1"/>
    </cs:fontRef>
  </cs:plotArea>
  <cs:plotArea3D>
    <cs:lnRef idx="0"/>
    <cs:fillRef idx="0"/>
    <cs:effectRef idx="0"/>
    <cs:fontRef idx="minor">
      <a:schemeClr val="tx1"/>
    </cs:fontRef>
  </cs:plotArea3D>
  <cs:series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1600"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tx1"/>
    </cs:fontRef>
    <cs:spPr>
      <a:ln w="19050" cap="rnd">
        <a:solidFill>
          <a:schemeClr val="phClr"/>
        </a:solidFill>
      </a:ln>
    </cs:spPr>
  </cs:trendline>
  <cs:trendlineLabel>
    <cs:lnRef idx="0"/>
    <cs:fillRef idx="0"/>
    <cs:effectRef idx="0"/>
    <cs:fontRef idx="minor">
      <a:schemeClr val="lt1">
        <a:lumMod val="85000"/>
      </a:schemeClr>
    </cs:fontRef>
    <cs:defRPr sz="900" kern="1200"/>
  </cs:trendlineLabel>
  <cs:upBar>
    <cs:lnRef idx="0"/>
    <cs:fillRef idx="0"/>
    <cs:effectRef idx="0"/>
    <cs:fontRef idx="minor">
      <a:schemeClr val="tx1"/>
    </cs:fontRef>
    <cs:spPr>
      <a:solidFill>
        <a:schemeClr val="lt1"/>
      </a:solidFill>
      <a:ln w="9525">
        <a:solidFill>
          <a:schemeClr val="lt1">
            <a:lumMod val="95000"/>
            <a:alpha val="54000"/>
          </a:schemeClr>
        </a:solidFill>
      </a:ln>
    </cs:spPr>
  </cs:upBar>
  <cs:valueAxis>
    <cs:lnRef idx="0"/>
    <cs:fillRef idx="0"/>
    <cs:effectRef idx="0"/>
    <cs:fontRef idx="minor">
      <a:schemeClr val="lt1">
        <a:lumMod val="85000"/>
      </a:schemeClr>
    </cs:fontRef>
    <cs:defRPr sz="900" kern="1200"/>
  </cs:valueAxis>
  <cs:wall>
    <cs:lnRef idx="0"/>
    <cs:fillRef idx="0"/>
    <cs:effectRef idx="0"/>
    <cs:fontRef idx="minor">
      <a:schemeClr val="tx1"/>
    </cs:fontRef>
  </cs:wall>
</cs:chartStyl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11D0B0-5432-3475-D87F-7EB900281EC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ZA"/>
          </a:p>
        </p:txBody>
      </p:sp>
      <p:sp>
        <p:nvSpPr>
          <p:cNvPr id="3" name="Subtitle 2">
            <a:extLst>
              <a:ext uri="{FF2B5EF4-FFF2-40B4-BE49-F238E27FC236}">
                <a16:creationId xmlns:a16="http://schemas.microsoft.com/office/drawing/2014/main" id="{8D6BD270-D4E4-C52C-9916-688012AA3C0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ZA"/>
          </a:p>
        </p:txBody>
      </p:sp>
      <p:sp>
        <p:nvSpPr>
          <p:cNvPr id="4" name="Date Placeholder 3">
            <a:extLst>
              <a:ext uri="{FF2B5EF4-FFF2-40B4-BE49-F238E27FC236}">
                <a16:creationId xmlns:a16="http://schemas.microsoft.com/office/drawing/2014/main" id="{7FB0BDCA-258F-2BBB-63BA-84F9542DEEA4}"/>
              </a:ext>
            </a:extLst>
          </p:cNvPr>
          <p:cNvSpPr>
            <a:spLocks noGrp="1"/>
          </p:cNvSpPr>
          <p:nvPr>
            <p:ph type="dt" sz="half" idx="10"/>
          </p:nvPr>
        </p:nvSpPr>
        <p:spPr/>
        <p:txBody>
          <a:bodyPr/>
          <a:lstStyle/>
          <a:p>
            <a:fld id="{AC33F994-0E46-496B-A240-44F58334192C}" type="datetimeFigureOut">
              <a:rPr lang="en-ZA" smtClean="0"/>
              <a:t>2025/11/21</a:t>
            </a:fld>
            <a:endParaRPr lang="en-ZA"/>
          </a:p>
        </p:txBody>
      </p:sp>
      <p:sp>
        <p:nvSpPr>
          <p:cNvPr id="5" name="Footer Placeholder 4">
            <a:extLst>
              <a:ext uri="{FF2B5EF4-FFF2-40B4-BE49-F238E27FC236}">
                <a16:creationId xmlns:a16="http://schemas.microsoft.com/office/drawing/2014/main" id="{B8D176C7-9464-3FAE-52CB-70896E7CF50E}"/>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83D77525-4361-4899-3C41-9F019302751C}"/>
              </a:ext>
            </a:extLst>
          </p:cNvPr>
          <p:cNvSpPr>
            <a:spLocks noGrp="1"/>
          </p:cNvSpPr>
          <p:nvPr>
            <p:ph type="sldNum" sz="quarter" idx="12"/>
          </p:nvPr>
        </p:nvSpPr>
        <p:spPr/>
        <p:txBody>
          <a:bodyPr/>
          <a:lstStyle/>
          <a:p>
            <a:fld id="{52A36DF5-185D-4839-9EDB-CBDE4F8A8E07}" type="slidenum">
              <a:rPr lang="en-ZA" smtClean="0"/>
              <a:t>‹#›</a:t>
            </a:fld>
            <a:endParaRPr lang="en-ZA"/>
          </a:p>
        </p:txBody>
      </p:sp>
    </p:spTree>
    <p:extLst>
      <p:ext uri="{BB962C8B-B14F-4D97-AF65-F5344CB8AC3E}">
        <p14:creationId xmlns:p14="http://schemas.microsoft.com/office/powerpoint/2010/main" val="28477652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FF767A-3B69-41C1-599E-E8F038CCCCA9}"/>
              </a:ext>
            </a:extLst>
          </p:cNvPr>
          <p:cNvSpPr>
            <a:spLocks noGrp="1"/>
          </p:cNvSpPr>
          <p:nvPr>
            <p:ph type="title"/>
          </p:nvPr>
        </p:nvSpPr>
        <p:spPr/>
        <p:txBody>
          <a:bodyPr/>
          <a:lstStyle/>
          <a:p>
            <a:r>
              <a:rPr lang="en-US"/>
              <a:t>Click to edit Master title style</a:t>
            </a:r>
            <a:endParaRPr lang="en-ZA"/>
          </a:p>
        </p:txBody>
      </p:sp>
      <p:sp>
        <p:nvSpPr>
          <p:cNvPr id="3" name="Content Placeholder 2">
            <a:extLst>
              <a:ext uri="{FF2B5EF4-FFF2-40B4-BE49-F238E27FC236}">
                <a16:creationId xmlns:a16="http://schemas.microsoft.com/office/drawing/2014/main" id="{54A61A0F-D331-2517-F274-DCD9B11EE8C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0DE05F8F-D382-47B4-EADD-0DDAE04626EE}"/>
              </a:ext>
            </a:extLst>
          </p:cNvPr>
          <p:cNvSpPr>
            <a:spLocks noGrp="1"/>
          </p:cNvSpPr>
          <p:nvPr>
            <p:ph type="dt" sz="half" idx="10"/>
          </p:nvPr>
        </p:nvSpPr>
        <p:spPr/>
        <p:txBody>
          <a:bodyPr/>
          <a:lstStyle/>
          <a:p>
            <a:fld id="{AC33F994-0E46-496B-A240-44F58334192C}" type="datetimeFigureOut">
              <a:rPr lang="en-ZA" smtClean="0"/>
              <a:t>2025/11/21</a:t>
            </a:fld>
            <a:endParaRPr lang="en-ZA"/>
          </a:p>
        </p:txBody>
      </p:sp>
      <p:sp>
        <p:nvSpPr>
          <p:cNvPr id="5" name="Footer Placeholder 4">
            <a:extLst>
              <a:ext uri="{FF2B5EF4-FFF2-40B4-BE49-F238E27FC236}">
                <a16:creationId xmlns:a16="http://schemas.microsoft.com/office/drawing/2014/main" id="{78B20330-2E1C-7C93-1D8C-6714747A31C0}"/>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EEB38728-A8B9-CA40-1C12-F9F153EDA788}"/>
              </a:ext>
            </a:extLst>
          </p:cNvPr>
          <p:cNvSpPr>
            <a:spLocks noGrp="1"/>
          </p:cNvSpPr>
          <p:nvPr>
            <p:ph type="sldNum" sz="quarter" idx="12"/>
          </p:nvPr>
        </p:nvSpPr>
        <p:spPr/>
        <p:txBody>
          <a:bodyPr/>
          <a:lstStyle/>
          <a:p>
            <a:fld id="{52A36DF5-185D-4839-9EDB-CBDE4F8A8E07}" type="slidenum">
              <a:rPr lang="en-ZA" smtClean="0"/>
              <a:t>‹#›</a:t>
            </a:fld>
            <a:endParaRPr lang="en-ZA"/>
          </a:p>
        </p:txBody>
      </p:sp>
    </p:spTree>
    <p:extLst>
      <p:ext uri="{BB962C8B-B14F-4D97-AF65-F5344CB8AC3E}">
        <p14:creationId xmlns:p14="http://schemas.microsoft.com/office/powerpoint/2010/main" val="7745696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E39BA8-289E-2B5E-6AD5-F06F8028A5D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ZA"/>
          </a:p>
        </p:txBody>
      </p:sp>
      <p:sp>
        <p:nvSpPr>
          <p:cNvPr id="3" name="Text Placeholder 2">
            <a:extLst>
              <a:ext uri="{FF2B5EF4-FFF2-40B4-BE49-F238E27FC236}">
                <a16:creationId xmlns:a16="http://schemas.microsoft.com/office/drawing/2014/main" id="{1284E8A3-EF0F-E1F2-4B92-59AE0C9B851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0ADD87B-36D3-9DB7-8E48-95EF4E28BE38}"/>
              </a:ext>
            </a:extLst>
          </p:cNvPr>
          <p:cNvSpPr>
            <a:spLocks noGrp="1"/>
          </p:cNvSpPr>
          <p:nvPr>
            <p:ph type="dt" sz="half" idx="10"/>
          </p:nvPr>
        </p:nvSpPr>
        <p:spPr/>
        <p:txBody>
          <a:bodyPr/>
          <a:lstStyle/>
          <a:p>
            <a:fld id="{AC33F994-0E46-496B-A240-44F58334192C}" type="datetimeFigureOut">
              <a:rPr lang="en-ZA" smtClean="0"/>
              <a:t>2025/11/21</a:t>
            </a:fld>
            <a:endParaRPr lang="en-ZA"/>
          </a:p>
        </p:txBody>
      </p:sp>
      <p:sp>
        <p:nvSpPr>
          <p:cNvPr id="5" name="Footer Placeholder 4">
            <a:extLst>
              <a:ext uri="{FF2B5EF4-FFF2-40B4-BE49-F238E27FC236}">
                <a16:creationId xmlns:a16="http://schemas.microsoft.com/office/drawing/2014/main" id="{150B721A-2C13-A00D-274C-9952DE9D819F}"/>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9B69F922-D44B-295A-1F4B-0E84210A853B}"/>
              </a:ext>
            </a:extLst>
          </p:cNvPr>
          <p:cNvSpPr>
            <a:spLocks noGrp="1"/>
          </p:cNvSpPr>
          <p:nvPr>
            <p:ph type="sldNum" sz="quarter" idx="12"/>
          </p:nvPr>
        </p:nvSpPr>
        <p:spPr/>
        <p:txBody>
          <a:bodyPr/>
          <a:lstStyle/>
          <a:p>
            <a:fld id="{52A36DF5-185D-4839-9EDB-CBDE4F8A8E07}" type="slidenum">
              <a:rPr lang="en-ZA" smtClean="0"/>
              <a:t>‹#›</a:t>
            </a:fld>
            <a:endParaRPr lang="en-ZA"/>
          </a:p>
        </p:txBody>
      </p:sp>
    </p:spTree>
    <p:extLst>
      <p:ext uri="{BB962C8B-B14F-4D97-AF65-F5344CB8AC3E}">
        <p14:creationId xmlns:p14="http://schemas.microsoft.com/office/powerpoint/2010/main" val="4325286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E104E0-FF45-985C-B6BF-1641CFFA6B93}"/>
              </a:ext>
            </a:extLst>
          </p:cNvPr>
          <p:cNvSpPr>
            <a:spLocks noGrp="1"/>
          </p:cNvSpPr>
          <p:nvPr>
            <p:ph type="title"/>
          </p:nvPr>
        </p:nvSpPr>
        <p:spPr/>
        <p:txBody>
          <a:bodyPr/>
          <a:lstStyle/>
          <a:p>
            <a:r>
              <a:rPr lang="en-US"/>
              <a:t>Click to edit Master title style</a:t>
            </a:r>
            <a:endParaRPr lang="en-ZA"/>
          </a:p>
        </p:txBody>
      </p:sp>
      <p:sp>
        <p:nvSpPr>
          <p:cNvPr id="3" name="Content Placeholder 2">
            <a:extLst>
              <a:ext uri="{FF2B5EF4-FFF2-40B4-BE49-F238E27FC236}">
                <a16:creationId xmlns:a16="http://schemas.microsoft.com/office/drawing/2014/main" id="{BF0D9501-1711-26F8-B15B-30F3DE616DF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Content Placeholder 3">
            <a:extLst>
              <a:ext uri="{FF2B5EF4-FFF2-40B4-BE49-F238E27FC236}">
                <a16:creationId xmlns:a16="http://schemas.microsoft.com/office/drawing/2014/main" id="{B3618DE6-1E04-FFFC-AF67-15B64709B2F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5" name="Date Placeholder 4">
            <a:extLst>
              <a:ext uri="{FF2B5EF4-FFF2-40B4-BE49-F238E27FC236}">
                <a16:creationId xmlns:a16="http://schemas.microsoft.com/office/drawing/2014/main" id="{6097A21C-BBC2-F425-EE45-55419BEE29F1}"/>
              </a:ext>
            </a:extLst>
          </p:cNvPr>
          <p:cNvSpPr>
            <a:spLocks noGrp="1"/>
          </p:cNvSpPr>
          <p:nvPr>
            <p:ph type="dt" sz="half" idx="10"/>
          </p:nvPr>
        </p:nvSpPr>
        <p:spPr/>
        <p:txBody>
          <a:bodyPr/>
          <a:lstStyle/>
          <a:p>
            <a:fld id="{AC33F994-0E46-496B-A240-44F58334192C}" type="datetimeFigureOut">
              <a:rPr lang="en-ZA" smtClean="0"/>
              <a:t>2025/11/21</a:t>
            </a:fld>
            <a:endParaRPr lang="en-ZA"/>
          </a:p>
        </p:txBody>
      </p:sp>
      <p:sp>
        <p:nvSpPr>
          <p:cNvPr id="6" name="Footer Placeholder 5">
            <a:extLst>
              <a:ext uri="{FF2B5EF4-FFF2-40B4-BE49-F238E27FC236}">
                <a16:creationId xmlns:a16="http://schemas.microsoft.com/office/drawing/2014/main" id="{F9357699-1059-D256-EC82-FD4D45B102E2}"/>
              </a:ext>
            </a:extLst>
          </p:cNvPr>
          <p:cNvSpPr>
            <a:spLocks noGrp="1"/>
          </p:cNvSpPr>
          <p:nvPr>
            <p:ph type="ftr" sz="quarter" idx="11"/>
          </p:nvPr>
        </p:nvSpPr>
        <p:spPr/>
        <p:txBody>
          <a:bodyPr/>
          <a:lstStyle/>
          <a:p>
            <a:endParaRPr lang="en-ZA"/>
          </a:p>
        </p:txBody>
      </p:sp>
      <p:sp>
        <p:nvSpPr>
          <p:cNvPr id="7" name="Slide Number Placeholder 6">
            <a:extLst>
              <a:ext uri="{FF2B5EF4-FFF2-40B4-BE49-F238E27FC236}">
                <a16:creationId xmlns:a16="http://schemas.microsoft.com/office/drawing/2014/main" id="{47893176-C019-697F-57B8-7396E07DC3AF}"/>
              </a:ext>
            </a:extLst>
          </p:cNvPr>
          <p:cNvSpPr>
            <a:spLocks noGrp="1"/>
          </p:cNvSpPr>
          <p:nvPr>
            <p:ph type="sldNum" sz="quarter" idx="12"/>
          </p:nvPr>
        </p:nvSpPr>
        <p:spPr/>
        <p:txBody>
          <a:bodyPr/>
          <a:lstStyle/>
          <a:p>
            <a:fld id="{52A36DF5-185D-4839-9EDB-CBDE4F8A8E07}" type="slidenum">
              <a:rPr lang="en-ZA" smtClean="0"/>
              <a:t>‹#›</a:t>
            </a:fld>
            <a:endParaRPr lang="en-ZA"/>
          </a:p>
        </p:txBody>
      </p:sp>
    </p:spTree>
    <p:extLst>
      <p:ext uri="{BB962C8B-B14F-4D97-AF65-F5344CB8AC3E}">
        <p14:creationId xmlns:p14="http://schemas.microsoft.com/office/powerpoint/2010/main" val="9055576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A168CC-44DB-6E36-AFA0-0121DEAB8A9B}"/>
              </a:ext>
            </a:extLst>
          </p:cNvPr>
          <p:cNvSpPr>
            <a:spLocks noGrp="1"/>
          </p:cNvSpPr>
          <p:nvPr>
            <p:ph type="title"/>
          </p:nvPr>
        </p:nvSpPr>
        <p:spPr>
          <a:xfrm>
            <a:off x="839788" y="365125"/>
            <a:ext cx="10515600" cy="1325563"/>
          </a:xfrm>
        </p:spPr>
        <p:txBody>
          <a:bodyPr/>
          <a:lstStyle/>
          <a:p>
            <a:r>
              <a:rPr lang="en-US"/>
              <a:t>Click to edit Master title style</a:t>
            </a:r>
            <a:endParaRPr lang="en-ZA"/>
          </a:p>
        </p:txBody>
      </p:sp>
      <p:sp>
        <p:nvSpPr>
          <p:cNvPr id="3" name="Text Placeholder 2">
            <a:extLst>
              <a:ext uri="{FF2B5EF4-FFF2-40B4-BE49-F238E27FC236}">
                <a16:creationId xmlns:a16="http://schemas.microsoft.com/office/drawing/2014/main" id="{06948A99-FA7C-B39E-9CD1-69381420F92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A97B651-95EC-1D74-DE55-CA03670AA8E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5" name="Text Placeholder 4">
            <a:extLst>
              <a:ext uri="{FF2B5EF4-FFF2-40B4-BE49-F238E27FC236}">
                <a16:creationId xmlns:a16="http://schemas.microsoft.com/office/drawing/2014/main" id="{118DF406-9888-1F13-A22A-8E47AE72340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E2EBC40-C0E0-289C-01A2-5658A26A7EC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7" name="Date Placeholder 6">
            <a:extLst>
              <a:ext uri="{FF2B5EF4-FFF2-40B4-BE49-F238E27FC236}">
                <a16:creationId xmlns:a16="http://schemas.microsoft.com/office/drawing/2014/main" id="{D80BBA0C-5CB2-655F-3895-71D065DDC092}"/>
              </a:ext>
            </a:extLst>
          </p:cNvPr>
          <p:cNvSpPr>
            <a:spLocks noGrp="1"/>
          </p:cNvSpPr>
          <p:nvPr>
            <p:ph type="dt" sz="half" idx="10"/>
          </p:nvPr>
        </p:nvSpPr>
        <p:spPr/>
        <p:txBody>
          <a:bodyPr/>
          <a:lstStyle/>
          <a:p>
            <a:fld id="{AC33F994-0E46-496B-A240-44F58334192C}" type="datetimeFigureOut">
              <a:rPr lang="en-ZA" smtClean="0"/>
              <a:t>2025/11/21</a:t>
            </a:fld>
            <a:endParaRPr lang="en-ZA"/>
          </a:p>
        </p:txBody>
      </p:sp>
      <p:sp>
        <p:nvSpPr>
          <p:cNvPr id="8" name="Footer Placeholder 7">
            <a:extLst>
              <a:ext uri="{FF2B5EF4-FFF2-40B4-BE49-F238E27FC236}">
                <a16:creationId xmlns:a16="http://schemas.microsoft.com/office/drawing/2014/main" id="{1DDB595E-E33E-EC2D-2EBC-921EB92DC4DF}"/>
              </a:ext>
            </a:extLst>
          </p:cNvPr>
          <p:cNvSpPr>
            <a:spLocks noGrp="1"/>
          </p:cNvSpPr>
          <p:nvPr>
            <p:ph type="ftr" sz="quarter" idx="11"/>
          </p:nvPr>
        </p:nvSpPr>
        <p:spPr/>
        <p:txBody>
          <a:bodyPr/>
          <a:lstStyle/>
          <a:p>
            <a:endParaRPr lang="en-ZA"/>
          </a:p>
        </p:txBody>
      </p:sp>
      <p:sp>
        <p:nvSpPr>
          <p:cNvPr id="9" name="Slide Number Placeholder 8">
            <a:extLst>
              <a:ext uri="{FF2B5EF4-FFF2-40B4-BE49-F238E27FC236}">
                <a16:creationId xmlns:a16="http://schemas.microsoft.com/office/drawing/2014/main" id="{08AF2CBA-F9E9-B997-E084-86C829EBA413}"/>
              </a:ext>
            </a:extLst>
          </p:cNvPr>
          <p:cNvSpPr>
            <a:spLocks noGrp="1"/>
          </p:cNvSpPr>
          <p:nvPr>
            <p:ph type="sldNum" sz="quarter" idx="12"/>
          </p:nvPr>
        </p:nvSpPr>
        <p:spPr/>
        <p:txBody>
          <a:bodyPr/>
          <a:lstStyle/>
          <a:p>
            <a:fld id="{52A36DF5-185D-4839-9EDB-CBDE4F8A8E07}" type="slidenum">
              <a:rPr lang="en-ZA" smtClean="0"/>
              <a:t>‹#›</a:t>
            </a:fld>
            <a:endParaRPr lang="en-ZA"/>
          </a:p>
        </p:txBody>
      </p:sp>
    </p:spTree>
    <p:extLst>
      <p:ext uri="{BB962C8B-B14F-4D97-AF65-F5344CB8AC3E}">
        <p14:creationId xmlns:p14="http://schemas.microsoft.com/office/powerpoint/2010/main" val="24055629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8D6287-8E99-467A-6879-DA8C912C17C3}"/>
              </a:ext>
            </a:extLst>
          </p:cNvPr>
          <p:cNvSpPr>
            <a:spLocks noGrp="1"/>
          </p:cNvSpPr>
          <p:nvPr>
            <p:ph type="title"/>
          </p:nvPr>
        </p:nvSpPr>
        <p:spPr/>
        <p:txBody>
          <a:bodyPr/>
          <a:lstStyle/>
          <a:p>
            <a:r>
              <a:rPr lang="en-US"/>
              <a:t>Click to edit Master title style</a:t>
            </a:r>
            <a:endParaRPr lang="en-ZA"/>
          </a:p>
        </p:txBody>
      </p:sp>
      <p:sp>
        <p:nvSpPr>
          <p:cNvPr id="3" name="Date Placeholder 2">
            <a:extLst>
              <a:ext uri="{FF2B5EF4-FFF2-40B4-BE49-F238E27FC236}">
                <a16:creationId xmlns:a16="http://schemas.microsoft.com/office/drawing/2014/main" id="{F661143B-AE7B-60EB-05E9-410FF6406A07}"/>
              </a:ext>
            </a:extLst>
          </p:cNvPr>
          <p:cNvSpPr>
            <a:spLocks noGrp="1"/>
          </p:cNvSpPr>
          <p:nvPr>
            <p:ph type="dt" sz="half" idx="10"/>
          </p:nvPr>
        </p:nvSpPr>
        <p:spPr/>
        <p:txBody>
          <a:bodyPr/>
          <a:lstStyle/>
          <a:p>
            <a:fld id="{AC33F994-0E46-496B-A240-44F58334192C}" type="datetimeFigureOut">
              <a:rPr lang="en-ZA" smtClean="0"/>
              <a:t>2025/11/21</a:t>
            </a:fld>
            <a:endParaRPr lang="en-ZA"/>
          </a:p>
        </p:txBody>
      </p:sp>
      <p:sp>
        <p:nvSpPr>
          <p:cNvPr id="4" name="Footer Placeholder 3">
            <a:extLst>
              <a:ext uri="{FF2B5EF4-FFF2-40B4-BE49-F238E27FC236}">
                <a16:creationId xmlns:a16="http://schemas.microsoft.com/office/drawing/2014/main" id="{F0888B08-53C4-DD9C-F157-9DE1110C32F8}"/>
              </a:ext>
            </a:extLst>
          </p:cNvPr>
          <p:cNvSpPr>
            <a:spLocks noGrp="1"/>
          </p:cNvSpPr>
          <p:nvPr>
            <p:ph type="ftr" sz="quarter" idx="11"/>
          </p:nvPr>
        </p:nvSpPr>
        <p:spPr/>
        <p:txBody>
          <a:bodyPr/>
          <a:lstStyle/>
          <a:p>
            <a:endParaRPr lang="en-ZA"/>
          </a:p>
        </p:txBody>
      </p:sp>
      <p:sp>
        <p:nvSpPr>
          <p:cNvPr id="5" name="Slide Number Placeholder 4">
            <a:extLst>
              <a:ext uri="{FF2B5EF4-FFF2-40B4-BE49-F238E27FC236}">
                <a16:creationId xmlns:a16="http://schemas.microsoft.com/office/drawing/2014/main" id="{579DDDCD-4262-F6F9-75A5-66C4673AE116}"/>
              </a:ext>
            </a:extLst>
          </p:cNvPr>
          <p:cNvSpPr>
            <a:spLocks noGrp="1"/>
          </p:cNvSpPr>
          <p:nvPr>
            <p:ph type="sldNum" sz="quarter" idx="12"/>
          </p:nvPr>
        </p:nvSpPr>
        <p:spPr/>
        <p:txBody>
          <a:bodyPr/>
          <a:lstStyle/>
          <a:p>
            <a:fld id="{52A36DF5-185D-4839-9EDB-CBDE4F8A8E07}" type="slidenum">
              <a:rPr lang="en-ZA" smtClean="0"/>
              <a:t>‹#›</a:t>
            </a:fld>
            <a:endParaRPr lang="en-ZA"/>
          </a:p>
        </p:txBody>
      </p:sp>
    </p:spTree>
    <p:extLst>
      <p:ext uri="{BB962C8B-B14F-4D97-AF65-F5344CB8AC3E}">
        <p14:creationId xmlns:p14="http://schemas.microsoft.com/office/powerpoint/2010/main" val="36321783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484EE25-33F8-60D1-48C8-9D1551278A1E}"/>
              </a:ext>
            </a:extLst>
          </p:cNvPr>
          <p:cNvSpPr>
            <a:spLocks noGrp="1"/>
          </p:cNvSpPr>
          <p:nvPr>
            <p:ph type="dt" sz="half" idx="10"/>
          </p:nvPr>
        </p:nvSpPr>
        <p:spPr/>
        <p:txBody>
          <a:bodyPr/>
          <a:lstStyle/>
          <a:p>
            <a:fld id="{AC33F994-0E46-496B-A240-44F58334192C}" type="datetimeFigureOut">
              <a:rPr lang="en-ZA" smtClean="0"/>
              <a:t>2025/11/21</a:t>
            </a:fld>
            <a:endParaRPr lang="en-ZA"/>
          </a:p>
        </p:txBody>
      </p:sp>
      <p:sp>
        <p:nvSpPr>
          <p:cNvPr id="3" name="Footer Placeholder 2">
            <a:extLst>
              <a:ext uri="{FF2B5EF4-FFF2-40B4-BE49-F238E27FC236}">
                <a16:creationId xmlns:a16="http://schemas.microsoft.com/office/drawing/2014/main" id="{6F835757-2317-3155-709B-BC6BDF67A9A8}"/>
              </a:ext>
            </a:extLst>
          </p:cNvPr>
          <p:cNvSpPr>
            <a:spLocks noGrp="1"/>
          </p:cNvSpPr>
          <p:nvPr>
            <p:ph type="ftr" sz="quarter" idx="11"/>
          </p:nvPr>
        </p:nvSpPr>
        <p:spPr/>
        <p:txBody>
          <a:bodyPr/>
          <a:lstStyle/>
          <a:p>
            <a:endParaRPr lang="en-ZA"/>
          </a:p>
        </p:txBody>
      </p:sp>
      <p:sp>
        <p:nvSpPr>
          <p:cNvPr id="4" name="Slide Number Placeholder 3">
            <a:extLst>
              <a:ext uri="{FF2B5EF4-FFF2-40B4-BE49-F238E27FC236}">
                <a16:creationId xmlns:a16="http://schemas.microsoft.com/office/drawing/2014/main" id="{8D3BCC7E-2882-128D-71B1-E0C5761FBC9B}"/>
              </a:ext>
            </a:extLst>
          </p:cNvPr>
          <p:cNvSpPr>
            <a:spLocks noGrp="1"/>
          </p:cNvSpPr>
          <p:nvPr>
            <p:ph type="sldNum" sz="quarter" idx="12"/>
          </p:nvPr>
        </p:nvSpPr>
        <p:spPr/>
        <p:txBody>
          <a:bodyPr/>
          <a:lstStyle/>
          <a:p>
            <a:fld id="{52A36DF5-185D-4839-9EDB-CBDE4F8A8E07}" type="slidenum">
              <a:rPr lang="en-ZA" smtClean="0"/>
              <a:t>‹#›</a:t>
            </a:fld>
            <a:endParaRPr lang="en-ZA"/>
          </a:p>
        </p:txBody>
      </p:sp>
    </p:spTree>
    <p:extLst>
      <p:ext uri="{BB962C8B-B14F-4D97-AF65-F5344CB8AC3E}">
        <p14:creationId xmlns:p14="http://schemas.microsoft.com/office/powerpoint/2010/main" val="27131753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742955-81D7-E49E-46C0-74BA141F75C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ZA"/>
          </a:p>
        </p:txBody>
      </p:sp>
      <p:sp>
        <p:nvSpPr>
          <p:cNvPr id="3" name="Content Placeholder 2">
            <a:extLst>
              <a:ext uri="{FF2B5EF4-FFF2-40B4-BE49-F238E27FC236}">
                <a16:creationId xmlns:a16="http://schemas.microsoft.com/office/drawing/2014/main" id="{EA55F51F-F0BF-EBA0-4739-4A98753EF94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Text Placeholder 3">
            <a:extLst>
              <a:ext uri="{FF2B5EF4-FFF2-40B4-BE49-F238E27FC236}">
                <a16:creationId xmlns:a16="http://schemas.microsoft.com/office/drawing/2014/main" id="{E31E17B2-5E3C-874A-5F37-2780D92A4AD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E22D0B8-7AF1-AF47-0EC5-6A7D821C15A5}"/>
              </a:ext>
            </a:extLst>
          </p:cNvPr>
          <p:cNvSpPr>
            <a:spLocks noGrp="1"/>
          </p:cNvSpPr>
          <p:nvPr>
            <p:ph type="dt" sz="half" idx="10"/>
          </p:nvPr>
        </p:nvSpPr>
        <p:spPr/>
        <p:txBody>
          <a:bodyPr/>
          <a:lstStyle/>
          <a:p>
            <a:fld id="{AC33F994-0E46-496B-A240-44F58334192C}" type="datetimeFigureOut">
              <a:rPr lang="en-ZA" smtClean="0"/>
              <a:t>2025/11/21</a:t>
            </a:fld>
            <a:endParaRPr lang="en-ZA"/>
          </a:p>
        </p:txBody>
      </p:sp>
      <p:sp>
        <p:nvSpPr>
          <p:cNvPr id="6" name="Footer Placeholder 5">
            <a:extLst>
              <a:ext uri="{FF2B5EF4-FFF2-40B4-BE49-F238E27FC236}">
                <a16:creationId xmlns:a16="http://schemas.microsoft.com/office/drawing/2014/main" id="{D6763D65-B0FA-80E0-649A-F42D8FAA5D8F}"/>
              </a:ext>
            </a:extLst>
          </p:cNvPr>
          <p:cNvSpPr>
            <a:spLocks noGrp="1"/>
          </p:cNvSpPr>
          <p:nvPr>
            <p:ph type="ftr" sz="quarter" idx="11"/>
          </p:nvPr>
        </p:nvSpPr>
        <p:spPr/>
        <p:txBody>
          <a:bodyPr/>
          <a:lstStyle/>
          <a:p>
            <a:endParaRPr lang="en-ZA"/>
          </a:p>
        </p:txBody>
      </p:sp>
      <p:sp>
        <p:nvSpPr>
          <p:cNvPr id="7" name="Slide Number Placeholder 6">
            <a:extLst>
              <a:ext uri="{FF2B5EF4-FFF2-40B4-BE49-F238E27FC236}">
                <a16:creationId xmlns:a16="http://schemas.microsoft.com/office/drawing/2014/main" id="{D7B59715-AAF5-BB20-05F5-8862872AD113}"/>
              </a:ext>
            </a:extLst>
          </p:cNvPr>
          <p:cNvSpPr>
            <a:spLocks noGrp="1"/>
          </p:cNvSpPr>
          <p:nvPr>
            <p:ph type="sldNum" sz="quarter" idx="12"/>
          </p:nvPr>
        </p:nvSpPr>
        <p:spPr/>
        <p:txBody>
          <a:bodyPr/>
          <a:lstStyle/>
          <a:p>
            <a:fld id="{52A36DF5-185D-4839-9EDB-CBDE4F8A8E07}" type="slidenum">
              <a:rPr lang="en-ZA" smtClean="0"/>
              <a:t>‹#›</a:t>
            </a:fld>
            <a:endParaRPr lang="en-ZA"/>
          </a:p>
        </p:txBody>
      </p:sp>
    </p:spTree>
    <p:extLst>
      <p:ext uri="{BB962C8B-B14F-4D97-AF65-F5344CB8AC3E}">
        <p14:creationId xmlns:p14="http://schemas.microsoft.com/office/powerpoint/2010/main" val="24467378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F9126A-B2B3-BCDD-47F3-DC0F795603C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ZA"/>
          </a:p>
        </p:txBody>
      </p:sp>
      <p:sp>
        <p:nvSpPr>
          <p:cNvPr id="3" name="Picture Placeholder 2">
            <a:extLst>
              <a:ext uri="{FF2B5EF4-FFF2-40B4-BE49-F238E27FC236}">
                <a16:creationId xmlns:a16="http://schemas.microsoft.com/office/drawing/2014/main" id="{AE7C965F-3B58-F553-9182-FB9B2BE5155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ZA"/>
          </a:p>
        </p:txBody>
      </p:sp>
      <p:sp>
        <p:nvSpPr>
          <p:cNvPr id="4" name="Text Placeholder 3">
            <a:extLst>
              <a:ext uri="{FF2B5EF4-FFF2-40B4-BE49-F238E27FC236}">
                <a16:creationId xmlns:a16="http://schemas.microsoft.com/office/drawing/2014/main" id="{D98CC24B-8E4A-E150-6603-58C3A6B3AB2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5652A01-5AC2-57B9-76D4-5310124ACD9D}"/>
              </a:ext>
            </a:extLst>
          </p:cNvPr>
          <p:cNvSpPr>
            <a:spLocks noGrp="1"/>
          </p:cNvSpPr>
          <p:nvPr>
            <p:ph type="dt" sz="half" idx="10"/>
          </p:nvPr>
        </p:nvSpPr>
        <p:spPr/>
        <p:txBody>
          <a:bodyPr/>
          <a:lstStyle/>
          <a:p>
            <a:fld id="{AC33F994-0E46-496B-A240-44F58334192C}" type="datetimeFigureOut">
              <a:rPr lang="en-ZA" smtClean="0"/>
              <a:t>2025/11/21</a:t>
            </a:fld>
            <a:endParaRPr lang="en-ZA"/>
          </a:p>
        </p:txBody>
      </p:sp>
      <p:sp>
        <p:nvSpPr>
          <p:cNvPr id="6" name="Footer Placeholder 5">
            <a:extLst>
              <a:ext uri="{FF2B5EF4-FFF2-40B4-BE49-F238E27FC236}">
                <a16:creationId xmlns:a16="http://schemas.microsoft.com/office/drawing/2014/main" id="{253472E3-9013-D910-7D52-010383C28AA1}"/>
              </a:ext>
            </a:extLst>
          </p:cNvPr>
          <p:cNvSpPr>
            <a:spLocks noGrp="1"/>
          </p:cNvSpPr>
          <p:nvPr>
            <p:ph type="ftr" sz="quarter" idx="11"/>
          </p:nvPr>
        </p:nvSpPr>
        <p:spPr/>
        <p:txBody>
          <a:bodyPr/>
          <a:lstStyle/>
          <a:p>
            <a:endParaRPr lang="en-ZA"/>
          </a:p>
        </p:txBody>
      </p:sp>
      <p:sp>
        <p:nvSpPr>
          <p:cNvPr id="7" name="Slide Number Placeholder 6">
            <a:extLst>
              <a:ext uri="{FF2B5EF4-FFF2-40B4-BE49-F238E27FC236}">
                <a16:creationId xmlns:a16="http://schemas.microsoft.com/office/drawing/2014/main" id="{FB58EA42-3E55-58B5-F41D-50CD5299049B}"/>
              </a:ext>
            </a:extLst>
          </p:cNvPr>
          <p:cNvSpPr>
            <a:spLocks noGrp="1"/>
          </p:cNvSpPr>
          <p:nvPr>
            <p:ph type="sldNum" sz="quarter" idx="12"/>
          </p:nvPr>
        </p:nvSpPr>
        <p:spPr/>
        <p:txBody>
          <a:bodyPr/>
          <a:lstStyle/>
          <a:p>
            <a:fld id="{52A36DF5-185D-4839-9EDB-CBDE4F8A8E07}" type="slidenum">
              <a:rPr lang="en-ZA" smtClean="0"/>
              <a:t>‹#›</a:t>
            </a:fld>
            <a:endParaRPr lang="en-ZA"/>
          </a:p>
        </p:txBody>
      </p:sp>
    </p:spTree>
    <p:extLst>
      <p:ext uri="{BB962C8B-B14F-4D97-AF65-F5344CB8AC3E}">
        <p14:creationId xmlns:p14="http://schemas.microsoft.com/office/powerpoint/2010/main" val="41442769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2C00EC-2F6E-BCE7-99BD-16098C57492B}"/>
              </a:ext>
            </a:extLst>
          </p:cNvPr>
          <p:cNvSpPr>
            <a:spLocks noGrp="1"/>
          </p:cNvSpPr>
          <p:nvPr>
            <p:ph type="title"/>
          </p:nvPr>
        </p:nvSpPr>
        <p:spPr/>
        <p:txBody>
          <a:bodyPr/>
          <a:lstStyle/>
          <a:p>
            <a:r>
              <a:rPr lang="en-US"/>
              <a:t>Click to edit Master title style</a:t>
            </a:r>
            <a:endParaRPr lang="en-ZA"/>
          </a:p>
        </p:txBody>
      </p:sp>
      <p:sp>
        <p:nvSpPr>
          <p:cNvPr id="3" name="Vertical Text Placeholder 2">
            <a:extLst>
              <a:ext uri="{FF2B5EF4-FFF2-40B4-BE49-F238E27FC236}">
                <a16:creationId xmlns:a16="http://schemas.microsoft.com/office/drawing/2014/main" id="{6B0C9A53-5B5A-1C3C-ED3B-353CA68BC28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45AA5549-BB74-53A1-CDCE-12D75EC63D93}"/>
              </a:ext>
            </a:extLst>
          </p:cNvPr>
          <p:cNvSpPr>
            <a:spLocks noGrp="1"/>
          </p:cNvSpPr>
          <p:nvPr>
            <p:ph type="dt" sz="half" idx="10"/>
          </p:nvPr>
        </p:nvSpPr>
        <p:spPr/>
        <p:txBody>
          <a:bodyPr/>
          <a:lstStyle/>
          <a:p>
            <a:fld id="{AC33F994-0E46-496B-A240-44F58334192C}" type="datetimeFigureOut">
              <a:rPr lang="en-ZA" smtClean="0"/>
              <a:t>2025/11/21</a:t>
            </a:fld>
            <a:endParaRPr lang="en-ZA"/>
          </a:p>
        </p:txBody>
      </p:sp>
      <p:sp>
        <p:nvSpPr>
          <p:cNvPr id="5" name="Footer Placeholder 4">
            <a:extLst>
              <a:ext uri="{FF2B5EF4-FFF2-40B4-BE49-F238E27FC236}">
                <a16:creationId xmlns:a16="http://schemas.microsoft.com/office/drawing/2014/main" id="{35DDE2BC-2C57-302B-1BC3-AB47A7178930}"/>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2480B4DE-E2AC-C160-DE27-19786C5864F2}"/>
              </a:ext>
            </a:extLst>
          </p:cNvPr>
          <p:cNvSpPr>
            <a:spLocks noGrp="1"/>
          </p:cNvSpPr>
          <p:nvPr>
            <p:ph type="sldNum" sz="quarter" idx="12"/>
          </p:nvPr>
        </p:nvSpPr>
        <p:spPr/>
        <p:txBody>
          <a:bodyPr/>
          <a:lstStyle/>
          <a:p>
            <a:fld id="{52A36DF5-185D-4839-9EDB-CBDE4F8A8E07}" type="slidenum">
              <a:rPr lang="en-ZA" smtClean="0"/>
              <a:t>‹#›</a:t>
            </a:fld>
            <a:endParaRPr lang="en-ZA"/>
          </a:p>
        </p:txBody>
      </p:sp>
    </p:spTree>
    <p:extLst>
      <p:ext uri="{BB962C8B-B14F-4D97-AF65-F5344CB8AC3E}">
        <p14:creationId xmlns:p14="http://schemas.microsoft.com/office/powerpoint/2010/main" val="16379684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6EF0640-4432-4DFA-D214-AC542D73C8E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ZA"/>
          </a:p>
        </p:txBody>
      </p:sp>
      <p:sp>
        <p:nvSpPr>
          <p:cNvPr id="3" name="Vertical Text Placeholder 2">
            <a:extLst>
              <a:ext uri="{FF2B5EF4-FFF2-40B4-BE49-F238E27FC236}">
                <a16:creationId xmlns:a16="http://schemas.microsoft.com/office/drawing/2014/main" id="{DC9E0F54-538C-0E55-18F0-D802123298C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72B40412-59E0-9A1F-47CF-468CDE5C60CA}"/>
              </a:ext>
            </a:extLst>
          </p:cNvPr>
          <p:cNvSpPr>
            <a:spLocks noGrp="1"/>
          </p:cNvSpPr>
          <p:nvPr>
            <p:ph type="dt" sz="half" idx="10"/>
          </p:nvPr>
        </p:nvSpPr>
        <p:spPr/>
        <p:txBody>
          <a:bodyPr/>
          <a:lstStyle/>
          <a:p>
            <a:fld id="{AC33F994-0E46-496B-A240-44F58334192C}" type="datetimeFigureOut">
              <a:rPr lang="en-ZA" smtClean="0"/>
              <a:t>2025/11/21</a:t>
            </a:fld>
            <a:endParaRPr lang="en-ZA"/>
          </a:p>
        </p:txBody>
      </p:sp>
      <p:sp>
        <p:nvSpPr>
          <p:cNvPr id="5" name="Footer Placeholder 4">
            <a:extLst>
              <a:ext uri="{FF2B5EF4-FFF2-40B4-BE49-F238E27FC236}">
                <a16:creationId xmlns:a16="http://schemas.microsoft.com/office/drawing/2014/main" id="{BB355BB9-550B-9A34-4DEF-D157E8009A1C}"/>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5EA981D0-E05B-DBC8-E47C-D3B8CD4F4826}"/>
              </a:ext>
            </a:extLst>
          </p:cNvPr>
          <p:cNvSpPr>
            <a:spLocks noGrp="1"/>
          </p:cNvSpPr>
          <p:nvPr>
            <p:ph type="sldNum" sz="quarter" idx="12"/>
          </p:nvPr>
        </p:nvSpPr>
        <p:spPr/>
        <p:txBody>
          <a:bodyPr/>
          <a:lstStyle/>
          <a:p>
            <a:fld id="{52A36DF5-185D-4839-9EDB-CBDE4F8A8E07}" type="slidenum">
              <a:rPr lang="en-ZA" smtClean="0"/>
              <a:t>‹#›</a:t>
            </a:fld>
            <a:endParaRPr lang="en-ZA"/>
          </a:p>
        </p:txBody>
      </p:sp>
    </p:spTree>
    <p:extLst>
      <p:ext uri="{BB962C8B-B14F-4D97-AF65-F5344CB8AC3E}">
        <p14:creationId xmlns:p14="http://schemas.microsoft.com/office/powerpoint/2010/main" val="21668556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8D2912F-4BB6-7865-67AC-07E221E7DC0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ZA"/>
          </a:p>
        </p:txBody>
      </p:sp>
      <p:sp>
        <p:nvSpPr>
          <p:cNvPr id="3" name="Text Placeholder 2">
            <a:extLst>
              <a:ext uri="{FF2B5EF4-FFF2-40B4-BE49-F238E27FC236}">
                <a16:creationId xmlns:a16="http://schemas.microsoft.com/office/drawing/2014/main" id="{507588F9-9676-0584-4529-A2E7DCC0F2D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E9EA7B76-00A3-1AB0-78F5-348E6A6403B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C33F994-0E46-496B-A240-44F58334192C}" type="datetimeFigureOut">
              <a:rPr lang="en-ZA" smtClean="0"/>
              <a:t>2025/11/21</a:t>
            </a:fld>
            <a:endParaRPr lang="en-ZA"/>
          </a:p>
        </p:txBody>
      </p:sp>
      <p:sp>
        <p:nvSpPr>
          <p:cNvPr id="5" name="Footer Placeholder 4">
            <a:extLst>
              <a:ext uri="{FF2B5EF4-FFF2-40B4-BE49-F238E27FC236}">
                <a16:creationId xmlns:a16="http://schemas.microsoft.com/office/drawing/2014/main" id="{2C071900-1B00-BCC0-98CE-B24FCC57807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ZA"/>
          </a:p>
        </p:txBody>
      </p:sp>
      <p:sp>
        <p:nvSpPr>
          <p:cNvPr id="6" name="Slide Number Placeholder 5">
            <a:extLst>
              <a:ext uri="{FF2B5EF4-FFF2-40B4-BE49-F238E27FC236}">
                <a16:creationId xmlns:a16="http://schemas.microsoft.com/office/drawing/2014/main" id="{5AC58372-7D2D-A87B-AB77-541D8EBF875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2A36DF5-185D-4839-9EDB-CBDE4F8A8E07}" type="slidenum">
              <a:rPr lang="en-ZA" smtClean="0"/>
              <a:t>‹#›</a:t>
            </a:fld>
            <a:endParaRPr lang="en-ZA"/>
          </a:p>
        </p:txBody>
      </p:sp>
    </p:spTree>
    <p:extLst>
      <p:ext uri="{BB962C8B-B14F-4D97-AF65-F5344CB8AC3E}">
        <p14:creationId xmlns:p14="http://schemas.microsoft.com/office/powerpoint/2010/main" val="383300616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chart" Target="../charts/chart2.xml"/><Relationship Id="rId1" Type="http://schemas.openxmlformats.org/officeDocument/2006/relationships/slideLayout" Target="../slideLayouts/slideLayout2.xml"/><Relationship Id="rId5" Type="http://schemas.openxmlformats.org/officeDocument/2006/relationships/chart" Target="../charts/chart5.xml"/><Relationship Id="rId4" Type="http://schemas.openxmlformats.org/officeDocument/2006/relationships/chart" Target="../charts/chart4.xml"/></Relationships>
</file>

<file path=ppt/slides/_rels/slide4.xml.rels><?xml version="1.0" encoding="UTF-8" standalone="yes"?>
<Relationships xmlns="http://schemas.openxmlformats.org/package/2006/relationships"><Relationship Id="rId2" Type="http://schemas.openxmlformats.org/officeDocument/2006/relationships/chart" Target="../charts/chart6.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chart" Target="../charts/chart8.xml"/><Relationship Id="rId2" Type="http://schemas.openxmlformats.org/officeDocument/2006/relationships/chart" Target="../charts/chart7.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chart" Target="../charts/chart10.xml"/><Relationship Id="rId2" Type="http://schemas.openxmlformats.org/officeDocument/2006/relationships/chart" Target="../charts/chart9.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402C07-2161-AE17-8DDB-84FB75009FDE}"/>
              </a:ext>
            </a:extLst>
          </p:cNvPr>
          <p:cNvSpPr>
            <a:spLocks noGrp="1"/>
          </p:cNvSpPr>
          <p:nvPr>
            <p:ph type="ctrTitle"/>
          </p:nvPr>
        </p:nvSpPr>
        <p:spPr/>
        <p:txBody>
          <a:bodyPr/>
          <a:lstStyle/>
          <a:p>
            <a:r>
              <a:rPr lang="en-ZA" dirty="0"/>
              <a:t>BrightLearn Car Sales</a:t>
            </a:r>
            <a:br>
              <a:rPr lang="en-ZA" dirty="0"/>
            </a:br>
            <a:r>
              <a:rPr lang="en-ZA" dirty="0"/>
              <a:t>Analysis</a:t>
            </a:r>
          </a:p>
        </p:txBody>
      </p:sp>
      <p:sp>
        <p:nvSpPr>
          <p:cNvPr id="3" name="Subtitle 2">
            <a:extLst>
              <a:ext uri="{FF2B5EF4-FFF2-40B4-BE49-F238E27FC236}">
                <a16:creationId xmlns:a16="http://schemas.microsoft.com/office/drawing/2014/main" id="{871AB7EA-2BFC-CB7A-A45D-670BA147CB8F}"/>
              </a:ext>
            </a:extLst>
          </p:cNvPr>
          <p:cNvSpPr>
            <a:spLocks noGrp="1"/>
          </p:cNvSpPr>
          <p:nvPr>
            <p:ph type="subTitle" idx="1"/>
          </p:nvPr>
        </p:nvSpPr>
        <p:spPr/>
        <p:txBody>
          <a:bodyPr/>
          <a:lstStyle/>
          <a:p>
            <a:r>
              <a:rPr lang="en-ZA" dirty="0"/>
              <a:t>By: Lubabalo Sesonasipho Sitama</a:t>
            </a:r>
          </a:p>
        </p:txBody>
      </p:sp>
    </p:spTree>
    <p:extLst>
      <p:ext uri="{BB962C8B-B14F-4D97-AF65-F5344CB8AC3E}">
        <p14:creationId xmlns:p14="http://schemas.microsoft.com/office/powerpoint/2010/main" val="14496358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3">
            <a:extLst>
              <a:ext uri="{FF2B5EF4-FFF2-40B4-BE49-F238E27FC236}">
                <a16:creationId xmlns:a16="http://schemas.microsoft.com/office/drawing/2014/main" id="{13E644A7-9A3F-4945-CC4D-96BDB3BEAA8B}"/>
              </a:ext>
            </a:extLst>
          </p:cNvPr>
          <p:cNvSpPr>
            <a:spLocks noGrp="1"/>
          </p:cNvSpPr>
          <p:nvPr>
            <p:ph type="title"/>
          </p:nvPr>
        </p:nvSpPr>
        <p:spPr>
          <a:xfrm>
            <a:off x="838200" y="365125"/>
            <a:ext cx="10515600" cy="1687962"/>
          </a:xfrm>
        </p:spPr>
        <p:txBody>
          <a:bodyPr>
            <a:normAutofit fontScale="90000"/>
          </a:bodyPr>
          <a:lstStyle/>
          <a:p>
            <a:pPr algn="ctr"/>
            <a:r>
              <a:rPr lang="en-ZA" b="1" dirty="0"/>
              <a:t>Revenue By Car Transmission</a:t>
            </a:r>
            <a:br>
              <a:rPr lang="en-ZA" dirty="0"/>
            </a:br>
            <a:br>
              <a:rPr lang="en-ZA" dirty="0"/>
            </a:br>
            <a:r>
              <a:rPr lang="en-ZA" sz="1600" dirty="0">
                <a:latin typeface="Arial" panose="020B0604020202020204" pitchFamily="34" charset="0"/>
                <a:cs typeface="Arial" panose="020B0604020202020204" pitchFamily="34" charset="0"/>
              </a:rPr>
              <a:t>It is quite evident from the graph that by way of sales the automatic transmission cars does bring in the most sales/revenue but yet also the biggest loss margins, with the manual transmission having had the less revenue turnover but yet the most balanced graph movement of the two types of car transmissions  </a:t>
            </a:r>
            <a:endParaRPr lang="en-ZA" sz="1600" dirty="0"/>
          </a:p>
        </p:txBody>
      </p:sp>
      <p:graphicFrame>
        <p:nvGraphicFramePr>
          <p:cNvPr id="11" name="Content Placeholder 10">
            <a:extLst>
              <a:ext uri="{FF2B5EF4-FFF2-40B4-BE49-F238E27FC236}">
                <a16:creationId xmlns:a16="http://schemas.microsoft.com/office/drawing/2014/main" id="{5F014A9F-717C-03D2-173D-80E7BFD72AC4}"/>
              </a:ext>
            </a:extLst>
          </p:cNvPr>
          <p:cNvGraphicFramePr>
            <a:graphicFrameLocks noGrp="1"/>
          </p:cNvGraphicFramePr>
          <p:nvPr>
            <p:ph idx="1"/>
            <p:extLst>
              <p:ext uri="{D42A27DB-BD31-4B8C-83A1-F6EECF244321}">
                <p14:modId xmlns:p14="http://schemas.microsoft.com/office/powerpoint/2010/main" val="477112736"/>
              </p:ext>
            </p:extLst>
          </p:nvPr>
        </p:nvGraphicFramePr>
        <p:xfrm>
          <a:off x="838200" y="2141537"/>
          <a:ext cx="10515600" cy="4351338"/>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2091581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0B242B-F5C8-E6EB-4772-6D49258EE22D}"/>
              </a:ext>
            </a:extLst>
          </p:cNvPr>
          <p:cNvSpPr>
            <a:spLocks noGrp="1"/>
          </p:cNvSpPr>
          <p:nvPr>
            <p:ph type="title"/>
          </p:nvPr>
        </p:nvSpPr>
        <p:spPr>
          <a:xfrm>
            <a:off x="838200" y="365125"/>
            <a:ext cx="10515600" cy="1094707"/>
          </a:xfrm>
        </p:spPr>
        <p:txBody>
          <a:bodyPr>
            <a:normAutofit/>
          </a:bodyPr>
          <a:lstStyle/>
          <a:p>
            <a:r>
              <a:rPr lang="en-ZA" sz="1400" dirty="0"/>
              <a:t>Based on the visuals of the Top 10 Most Performing Car Model by revenue and the Bottom 10 Least Performing Car Model by revenue, it is quite evident that automatic cars bring in more sales when compared to manual cars, but while also bringing in the most sales automatic cars also bring in the most loss In terms of revenue.</a:t>
            </a:r>
            <a:br>
              <a:rPr lang="en-ZA" sz="1400" dirty="0"/>
            </a:br>
            <a:br>
              <a:rPr lang="en-ZA" sz="1400" dirty="0"/>
            </a:br>
            <a:r>
              <a:rPr lang="en-ZA" sz="1400" dirty="0"/>
              <a:t>The Cayenne is the one car model that competes well with the automatic cars in terms of sales while being  a manual transmission car</a:t>
            </a:r>
          </a:p>
        </p:txBody>
      </p:sp>
      <p:graphicFrame>
        <p:nvGraphicFramePr>
          <p:cNvPr id="4" name="Content Placeholder 3">
            <a:extLst>
              <a:ext uri="{FF2B5EF4-FFF2-40B4-BE49-F238E27FC236}">
                <a16:creationId xmlns:a16="http://schemas.microsoft.com/office/drawing/2014/main" id="{3D6FC43F-3D09-AF6B-5002-710EEBCBA7A1}"/>
              </a:ext>
            </a:extLst>
          </p:cNvPr>
          <p:cNvGraphicFramePr>
            <a:graphicFrameLocks noGrp="1"/>
          </p:cNvGraphicFramePr>
          <p:nvPr>
            <p:ph idx="1"/>
            <p:extLst>
              <p:ext uri="{D42A27DB-BD31-4B8C-83A1-F6EECF244321}">
                <p14:modId xmlns:p14="http://schemas.microsoft.com/office/powerpoint/2010/main" val="543941982"/>
              </p:ext>
            </p:extLst>
          </p:nvPr>
        </p:nvGraphicFramePr>
        <p:xfrm>
          <a:off x="224288" y="1825625"/>
          <a:ext cx="5624422" cy="2539341"/>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5" name="Chart 4">
            <a:extLst>
              <a:ext uri="{FF2B5EF4-FFF2-40B4-BE49-F238E27FC236}">
                <a16:creationId xmlns:a16="http://schemas.microsoft.com/office/drawing/2014/main" id="{D2895E70-7AF2-2B5B-B8A1-4E90EE9E5F0A}"/>
              </a:ext>
            </a:extLst>
          </p:cNvPr>
          <p:cNvGraphicFramePr>
            <a:graphicFrameLocks/>
          </p:cNvGraphicFramePr>
          <p:nvPr>
            <p:extLst>
              <p:ext uri="{D42A27DB-BD31-4B8C-83A1-F6EECF244321}">
                <p14:modId xmlns:p14="http://schemas.microsoft.com/office/powerpoint/2010/main" val="155072584"/>
              </p:ext>
            </p:extLst>
          </p:nvPr>
        </p:nvGraphicFramePr>
        <p:xfrm>
          <a:off x="224288" y="4150248"/>
          <a:ext cx="5871712" cy="2707752"/>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6" name="Chart 5">
            <a:extLst>
              <a:ext uri="{FF2B5EF4-FFF2-40B4-BE49-F238E27FC236}">
                <a16:creationId xmlns:a16="http://schemas.microsoft.com/office/drawing/2014/main" id="{E66C9268-5DA8-9854-9A16-E6E168915FA1}"/>
              </a:ext>
            </a:extLst>
          </p:cNvPr>
          <p:cNvGraphicFramePr>
            <a:graphicFrameLocks/>
          </p:cNvGraphicFramePr>
          <p:nvPr>
            <p:extLst>
              <p:ext uri="{D42A27DB-BD31-4B8C-83A1-F6EECF244321}">
                <p14:modId xmlns:p14="http://schemas.microsoft.com/office/powerpoint/2010/main" val="481582962"/>
              </p:ext>
            </p:extLst>
          </p:nvPr>
        </p:nvGraphicFramePr>
        <p:xfrm>
          <a:off x="6581056" y="1754319"/>
          <a:ext cx="4714875" cy="2457449"/>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7" name="Chart 6">
            <a:extLst>
              <a:ext uri="{FF2B5EF4-FFF2-40B4-BE49-F238E27FC236}">
                <a16:creationId xmlns:a16="http://schemas.microsoft.com/office/drawing/2014/main" id="{F44E8A90-1513-E615-E8FA-BB789093B6B6}"/>
              </a:ext>
            </a:extLst>
          </p:cNvPr>
          <p:cNvGraphicFramePr>
            <a:graphicFrameLocks/>
          </p:cNvGraphicFramePr>
          <p:nvPr>
            <p:extLst>
              <p:ext uri="{D42A27DB-BD31-4B8C-83A1-F6EECF244321}">
                <p14:modId xmlns:p14="http://schemas.microsoft.com/office/powerpoint/2010/main" val="3546180819"/>
              </p:ext>
            </p:extLst>
          </p:nvPr>
        </p:nvGraphicFramePr>
        <p:xfrm>
          <a:off x="6590582" y="4275399"/>
          <a:ext cx="4705349" cy="2457449"/>
        </p:xfrm>
        <a:graphic>
          <a:graphicData uri="http://schemas.openxmlformats.org/drawingml/2006/chart">
            <c:chart xmlns:c="http://schemas.openxmlformats.org/drawingml/2006/chart" xmlns:r="http://schemas.openxmlformats.org/officeDocument/2006/relationships" r:id="rId5"/>
          </a:graphicData>
        </a:graphic>
      </p:graphicFrame>
    </p:spTree>
    <p:extLst>
      <p:ext uri="{BB962C8B-B14F-4D97-AF65-F5344CB8AC3E}">
        <p14:creationId xmlns:p14="http://schemas.microsoft.com/office/powerpoint/2010/main" val="15002210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EEE1B3-F387-87D3-0C33-36175F4EF8D5}"/>
              </a:ext>
            </a:extLst>
          </p:cNvPr>
          <p:cNvSpPr>
            <a:spLocks noGrp="1"/>
          </p:cNvSpPr>
          <p:nvPr>
            <p:ph type="title"/>
          </p:nvPr>
        </p:nvSpPr>
        <p:spPr/>
        <p:txBody>
          <a:bodyPr>
            <a:normAutofit/>
          </a:bodyPr>
          <a:lstStyle/>
          <a:p>
            <a:r>
              <a:rPr lang="en-ZA" sz="1400" dirty="0"/>
              <a:t>The relationship between car condition and revenue is directly proportional and positively correlated, when the car condition is poor the sales are also low/negative which means a loss in revenue but when the care condition is excellent the sales are high/positive which means a positive revenue.</a:t>
            </a:r>
            <a:br>
              <a:rPr lang="en-ZA" sz="1400" dirty="0"/>
            </a:br>
            <a:br>
              <a:rPr lang="en-ZA" sz="1400" dirty="0"/>
            </a:br>
            <a:r>
              <a:rPr lang="en-ZA" sz="1400" dirty="0"/>
              <a:t>As the car conditions move from a poor condition through to an excellent condition a positive trend is evident.</a:t>
            </a:r>
          </a:p>
        </p:txBody>
      </p:sp>
      <p:graphicFrame>
        <p:nvGraphicFramePr>
          <p:cNvPr id="4" name="Content Placeholder 3">
            <a:extLst>
              <a:ext uri="{FF2B5EF4-FFF2-40B4-BE49-F238E27FC236}">
                <a16:creationId xmlns:a16="http://schemas.microsoft.com/office/drawing/2014/main" id="{5F7EEC4B-F6FC-4092-0AE4-C5789EBFB29E}"/>
              </a:ext>
            </a:extLst>
          </p:cNvPr>
          <p:cNvGraphicFramePr>
            <a:graphicFrameLocks noGrp="1"/>
          </p:cNvGraphicFramePr>
          <p:nvPr>
            <p:ph idx="1"/>
            <p:extLst>
              <p:ext uri="{D42A27DB-BD31-4B8C-83A1-F6EECF244321}">
                <p14:modId xmlns:p14="http://schemas.microsoft.com/office/powerpoint/2010/main" val="3874581110"/>
              </p:ext>
            </p:extLst>
          </p:nvPr>
        </p:nvGraphicFramePr>
        <p:xfrm>
          <a:off x="838200" y="1825625"/>
          <a:ext cx="10515600" cy="4351338"/>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7146751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hart 3">
            <a:extLst>
              <a:ext uri="{FF2B5EF4-FFF2-40B4-BE49-F238E27FC236}">
                <a16:creationId xmlns:a16="http://schemas.microsoft.com/office/drawing/2014/main" id="{5C91283B-3730-2B8B-0278-D375D5551A5E}"/>
              </a:ext>
            </a:extLst>
          </p:cNvPr>
          <p:cNvGraphicFramePr>
            <a:graphicFrameLocks/>
          </p:cNvGraphicFramePr>
          <p:nvPr>
            <p:extLst>
              <p:ext uri="{D42A27DB-BD31-4B8C-83A1-F6EECF244321}">
                <p14:modId xmlns:p14="http://schemas.microsoft.com/office/powerpoint/2010/main" val="1313056519"/>
              </p:ext>
            </p:extLst>
          </p:nvPr>
        </p:nvGraphicFramePr>
        <p:xfrm>
          <a:off x="0" y="1"/>
          <a:ext cx="6096000" cy="3640346"/>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5" name="Chart 4">
            <a:extLst>
              <a:ext uri="{FF2B5EF4-FFF2-40B4-BE49-F238E27FC236}">
                <a16:creationId xmlns:a16="http://schemas.microsoft.com/office/drawing/2014/main" id="{38D1716B-2A9C-F016-8BD0-7F0F246F91B7}"/>
              </a:ext>
            </a:extLst>
          </p:cNvPr>
          <p:cNvGraphicFramePr>
            <a:graphicFrameLocks/>
          </p:cNvGraphicFramePr>
          <p:nvPr>
            <p:extLst>
              <p:ext uri="{D42A27DB-BD31-4B8C-83A1-F6EECF244321}">
                <p14:modId xmlns:p14="http://schemas.microsoft.com/office/powerpoint/2010/main" val="1284029649"/>
              </p:ext>
            </p:extLst>
          </p:nvPr>
        </p:nvGraphicFramePr>
        <p:xfrm>
          <a:off x="6280030" y="1"/>
          <a:ext cx="5911970" cy="3640346"/>
        </p:xfrm>
        <a:graphic>
          <a:graphicData uri="http://schemas.openxmlformats.org/drawingml/2006/chart">
            <c:chart xmlns:c="http://schemas.openxmlformats.org/drawingml/2006/chart" xmlns:r="http://schemas.openxmlformats.org/officeDocument/2006/relationships" r:id="rId3"/>
          </a:graphicData>
        </a:graphic>
      </p:graphicFrame>
      <p:sp>
        <p:nvSpPr>
          <p:cNvPr id="6" name="Title 5">
            <a:extLst>
              <a:ext uri="{FF2B5EF4-FFF2-40B4-BE49-F238E27FC236}">
                <a16:creationId xmlns:a16="http://schemas.microsoft.com/office/drawing/2014/main" id="{F4FC51AE-AB0D-EA1E-3A1A-CA08578B8724}"/>
              </a:ext>
            </a:extLst>
          </p:cNvPr>
          <p:cNvSpPr>
            <a:spLocks noGrp="1"/>
          </p:cNvSpPr>
          <p:nvPr>
            <p:ph type="title"/>
          </p:nvPr>
        </p:nvSpPr>
        <p:spPr>
          <a:xfrm>
            <a:off x="1022230" y="4138864"/>
            <a:ext cx="10515600" cy="1684420"/>
          </a:xfrm>
        </p:spPr>
        <p:txBody>
          <a:bodyPr>
            <a:normAutofit fontScale="90000"/>
          </a:bodyPr>
          <a:lstStyle/>
          <a:p>
            <a:pPr>
              <a:lnSpc>
                <a:spcPct val="150000"/>
              </a:lnSpc>
            </a:pPr>
            <a:r>
              <a:rPr lang="en-ZA" sz="1600" dirty="0"/>
              <a:t>- </a:t>
            </a:r>
            <a:r>
              <a:rPr lang="en-ZA" sz="1800" dirty="0"/>
              <a:t>The most car sales are made in the Summer season, with a fairly average sales being made in the winter season and close to non sales being made in the autumn season </a:t>
            </a:r>
            <a:br>
              <a:rPr lang="en-ZA" sz="1800" dirty="0"/>
            </a:br>
            <a:r>
              <a:rPr lang="en-ZA" sz="1800" dirty="0"/>
              <a:t>- Most car sales are made on Friday/last operational day of the week</a:t>
            </a:r>
            <a:br>
              <a:rPr lang="en-ZA" sz="1800" dirty="0"/>
            </a:br>
            <a:r>
              <a:rPr lang="en-ZA" sz="1800" dirty="0"/>
              <a:t>- Cars are only sold during the week</a:t>
            </a:r>
            <a:br>
              <a:rPr lang="en-ZA" sz="1800" dirty="0"/>
            </a:br>
            <a:r>
              <a:rPr lang="en-ZA" sz="1800" dirty="0"/>
              <a:t>- As the week goes by from the beginning of the week through to the last day of the week, an increase in sales trend is evident</a:t>
            </a:r>
          </a:p>
        </p:txBody>
      </p:sp>
    </p:spTree>
    <p:extLst>
      <p:ext uri="{BB962C8B-B14F-4D97-AF65-F5344CB8AC3E}">
        <p14:creationId xmlns:p14="http://schemas.microsoft.com/office/powerpoint/2010/main" val="12832373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29B8AE-B3CF-DFEC-4204-48720BA28C2C}"/>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F82C2CCB-C0BA-2943-5324-C4F9DD16C696}"/>
              </a:ext>
            </a:extLst>
          </p:cNvPr>
          <p:cNvSpPr>
            <a:spLocks noGrp="1"/>
          </p:cNvSpPr>
          <p:nvPr>
            <p:ph type="title"/>
          </p:nvPr>
        </p:nvSpPr>
        <p:spPr>
          <a:xfrm>
            <a:off x="1812758" y="3571336"/>
            <a:ext cx="8823158" cy="2957801"/>
          </a:xfrm>
        </p:spPr>
        <p:txBody>
          <a:bodyPr>
            <a:normAutofit/>
          </a:bodyPr>
          <a:lstStyle/>
          <a:p>
            <a:pPr>
              <a:lnSpc>
                <a:spcPct val="150000"/>
              </a:lnSpc>
            </a:pPr>
            <a:r>
              <a:rPr lang="en-ZA" sz="1600" dirty="0"/>
              <a:t>- Sales are only made during the week, meaning that the dealerships are only operational during the week</a:t>
            </a:r>
            <a:br>
              <a:rPr lang="en-ZA" sz="1600" dirty="0"/>
            </a:br>
            <a:r>
              <a:rPr lang="en-ZA" sz="1600" dirty="0"/>
              <a:t>- The time of the day where most sales are made is in the morning, where the bulk of the revenue is made.</a:t>
            </a:r>
            <a:br>
              <a:rPr lang="en-ZA" sz="1600" dirty="0"/>
            </a:br>
            <a:r>
              <a:rPr lang="en-ZA" sz="1600" dirty="0"/>
              <a:t>- The Ford Car Make is the most sold car make followed by the </a:t>
            </a:r>
            <a:r>
              <a:rPr lang="en-ZA" sz="1600" dirty="0" err="1"/>
              <a:t>Chyster</a:t>
            </a:r>
            <a:r>
              <a:rPr lang="en-ZA" sz="1600" dirty="0"/>
              <a:t> and the Toyota respectively</a:t>
            </a:r>
          </a:p>
        </p:txBody>
      </p:sp>
      <p:graphicFrame>
        <p:nvGraphicFramePr>
          <p:cNvPr id="3" name="Chart 2">
            <a:extLst>
              <a:ext uri="{FF2B5EF4-FFF2-40B4-BE49-F238E27FC236}">
                <a16:creationId xmlns:a16="http://schemas.microsoft.com/office/drawing/2014/main" id="{520F4ED8-3F2C-DFC5-0394-4B051944E560}"/>
              </a:ext>
            </a:extLst>
          </p:cNvPr>
          <p:cNvGraphicFramePr>
            <a:graphicFrameLocks/>
          </p:cNvGraphicFramePr>
          <p:nvPr>
            <p:extLst>
              <p:ext uri="{D42A27DB-BD31-4B8C-83A1-F6EECF244321}">
                <p14:modId xmlns:p14="http://schemas.microsoft.com/office/powerpoint/2010/main" val="225466047"/>
              </p:ext>
            </p:extLst>
          </p:nvPr>
        </p:nvGraphicFramePr>
        <p:xfrm>
          <a:off x="-1" y="0"/>
          <a:ext cx="6096001" cy="3571336"/>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7" name="Chart 6">
            <a:extLst>
              <a:ext uri="{FF2B5EF4-FFF2-40B4-BE49-F238E27FC236}">
                <a16:creationId xmlns:a16="http://schemas.microsoft.com/office/drawing/2014/main" id="{F395A2B4-A2B7-EC41-9586-AE70E691AD2E}"/>
              </a:ext>
            </a:extLst>
          </p:cNvPr>
          <p:cNvGraphicFramePr>
            <a:graphicFrameLocks/>
          </p:cNvGraphicFramePr>
          <p:nvPr>
            <p:extLst>
              <p:ext uri="{D42A27DB-BD31-4B8C-83A1-F6EECF244321}">
                <p14:modId xmlns:p14="http://schemas.microsoft.com/office/powerpoint/2010/main" val="2345636615"/>
              </p:ext>
            </p:extLst>
          </p:nvPr>
        </p:nvGraphicFramePr>
        <p:xfrm>
          <a:off x="6538822" y="1"/>
          <a:ext cx="5653178" cy="3571336"/>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29462710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3FB3CAB-2349-77E6-00AB-7DD6767979C7}"/>
              </a:ext>
            </a:extLst>
          </p:cNvPr>
          <p:cNvSpPr>
            <a:spLocks noGrp="1"/>
          </p:cNvSpPr>
          <p:nvPr>
            <p:ph type="title"/>
          </p:nvPr>
        </p:nvSpPr>
        <p:spPr/>
        <p:txBody>
          <a:bodyPr/>
          <a:lstStyle/>
          <a:p>
            <a:pPr algn="ctr"/>
            <a:r>
              <a:rPr lang="en-ZA" b="1" dirty="0"/>
              <a:t>Recommendations</a:t>
            </a:r>
            <a:r>
              <a:rPr lang="en-ZA" dirty="0"/>
              <a:t> </a:t>
            </a:r>
          </a:p>
        </p:txBody>
      </p:sp>
      <p:sp>
        <p:nvSpPr>
          <p:cNvPr id="4" name="Content Placeholder 3">
            <a:extLst>
              <a:ext uri="{FF2B5EF4-FFF2-40B4-BE49-F238E27FC236}">
                <a16:creationId xmlns:a16="http://schemas.microsoft.com/office/drawing/2014/main" id="{5C1BBD71-41E1-8F70-74F4-3A8E4D050D8D}"/>
              </a:ext>
            </a:extLst>
          </p:cNvPr>
          <p:cNvSpPr>
            <a:spLocks noGrp="1"/>
          </p:cNvSpPr>
          <p:nvPr>
            <p:ph idx="1"/>
          </p:nvPr>
        </p:nvSpPr>
        <p:spPr>
          <a:xfrm>
            <a:off x="336885" y="1825625"/>
            <a:ext cx="11710736" cy="4667250"/>
          </a:xfrm>
        </p:spPr>
        <p:txBody>
          <a:bodyPr>
            <a:normAutofit/>
          </a:bodyPr>
          <a:lstStyle/>
          <a:p>
            <a:r>
              <a:rPr lang="en-ZA" sz="1600" dirty="0"/>
              <a:t>The dealerships need not only to focus on the sales of the automatic transmission cars but also push advertising and the marketing of manual transmission cars, this could be done by way of social media through the social media accounts of the dealerships, influencer marketing, TV ads and many more </a:t>
            </a:r>
          </a:p>
          <a:p>
            <a:r>
              <a:rPr lang="en-ZA" sz="1600" dirty="0"/>
              <a:t>It is very evident through the visuals that the dealerships face many losses of revenue/sales, it would be advisable for the dealerships to thoroughly assess their sales and data to see which cars makes bring in the most sales and mainly focus on those car makes in terms of making sure that sufficient stock quantity is available to serve the customer and those cars a readily available at all times for the customer</a:t>
            </a:r>
          </a:p>
          <a:p>
            <a:r>
              <a:rPr lang="en-ZA" sz="1600" dirty="0"/>
              <a:t>The dealerships should also consider opening on Weekends, to assist with pushing targets and making more sales, because it is quite evident that as the week increases the more the sales/revenue increases, so also selling on weekends would assist the dealerships to make more sales</a:t>
            </a:r>
          </a:p>
          <a:p>
            <a:r>
              <a:rPr lang="en-ZA" sz="1600" dirty="0"/>
              <a:t>The dealerships should only focus on selling second hand cars which are in “good” or “excellent” condition only, because those are the cars that bring in more sales and assist with customer retention, because a happy customer will always keep coming back </a:t>
            </a:r>
          </a:p>
          <a:p>
            <a:r>
              <a:rPr lang="en-ZA" sz="1600" dirty="0"/>
              <a:t>Introduce competitions for the customers to boost customer loyalty and customer relations, because these initiatives show customer appreciation  </a:t>
            </a:r>
          </a:p>
        </p:txBody>
      </p:sp>
    </p:spTree>
    <p:extLst>
      <p:ext uri="{BB962C8B-B14F-4D97-AF65-F5344CB8AC3E}">
        <p14:creationId xmlns:p14="http://schemas.microsoft.com/office/powerpoint/2010/main" val="30124945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DB5C85-18E2-6132-6BA7-E08991E3AB66}"/>
              </a:ext>
            </a:extLst>
          </p:cNvPr>
          <p:cNvSpPr>
            <a:spLocks noGrp="1"/>
          </p:cNvSpPr>
          <p:nvPr>
            <p:ph type="title"/>
          </p:nvPr>
        </p:nvSpPr>
        <p:spPr/>
        <p:txBody>
          <a:bodyPr/>
          <a:lstStyle/>
          <a:p>
            <a:endParaRPr lang="en-ZA"/>
          </a:p>
        </p:txBody>
      </p:sp>
      <p:sp>
        <p:nvSpPr>
          <p:cNvPr id="3" name="Content Placeholder 2">
            <a:extLst>
              <a:ext uri="{FF2B5EF4-FFF2-40B4-BE49-F238E27FC236}">
                <a16:creationId xmlns:a16="http://schemas.microsoft.com/office/drawing/2014/main" id="{864B0590-7FA1-79FC-1D8A-2690B3F06DD0}"/>
              </a:ext>
            </a:extLst>
          </p:cNvPr>
          <p:cNvSpPr>
            <a:spLocks noGrp="1"/>
          </p:cNvSpPr>
          <p:nvPr>
            <p:ph idx="1"/>
          </p:nvPr>
        </p:nvSpPr>
        <p:spPr>
          <a:xfrm>
            <a:off x="838200" y="2342148"/>
            <a:ext cx="10515600" cy="2566738"/>
          </a:xfrm>
        </p:spPr>
        <p:style>
          <a:lnRef idx="2">
            <a:schemeClr val="dk1"/>
          </a:lnRef>
          <a:fillRef idx="1">
            <a:schemeClr val="lt1"/>
          </a:fillRef>
          <a:effectRef idx="0">
            <a:schemeClr val="dk1"/>
          </a:effectRef>
          <a:fontRef idx="minor">
            <a:schemeClr val="dk1"/>
          </a:fontRef>
        </p:style>
        <p:txBody>
          <a:bodyPr>
            <a:normAutofit/>
          </a:bodyPr>
          <a:lstStyle/>
          <a:p>
            <a:pPr marL="0" indent="0" algn="ctr">
              <a:buNone/>
            </a:pPr>
            <a:endParaRPr lang="en-ZA" sz="4800" b="1" dirty="0">
              <a:ln w="12700" cmpd="sng">
                <a:solidFill>
                  <a:schemeClr val="tx1"/>
                </a:solidFill>
                <a:prstDash val="solid"/>
              </a:ln>
              <a:solidFill>
                <a:schemeClr val="tx1"/>
              </a:solidFill>
            </a:endParaRPr>
          </a:p>
          <a:p>
            <a:pPr marL="0" indent="0" algn="ctr">
              <a:buNone/>
            </a:pPr>
            <a:r>
              <a:rPr lang="en-ZA" sz="4800" b="1" dirty="0">
                <a:ln w="12700" cmpd="sng">
                  <a:solidFill>
                    <a:schemeClr val="tx1"/>
                  </a:solidFill>
                  <a:prstDash val="solid"/>
                </a:ln>
                <a:solidFill>
                  <a:schemeClr val="tx1"/>
                </a:solidFill>
              </a:rPr>
              <a:t>Thank You </a:t>
            </a:r>
          </a:p>
        </p:txBody>
      </p:sp>
    </p:spTree>
    <p:extLst>
      <p:ext uri="{BB962C8B-B14F-4D97-AF65-F5344CB8AC3E}">
        <p14:creationId xmlns:p14="http://schemas.microsoft.com/office/powerpoint/2010/main" val="152132053"/>
      </p:ext>
    </p:extLst>
  </p:cSld>
  <p:clrMapOvr>
    <a:masterClrMapping/>
  </p:clrMapOvr>
</p:sld>
</file>

<file path=ppt/theme/theme1.xml><?xml version="1.0" encoding="utf-8"?>
<a:theme xmlns:a="http://schemas.openxmlformats.org/drawingml/2006/main" name="Office Theme">
  <a:themeElements>
    <a:clrScheme name="Office 2013 - 2022">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96</TotalTime>
  <Words>693</Words>
  <Application>Microsoft Office PowerPoint</Application>
  <PresentationFormat>Widescreen</PresentationFormat>
  <Paragraphs>27</Paragraphs>
  <Slides>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Aptos</vt:lpstr>
      <vt:lpstr>Aptos Display</vt:lpstr>
      <vt:lpstr>Arial</vt:lpstr>
      <vt:lpstr>Office Theme</vt:lpstr>
      <vt:lpstr>BrightLearn Car Sales Analysis</vt:lpstr>
      <vt:lpstr>Revenue By Car Transmission  It is quite evident from the graph that by way of sales the automatic transmission cars does bring in the most sales/revenue but yet also the biggest loss margins, with the manual transmission having had the less revenue turnover but yet the most balanced graph movement of the two types of car transmissions  </vt:lpstr>
      <vt:lpstr>Based on the visuals of the Top 10 Most Performing Car Model by revenue and the Bottom 10 Least Performing Car Model by revenue, it is quite evident that automatic cars bring in more sales when compared to manual cars, but while also bringing in the most sales automatic cars also bring in the most loss In terms of revenue.  The Cayenne is the one car model that competes well with the automatic cars in terms of sales while being  a manual transmission car</vt:lpstr>
      <vt:lpstr>The relationship between car condition and revenue is directly proportional and positively correlated, when the car condition is poor the sales are also low/negative which means a loss in revenue but when the care condition is excellent the sales are high/positive which means a positive revenue.  As the car conditions move from a poor condition through to an excellent condition a positive trend is evident.</vt:lpstr>
      <vt:lpstr>- The most car sales are made in the Summer season, with a fairly average sales being made in the winter season and close to non sales being made in the autumn season  - Most car sales are made on Friday/last operational day of the week - Cars are only sold during the week - As the week goes by from the beginning of the week through to the last day of the week, an increase in sales trend is evident</vt:lpstr>
      <vt:lpstr>- Sales are only made during the week, meaning that the dealerships are only operational during the week - The time of the day where most sales are made is in the morning, where the bulk of the revenue is made. - The Ford Car Make is the most sold car make followed by the Chyster and the Toyota respectively</vt:lpstr>
      <vt:lpstr>Recommendations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Lubabalo Sesonasipho Sitama</dc:creator>
  <cp:lastModifiedBy>Lubabalo Sesonasipho Sitama</cp:lastModifiedBy>
  <cp:revision>1</cp:revision>
  <dcterms:created xsi:type="dcterms:W3CDTF">2025-11-19T21:30:37Z</dcterms:created>
  <dcterms:modified xsi:type="dcterms:W3CDTF">2025-11-21T22:05:27Z</dcterms:modified>
</cp:coreProperties>
</file>